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2" r:id="rId2"/>
  </p:sldMasterIdLst>
  <p:notesMasterIdLst>
    <p:notesMasterId r:id="rId37"/>
  </p:notesMasterIdLst>
  <p:handoutMasterIdLst>
    <p:handoutMasterId r:id="rId38"/>
  </p:handoutMasterIdLst>
  <p:sldIdLst>
    <p:sldId id="282" r:id="rId3"/>
    <p:sldId id="259" r:id="rId4"/>
    <p:sldId id="289" r:id="rId5"/>
    <p:sldId id="284" r:id="rId6"/>
    <p:sldId id="288" r:id="rId7"/>
    <p:sldId id="285" r:id="rId8"/>
    <p:sldId id="290" r:id="rId9"/>
    <p:sldId id="283" r:id="rId10"/>
    <p:sldId id="291" r:id="rId11"/>
    <p:sldId id="271" r:id="rId12"/>
    <p:sldId id="273" r:id="rId13"/>
    <p:sldId id="296" r:id="rId14"/>
    <p:sldId id="295" r:id="rId15"/>
    <p:sldId id="294" r:id="rId16"/>
    <p:sldId id="293" r:id="rId17"/>
    <p:sldId id="292" r:id="rId18"/>
    <p:sldId id="298" r:id="rId19"/>
    <p:sldId id="299" r:id="rId20"/>
    <p:sldId id="275" r:id="rId21"/>
    <p:sldId id="300" r:id="rId22"/>
    <p:sldId id="301" r:id="rId23"/>
    <p:sldId id="302" r:id="rId24"/>
    <p:sldId id="303" r:id="rId25"/>
    <p:sldId id="286" r:id="rId26"/>
    <p:sldId id="304" r:id="rId27"/>
    <p:sldId id="305" r:id="rId28"/>
    <p:sldId id="276" r:id="rId29"/>
    <p:sldId id="306" r:id="rId30"/>
    <p:sldId id="307" r:id="rId31"/>
    <p:sldId id="308" r:id="rId32"/>
    <p:sldId id="309" r:id="rId33"/>
    <p:sldId id="310" r:id="rId34"/>
    <p:sldId id="311" r:id="rId35"/>
    <p:sldId id="312"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showGuides="1">
      <p:cViewPr varScale="1">
        <p:scale>
          <a:sx n="114" d="100"/>
          <a:sy n="114" d="100"/>
        </p:scale>
        <p:origin x="474" y="138"/>
      </p:cViewPr>
      <p:guideLst>
        <p:guide orient="horz" pos="2160"/>
        <p:guide pos="3840"/>
      </p:guideLst>
    </p:cSldViewPr>
  </p:slideViewPr>
  <p:notesTextViewPr>
    <p:cViewPr>
      <p:scale>
        <a:sx n="1" d="1"/>
        <a:sy n="1" d="1"/>
      </p:scale>
      <p:origin x="0" y="0"/>
    </p:cViewPr>
  </p:notesTextViewPr>
  <p:notesViewPr>
    <p:cSldViewPr snapToGrid="0" showGuides="1">
      <p:cViewPr varScale="1">
        <p:scale>
          <a:sx n="76" d="100"/>
          <a:sy n="76" d="100"/>
        </p:scale>
        <p:origin x="3264"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handoutMaster" Target="handoutMasters/handoutMaster1.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627325D-7C6B-4659-A656-A772019985A7}" type="datetimeFigureOut">
              <a:rPr lang="en-US" smtClean="0"/>
              <a:t>9/26/2016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B6F1DE-7011-44EB-ACA9-621AFE57E05B}" type="slidenum">
              <a:rPr lang="en-US" smtClean="0"/>
              <a:t>‹#›</a:t>
            </a:fld>
            <a:endParaRPr lang="en-US" dirty="0"/>
          </a:p>
        </p:txBody>
      </p:sp>
    </p:spTree>
    <p:extLst>
      <p:ext uri="{BB962C8B-B14F-4D97-AF65-F5344CB8AC3E}">
        <p14:creationId xmlns:p14="http://schemas.microsoft.com/office/powerpoint/2010/main" val="37769527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5FD80F-0FDC-4A05-9EF1-C028EC4EDC0A}" type="datetimeFigureOut">
              <a:rPr lang="en-US" smtClean="0"/>
              <a:t>9/26/2016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6039D5-9119-4C2A-87C5-029C8B6BFFEF}" type="slidenum">
              <a:rPr lang="en-US" smtClean="0"/>
              <a:t>‹#›</a:t>
            </a:fld>
            <a:endParaRPr lang="en-US" dirty="0"/>
          </a:p>
        </p:txBody>
      </p:sp>
    </p:spTree>
    <p:extLst>
      <p:ext uri="{BB962C8B-B14F-4D97-AF65-F5344CB8AC3E}">
        <p14:creationId xmlns:p14="http://schemas.microsoft.com/office/powerpoint/2010/main" val="3337520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347200" y="152399"/>
            <a:ext cx="26416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203200" y="153923"/>
            <a:ext cx="89408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Date Placeholder 9"/>
          <p:cNvSpPr>
            <a:spLocks noGrp="1"/>
          </p:cNvSpPr>
          <p:nvPr>
            <p:ph type="dt" sz="half" idx="10"/>
          </p:nvPr>
        </p:nvSpPr>
        <p:spPr/>
        <p:txBody>
          <a:bodyPr/>
          <a:lstStyle>
            <a:lvl1pPr>
              <a:defRPr>
                <a:solidFill>
                  <a:schemeClr val="bg2"/>
                </a:solidFill>
              </a:defRPr>
            </a:lvl1pPr>
          </a:lstStyle>
          <a:p>
            <a:fld id="{349BF3EA-1A78-4F07-BDC0-C8A1BD461199}" type="datetimeFigureOut">
              <a:rPr lang="en-US" smtClean="0"/>
              <a:t>9/26/2016</a:t>
            </a:fld>
            <a:endParaRPr lang="en-US" dirty="0"/>
          </a:p>
        </p:txBody>
      </p:sp>
      <p:sp>
        <p:nvSpPr>
          <p:cNvPr id="11" name="Slide Number Placeholder 10"/>
          <p:cNvSpPr>
            <a:spLocks noGrp="1"/>
          </p:cNvSpPr>
          <p:nvPr>
            <p:ph type="sldNum" sz="quarter" idx="11"/>
          </p:nvPr>
        </p:nvSpPr>
        <p:spPr/>
        <p:txBody>
          <a:bodyPr/>
          <a:lstStyle>
            <a:lvl1pPr>
              <a:defRPr>
                <a:solidFill>
                  <a:srgbClr val="FFFFFF"/>
                </a:solidFill>
              </a:defRPr>
            </a:lvl1pPr>
          </a:lstStyle>
          <a:p>
            <a:fld id="{401CF334-2D5C-4859-84A6-CA7E6E43FAEB}" type="slidenum">
              <a:rPr lang="en-US" smtClean="0"/>
              <a:t>‹#›</a:t>
            </a:fld>
            <a:endParaRPr lang="en-US" dirty="0"/>
          </a:p>
        </p:txBody>
      </p:sp>
      <p:sp>
        <p:nvSpPr>
          <p:cNvPr id="12" name="Footer Placeholder 11"/>
          <p:cNvSpPr>
            <a:spLocks noGrp="1"/>
          </p:cNvSpPr>
          <p:nvPr>
            <p:ph type="ftr" sz="quarter" idx="12"/>
          </p:nvPr>
        </p:nvSpPr>
        <p:spPr/>
        <p:txBody>
          <a:bodyPr/>
          <a:lstStyle>
            <a:lvl1pPr>
              <a:defRPr>
                <a:solidFill>
                  <a:schemeClr val="bg2"/>
                </a:solidFill>
              </a:defRPr>
            </a:lvl1pPr>
          </a:lstStyle>
          <a:p>
            <a:endParaRPr lang="en-US" dirty="0"/>
          </a:p>
        </p:txBody>
      </p:sp>
      <p:sp>
        <p:nvSpPr>
          <p:cNvPr id="3" name="Subtitle 2"/>
          <p:cNvSpPr>
            <a:spLocks noGrp="1"/>
          </p:cNvSpPr>
          <p:nvPr>
            <p:ph type="subTitle" idx="1"/>
          </p:nvPr>
        </p:nvSpPr>
        <p:spPr>
          <a:xfrm>
            <a:off x="9347200" y="2052960"/>
            <a:ext cx="26416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3" name="Title 12"/>
          <p:cNvSpPr>
            <a:spLocks noGrp="1"/>
          </p:cNvSpPr>
          <p:nvPr>
            <p:ph type="title"/>
          </p:nvPr>
        </p:nvSpPr>
        <p:spPr>
          <a:xfrm>
            <a:off x="609600" y="2052960"/>
            <a:ext cx="8432800" cy="1828800"/>
          </a:xfrm>
        </p:spPr>
        <p:txBody>
          <a:bodyPr/>
          <a:lstStyle>
            <a:lvl1pPr algn="r">
              <a:defRPr sz="4200" spc="150" baseline="0"/>
            </a:lvl1pPr>
          </a:lstStyle>
          <a:p>
            <a:r>
              <a:rPr lang="en-US"/>
              <a:t>Click to edit Master title style</a:t>
            </a:r>
            <a:endParaRPr lang="en-US" dirty="0"/>
          </a:p>
        </p:txBody>
      </p:sp>
    </p:spTree>
    <p:extLst>
      <p:ext uri="{BB962C8B-B14F-4D97-AF65-F5344CB8AC3E}">
        <p14:creationId xmlns:p14="http://schemas.microsoft.com/office/powerpoint/2010/main" val="2173938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
        <p:nvSpPr>
          <p:cNvPr id="3" name="Content Placeholder 2"/>
          <p:cNvSpPr>
            <a:spLocks noGrp="1"/>
          </p:cNvSpPr>
          <p:nvPr>
            <p:ph idx="1"/>
          </p:nvPr>
        </p:nvSpPr>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2447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9347200" y="152399"/>
            <a:ext cx="26416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203200" y="153923"/>
            <a:ext cx="89408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9" name="Date Placeholder 8"/>
          <p:cNvSpPr>
            <a:spLocks noGrp="1"/>
          </p:cNvSpPr>
          <p:nvPr>
            <p:ph type="dt" sz="half" idx="10"/>
          </p:nvPr>
        </p:nvSpPr>
        <p:spPr/>
        <p:txBody>
          <a:bodyPr/>
          <a:lstStyle>
            <a:lvl1pPr>
              <a:defRPr>
                <a:solidFill>
                  <a:srgbClr val="FFFFFF"/>
                </a:solidFill>
              </a:defRPr>
            </a:lvl1pPr>
          </a:lstStyle>
          <a:p>
            <a:fld id="{349BF3EA-1A78-4F07-BDC0-C8A1BD461199}" type="datetimeFigureOut">
              <a:rPr lang="en-US" smtClean="0"/>
              <a:t>9/26/2016</a:t>
            </a:fld>
            <a:endParaRPr lang="en-US" dirty="0"/>
          </a:p>
        </p:txBody>
      </p:sp>
      <p:sp>
        <p:nvSpPr>
          <p:cNvPr id="10" name="Slide Number Placeholder 9"/>
          <p:cNvSpPr>
            <a:spLocks noGrp="1"/>
          </p:cNvSpPr>
          <p:nvPr>
            <p:ph type="sldNum" sz="quarter" idx="11"/>
          </p:nvPr>
        </p:nvSpPr>
        <p:spPr/>
        <p:txBody>
          <a:bodyPr/>
          <a:lstStyle>
            <a:lvl1pPr>
              <a:defRPr>
                <a:solidFill>
                  <a:schemeClr val="bg2"/>
                </a:solidFill>
              </a:defRPr>
            </a:lvl1pPr>
          </a:lstStyle>
          <a:p>
            <a:fld id="{401CF334-2D5C-4859-84A6-CA7E6E43FAEB}" type="slidenum">
              <a:rPr lang="en-US" smtClean="0"/>
              <a:t>‹#›</a:t>
            </a:fld>
            <a:endParaRPr lang="en-US" dirty="0"/>
          </a:p>
        </p:txBody>
      </p:sp>
      <p:sp>
        <p:nvSpPr>
          <p:cNvPr id="11" name="Footer Placeholder 10"/>
          <p:cNvSpPr>
            <a:spLocks noGrp="1"/>
          </p:cNvSpPr>
          <p:nvPr>
            <p:ph type="ftr" sz="quarter" idx="12"/>
          </p:nvPr>
        </p:nvSpPr>
        <p:spPr/>
        <p:txBody>
          <a:bodyPr/>
          <a:lstStyle>
            <a:lvl1pPr>
              <a:defRPr>
                <a:solidFill>
                  <a:srgbClr val="FFFFFF"/>
                </a:solidFill>
              </a:defRPr>
            </a:lvl1pPr>
          </a:lstStyle>
          <a:p>
            <a:endParaRPr lang="en-US" dirty="0"/>
          </a:p>
        </p:txBody>
      </p:sp>
      <p:sp>
        <p:nvSpPr>
          <p:cNvPr id="3" name="Text Placeholder 2"/>
          <p:cNvSpPr>
            <a:spLocks noGrp="1"/>
          </p:cNvSpPr>
          <p:nvPr>
            <p:ph type="body" idx="1"/>
          </p:nvPr>
        </p:nvSpPr>
        <p:spPr>
          <a:xfrm>
            <a:off x="9550400" y="2892277"/>
            <a:ext cx="21336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Title 11"/>
          <p:cNvSpPr>
            <a:spLocks noGrp="1"/>
          </p:cNvSpPr>
          <p:nvPr>
            <p:ph type="title"/>
          </p:nvPr>
        </p:nvSpPr>
        <p:spPr>
          <a:xfrm>
            <a:off x="508000" y="2892277"/>
            <a:ext cx="8432800" cy="1645920"/>
          </a:xfrm>
        </p:spPr>
        <p:txBody>
          <a:bodyPr/>
          <a:lstStyle>
            <a:lvl1pPr algn="r">
              <a:defRPr sz="4200" spc="150" baseline="0"/>
            </a:lvl1pPr>
          </a:lstStyle>
          <a:p>
            <a:r>
              <a:rPr lang="en-US"/>
              <a:t>Click to edit Master title style</a:t>
            </a:r>
            <a:endParaRPr lang="en-US" dirty="0"/>
          </a:p>
        </p:txBody>
      </p:sp>
    </p:spTree>
    <p:extLst>
      <p:ext uri="{BB962C8B-B14F-4D97-AF65-F5344CB8AC3E}">
        <p14:creationId xmlns:p14="http://schemas.microsoft.com/office/powerpoint/2010/main" val="228124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dirty="0"/>
          </a:p>
        </p:txBody>
      </p:sp>
      <p:sp>
        <p:nvSpPr>
          <p:cNvPr id="4" name="Content Placeholder 3"/>
          <p:cNvSpPr>
            <a:spLocks noGrp="1"/>
          </p:cNvSpPr>
          <p:nvPr>
            <p:ph sz="half" idx="2"/>
          </p:nvPr>
        </p:nvSpPr>
        <p:spPr>
          <a:xfrm>
            <a:off x="6197600" y="1719072"/>
            <a:ext cx="5384800" cy="4407408"/>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p:cNvSpPr>
            <a:spLocks noGrp="1"/>
          </p:cNvSpPr>
          <p:nvPr>
            <p:ph sz="half" idx="1"/>
          </p:nvPr>
        </p:nvSpPr>
        <p:spPr>
          <a:xfrm>
            <a:off x="609600" y="1719072"/>
            <a:ext cx="5384800" cy="4407408"/>
          </a:xfrm>
        </p:spPr>
        <p:txBody>
          <a:bodyPr/>
          <a:lstStyle>
            <a:lvl1pPr>
              <a:defRPr sz="2400"/>
            </a:lvl1pPr>
            <a:lvl2pPr>
              <a:defRPr sz="20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82349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01CF334-2D5C-4859-84A6-CA7E6E43FAEB}" type="slidenum">
              <a:rPr lang="en-US" smtClean="0"/>
              <a:t>‹#›</a:t>
            </a:fld>
            <a:endParaRPr lang="en-US" dirty="0"/>
          </a:p>
        </p:txBody>
      </p:sp>
      <p:sp>
        <p:nvSpPr>
          <p:cNvPr id="6" name="Content Placeholder 5"/>
          <p:cNvSpPr>
            <a:spLocks noGrp="1"/>
          </p:cNvSpPr>
          <p:nvPr>
            <p:ph sz="quarter" idx="4"/>
          </p:nvPr>
        </p:nvSpPr>
        <p:spPr>
          <a:xfrm>
            <a:off x="6193368" y="2438400"/>
            <a:ext cx="5389033"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8" y="1722438"/>
            <a:ext cx="5389033"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386917"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p:cNvSpPr>
            <a:spLocks noGrp="1"/>
          </p:cNvSpPr>
          <p:nvPr>
            <p:ph type="body" idx="1"/>
          </p:nvPr>
        </p:nvSpPr>
        <p:spPr>
          <a:xfrm>
            <a:off x="609600" y="1722438"/>
            <a:ext cx="5386917"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7923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01CF334-2D5C-4859-84A6-CA7E6E43FAEB}" type="slidenum">
              <a:rPr lang="en-US" smtClean="0"/>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84948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03200" y="150919"/>
            <a:ext cx="11775736"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Date Placeholder 1"/>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01CF334-2D5C-4859-84A6-CA7E6E43FAEB}" type="slidenum">
              <a:rPr lang="en-US" smtClean="0"/>
              <a:t>‹#›</a:t>
            </a:fld>
            <a:endParaRPr lang="en-US" dirty="0"/>
          </a:p>
        </p:txBody>
      </p:sp>
    </p:spTree>
    <p:extLst>
      <p:ext uri="{BB962C8B-B14F-4D97-AF65-F5344CB8AC3E}">
        <p14:creationId xmlns:p14="http://schemas.microsoft.com/office/powerpoint/2010/main" val="2046998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9347200" y="150876"/>
            <a:ext cx="26416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useBgFill="1">
        <p:nvSpPr>
          <p:cNvPr id="9" name="Rectangle 8"/>
          <p:cNvSpPr/>
          <p:nvPr/>
        </p:nvSpPr>
        <p:spPr>
          <a:xfrm>
            <a:off x="203200" y="152400"/>
            <a:ext cx="89408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Date Placeholder 4"/>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fld id="{401CF334-2D5C-4859-84A6-CA7E6E43FAEB}" type="slidenum">
              <a:rPr lang="en-US" smtClean="0"/>
              <a:t>‹#›</a:t>
            </a:fld>
            <a:endParaRPr lang="en-US" dirty="0"/>
          </a:p>
        </p:txBody>
      </p:sp>
      <p:sp>
        <p:nvSpPr>
          <p:cNvPr id="3" name="Content Placeholder 2"/>
          <p:cNvSpPr>
            <a:spLocks noGrp="1"/>
          </p:cNvSpPr>
          <p:nvPr>
            <p:ph idx="1"/>
          </p:nvPr>
        </p:nvSpPr>
        <p:spPr>
          <a:xfrm>
            <a:off x="812800" y="304801"/>
            <a:ext cx="7823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546336" y="2130552"/>
            <a:ext cx="2231136"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itle 10"/>
          <p:cNvSpPr>
            <a:spLocks noGrp="1"/>
          </p:cNvSpPr>
          <p:nvPr>
            <p:ph type="title"/>
          </p:nvPr>
        </p:nvSpPr>
        <p:spPr>
          <a:xfrm>
            <a:off x="9546336" y="457200"/>
            <a:ext cx="2234213" cy="1673352"/>
          </a:xfrm>
        </p:spPr>
        <p:txBody>
          <a:bodyPr anchor="b"/>
          <a:lstStyle>
            <a:lvl1pPr algn="l">
              <a:defRPr sz="2000" spc="150" baseline="0"/>
            </a:lvl1pPr>
          </a:lstStyle>
          <a:p>
            <a:r>
              <a:rPr lang="en-US"/>
              <a:t>Click to edit Master title style</a:t>
            </a:r>
            <a:endParaRPr lang="en-US" dirty="0"/>
          </a:p>
        </p:txBody>
      </p:sp>
    </p:spTree>
    <p:extLst>
      <p:ext uri="{BB962C8B-B14F-4D97-AF65-F5344CB8AC3E}">
        <p14:creationId xmlns:p14="http://schemas.microsoft.com/office/powerpoint/2010/main" val="27560256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useBgFill="1">
        <p:nvSpPr>
          <p:cNvPr id="9" name="Rectangle 8"/>
          <p:cNvSpPr/>
          <p:nvPr/>
        </p:nvSpPr>
        <p:spPr>
          <a:xfrm>
            <a:off x="9347200" y="150876"/>
            <a:ext cx="26416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5" name="Date Placeholder 4"/>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01CF334-2D5C-4859-84A6-CA7E6E43FAEB}" type="slidenum">
              <a:rPr lang="en-US" smtClean="0"/>
              <a:t>‹#›</a:t>
            </a:fld>
            <a:endParaRPr lang="en-US" dirty="0"/>
          </a:p>
        </p:txBody>
      </p:sp>
      <p:sp>
        <p:nvSpPr>
          <p:cNvPr id="3" name="Picture Placeholder 2"/>
          <p:cNvSpPr>
            <a:spLocks noGrp="1"/>
          </p:cNvSpPr>
          <p:nvPr>
            <p:ph type="pic" idx="1"/>
          </p:nvPr>
        </p:nvSpPr>
        <p:spPr>
          <a:xfrm>
            <a:off x="203200" y="152400"/>
            <a:ext cx="89408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550400" y="2133600"/>
            <a:ext cx="22352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itle 9"/>
          <p:cNvSpPr>
            <a:spLocks noGrp="1"/>
          </p:cNvSpPr>
          <p:nvPr>
            <p:ph type="title"/>
          </p:nvPr>
        </p:nvSpPr>
        <p:spPr>
          <a:xfrm>
            <a:off x="9550400" y="460248"/>
            <a:ext cx="2235200" cy="1673352"/>
          </a:xfrm>
        </p:spPr>
        <p:txBody>
          <a:bodyPr anchor="b"/>
          <a:lstStyle>
            <a:lvl1pPr algn="l">
              <a:defRPr sz="2000" spc="150" baseline="0">
                <a:solidFill>
                  <a:schemeClr val="tx2"/>
                </a:solidFill>
              </a:defRPr>
            </a:lvl1pPr>
          </a:lstStyle>
          <a:p>
            <a:r>
              <a:rPr lang="en-US"/>
              <a:t>Click to edit Master title style</a:t>
            </a:r>
            <a:endParaRPr lang="en-US" dirty="0"/>
          </a:p>
        </p:txBody>
      </p:sp>
    </p:spTree>
    <p:extLst>
      <p:ext uri="{BB962C8B-B14F-4D97-AF65-F5344CB8AC3E}">
        <p14:creationId xmlns:p14="http://schemas.microsoft.com/office/powerpoint/2010/main" val="21091926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01CF334-2D5C-4859-84A6-CA7E6E43FAEB}" type="slidenum">
              <a:rPr lang="en-US" smtClean="0"/>
              <a:t>‹#›</a:t>
            </a:fld>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09637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03200" y="147319"/>
            <a:ext cx="89408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9347200" y="147319"/>
            <a:ext cx="2608061"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Date Placeholder 3"/>
          <p:cNvSpPr>
            <a:spLocks noGrp="1"/>
          </p:cNvSpPr>
          <p:nvPr>
            <p:ph type="dt" sz="half" idx="10"/>
          </p:nvPr>
        </p:nvSpPr>
        <p:spPr/>
        <p:txBody>
          <a:bodyPr/>
          <a:lstStyle/>
          <a:p>
            <a:fld id="{349BF3EA-1A78-4F07-BDC0-C8A1BD461199}" type="datetimeFigureOut">
              <a:rPr lang="en-US" smtClean="0"/>
              <a:t>9/26/2016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lvl1pPr>
              <a:defRPr>
                <a:solidFill>
                  <a:schemeClr val="bg2"/>
                </a:solidFill>
              </a:defRPr>
            </a:lvl1pPr>
          </a:lstStyle>
          <a:p>
            <a:fld id="{401CF334-2D5C-4859-84A6-CA7E6E43FAEB}" type="slidenum">
              <a:rPr lang="en-US" smtClean="0"/>
              <a:t>‹#›</a:t>
            </a:fld>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Vertical Title 1"/>
          <p:cNvSpPr>
            <a:spLocks noGrp="1"/>
          </p:cNvSpPr>
          <p:nvPr>
            <p:ph type="title" orient="vert"/>
          </p:nvPr>
        </p:nvSpPr>
        <p:spPr>
          <a:xfrm>
            <a:off x="9550400" y="274639"/>
            <a:ext cx="2235200" cy="5851525"/>
          </a:xfrm>
        </p:spPr>
        <p:txBody>
          <a:bodyPr vert="eaVert"/>
          <a:lstStyle/>
          <a:p>
            <a:r>
              <a:rPr lang="en-US"/>
              <a:t>Click to edit Master title style</a:t>
            </a:r>
            <a:endParaRPr lang="en-US" dirty="0"/>
          </a:p>
        </p:txBody>
      </p:sp>
    </p:spTree>
    <p:extLst>
      <p:ext uri="{BB962C8B-B14F-4D97-AF65-F5344CB8AC3E}">
        <p14:creationId xmlns:p14="http://schemas.microsoft.com/office/powerpoint/2010/main" val="3626437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1">
        <a:schemeClr val="bg1"/>
      </p:bgRef>
    </p:bg>
    <p:spTree>
      <p:nvGrpSpPr>
        <p:cNvPr id="1" name=""/>
        <p:cNvGrpSpPr/>
        <p:nvPr/>
      </p:nvGrpSpPr>
      <p:grpSpPr>
        <a:xfrm>
          <a:off x="0" y="0"/>
          <a:ext cx="0" cy="0"/>
          <a:chOff x="0" y="0"/>
          <a:chExt cx="0" cy="0"/>
        </a:xfrm>
      </p:grpSpPr>
      <p:sp>
        <p:nvSpPr>
          <p:cNvPr id="9" name="Rectangle 8"/>
          <p:cNvSpPr/>
          <p:nvPr/>
        </p:nvSpPr>
        <p:spPr>
          <a:xfrm>
            <a:off x="203200" y="1634971"/>
            <a:ext cx="11775736"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Rectangle 7"/>
          <p:cNvSpPr/>
          <p:nvPr/>
        </p:nvSpPr>
        <p:spPr>
          <a:xfrm>
            <a:off x="203199" y="152401"/>
            <a:ext cx="11752063"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4" name="Date Placeholder 3"/>
          <p:cNvSpPr>
            <a:spLocks noGrp="1"/>
          </p:cNvSpPr>
          <p:nvPr>
            <p:ph type="dt" sz="half" idx="2"/>
          </p:nvPr>
        </p:nvSpPr>
        <p:spPr>
          <a:xfrm>
            <a:off x="494517" y="6356350"/>
            <a:ext cx="2844800" cy="274320"/>
          </a:xfrm>
          <a:prstGeom prst="rect">
            <a:avLst/>
          </a:prstGeom>
        </p:spPr>
        <p:txBody>
          <a:bodyPr vert="horz" lIns="91440" tIns="45720" rIns="91440" bIns="45720" rtlCol="0" anchor="ctr"/>
          <a:lstStyle>
            <a:lvl1pPr algn="l">
              <a:defRPr sz="1100">
                <a:solidFill>
                  <a:schemeClr val="tx2"/>
                </a:solidFill>
              </a:defRPr>
            </a:lvl1pPr>
          </a:lstStyle>
          <a:p>
            <a:fld id="{349BF3EA-1A78-4F07-BDC0-C8A1BD461199}" type="datetimeFigureOut">
              <a:rPr lang="en-US" smtClean="0"/>
              <a:t>9/26/2016</a:t>
            </a:fld>
            <a:endParaRPr lang="en-US" dirty="0"/>
          </a:p>
        </p:txBody>
      </p:sp>
      <p:sp>
        <p:nvSpPr>
          <p:cNvPr id="5" name="Footer Placeholder 4"/>
          <p:cNvSpPr>
            <a:spLocks noGrp="1"/>
          </p:cNvSpPr>
          <p:nvPr>
            <p:ph type="ftr" sz="quarter" idx="3"/>
          </p:nvPr>
        </p:nvSpPr>
        <p:spPr>
          <a:xfrm>
            <a:off x="4064000" y="6356350"/>
            <a:ext cx="4470400" cy="274320"/>
          </a:xfrm>
          <a:prstGeom prst="rect">
            <a:avLst/>
          </a:prstGeom>
        </p:spPr>
        <p:txBody>
          <a:bodyPr vert="horz" lIns="91440" tIns="45720" rIns="91440" bIns="45720" rtlCol="0" anchor="ctr"/>
          <a:lstStyle>
            <a:lvl1pPr algn="ctr">
              <a:defRPr sz="1100">
                <a:solidFill>
                  <a:schemeClr val="tx2"/>
                </a:solidFill>
              </a:defRPr>
            </a:lvl1pPr>
          </a:lstStyle>
          <a:p>
            <a:endParaRPr lang="en-US" dirty="0"/>
          </a:p>
        </p:txBody>
      </p:sp>
      <p:sp>
        <p:nvSpPr>
          <p:cNvPr id="6" name="Slide Number Placeholder 5"/>
          <p:cNvSpPr>
            <a:spLocks noGrp="1"/>
          </p:cNvSpPr>
          <p:nvPr>
            <p:ph type="sldNum" sz="quarter" idx="4"/>
          </p:nvPr>
        </p:nvSpPr>
        <p:spPr>
          <a:xfrm>
            <a:off x="10979573" y="6355080"/>
            <a:ext cx="777288" cy="274320"/>
          </a:xfrm>
          <a:prstGeom prst="rect">
            <a:avLst/>
          </a:prstGeom>
          <a:ln w="19050">
            <a:noFill/>
          </a:ln>
        </p:spPr>
        <p:txBody>
          <a:bodyPr vert="horz" lIns="91440" tIns="45720" rIns="91440" bIns="45720" rtlCol="0" anchor="ctr"/>
          <a:lstStyle>
            <a:lvl1pPr algn="ctr">
              <a:defRPr sz="1100">
                <a:solidFill>
                  <a:schemeClr val="tx2"/>
                </a:solidFill>
              </a:defRPr>
            </a:lvl1pPr>
          </a:lstStyle>
          <a:p>
            <a:fld id="{401CF334-2D5C-4859-84A6-CA7E6E43FAEB}" type="slidenum">
              <a:rPr lang="en-US" smtClean="0"/>
              <a:t>‹#›</a:t>
            </a:fld>
            <a:endParaRPr lang="en-US" dirty="0"/>
          </a:p>
        </p:txBody>
      </p:sp>
      <p:sp>
        <p:nvSpPr>
          <p:cNvPr id="3" name="Text Placeholder 2"/>
          <p:cNvSpPr>
            <a:spLocks noGrp="1"/>
          </p:cNvSpPr>
          <p:nvPr>
            <p:ph type="body" idx="1"/>
          </p:nvPr>
        </p:nvSpPr>
        <p:spPr>
          <a:xfrm>
            <a:off x="507999" y="1719071"/>
            <a:ext cx="11210524" cy="4407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p:cNvSpPr>
            <a:spLocks noGrp="1"/>
          </p:cNvSpPr>
          <p:nvPr>
            <p:ph type="title"/>
          </p:nvPr>
        </p:nvSpPr>
        <p:spPr>
          <a:xfrm>
            <a:off x="508000" y="355847"/>
            <a:ext cx="11175013" cy="1054394"/>
          </a:xfrm>
          <a:prstGeom prst="rect">
            <a:avLst/>
          </a:prstGeom>
        </p:spPr>
        <p:txBody>
          <a:bodyPr vert="horz" lIns="91440" tIns="45720" rIns="91440" bIns="45720" rtlCol="0" anchor="ctr">
            <a:noAutofit/>
          </a:bodyPr>
          <a:lstStyle/>
          <a:p>
            <a:r>
              <a:rPr lang="en-US"/>
              <a:t>Click to edit Master title style</a:t>
            </a:r>
            <a:endParaRPr lang="en-US" dirty="0"/>
          </a:p>
        </p:txBody>
      </p:sp>
    </p:spTree>
    <p:extLst>
      <p:ext uri="{BB962C8B-B14F-4D97-AF65-F5344CB8AC3E}">
        <p14:creationId xmlns:p14="http://schemas.microsoft.com/office/powerpoint/2010/main" val="285696172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4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20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finance-calculators.appspot.com/" TargetMode="External"/><Relationship Id="rId7" Type="http://schemas.openxmlformats.org/officeDocument/2006/relationships/image" Target="../media/image5.jpeg"/><Relationship Id="rId2" Type="http://schemas.openxmlformats.org/officeDocument/2006/relationships/hyperlink" Target="http://www.samuelchukwuemeka.com/" TargetMode="External"/><Relationship Id="rId1" Type="http://schemas.openxmlformats.org/officeDocument/2006/relationships/slideLayout" Target="../slideLayouts/slideLayout1.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playlist?list=PLjyyswMG9g9D4-hvqIt8PW76u0E9adRsR"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kbb.com/" TargetMode="External"/><Relationship Id="rId2" Type="http://schemas.openxmlformats.org/officeDocument/2006/relationships/hyperlink" Target="http://www.nada.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www.allstate.com/tools-and-resources/gas-price-locator.aspx#.U9eRb-FkmdM.google_plusone_share" TargetMode="External"/><Relationship Id="rId3" Type="http://schemas.openxmlformats.org/officeDocument/2006/relationships/hyperlink" Target="http://www.kbb.com/" TargetMode="External"/><Relationship Id="rId7" Type="http://schemas.openxmlformats.org/officeDocument/2006/relationships/hyperlink" Target="http://www.thesupercars.org/" TargetMode="External"/><Relationship Id="rId2" Type="http://schemas.openxmlformats.org/officeDocument/2006/relationships/hyperlink" Target="http://www.nada.com/" TargetMode="External"/><Relationship Id="rId1" Type="http://schemas.openxmlformats.org/officeDocument/2006/relationships/slideLayout" Target="../slideLayouts/slideLayout2.xml"/><Relationship Id="rId6" Type="http://schemas.openxmlformats.org/officeDocument/2006/relationships/hyperlink" Target="http://www.ehow.com/about_7488832_closed-leases-vs-open-end.html" TargetMode="External"/><Relationship Id="rId5" Type="http://schemas.openxmlformats.org/officeDocument/2006/relationships/hyperlink" Target="http://www.nhtsa.gov/Driving+Safety" TargetMode="External"/><Relationship Id="rId4" Type="http://schemas.openxmlformats.org/officeDocument/2006/relationships/hyperlink" Target="http://www.federalreserve.gov/pubs/leas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9347200" y="2052961"/>
            <a:ext cx="2641600" cy="3446318"/>
          </a:xfrm>
        </p:spPr>
        <p:txBody>
          <a:bodyPr/>
          <a:lstStyle/>
          <a:p>
            <a:r>
              <a:rPr lang="en-US" sz="2700" b="1" dirty="0">
                <a:solidFill>
                  <a:srgbClr val="002060"/>
                </a:solidFill>
                <a:latin typeface="Bell MT" panose="02020503060305020303" pitchFamily="18" charset="0"/>
              </a:rPr>
              <a:t>Samuel Chukwuemeka</a:t>
            </a:r>
          </a:p>
          <a:p>
            <a:endParaRPr lang="en-US" sz="2700" b="1" dirty="0">
              <a:solidFill>
                <a:srgbClr val="002060"/>
              </a:solidFill>
              <a:latin typeface="Bell MT" panose="02020503060305020303" pitchFamily="18" charset="0"/>
            </a:endParaRPr>
          </a:p>
          <a:p>
            <a:r>
              <a:rPr lang="en-US" sz="2000" b="1" dirty="0">
                <a:solidFill>
                  <a:srgbClr val="002060"/>
                </a:solidFill>
                <a:latin typeface="Bell MT" panose="02020503060305020303" pitchFamily="18" charset="0"/>
              </a:rPr>
              <a:t>B.Eng., A.A.T, M.Ed., M.S </a:t>
            </a:r>
          </a:p>
          <a:p>
            <a:endParaRPr lang="en-US" dirty="0"/>
          </a:p>
        </p:txBody>
      </p:sp>
      <p:sp>
        <p:nvSpPr>
          <p:cNvPr id="4" name="Title 3"/>
          <p:cNvSpPr>
            <a:spLocks noGrp="1"/>
          </p:cNvSpPr>
          <p:nvPr>
            <p:ph type="title"/>
          </p:nvPr>
        </p:nvSpPr>
        <p:spPr>
          <a:xfrm>
            <a:off x="442174" y="276837"/>
            <a:ext cx="8432800" cy="6367244"/>
          </a:xfrm>
        </p:spPr>
        <p:txBody>
          <a:bodyPr/>
          <a:lstStyle/>
          <a:p>
            <a:pPr algn="ctr">
              <a:spcBef>
                <a:spcPct val="20000"/>
              </a:spcBef>
              <a:buClr>
                <a:srgbClr val="94B6D2"/>
              </a:buClr>
            </a:pPr>
            <a:r>
              <a:rPr lang="en-US" b="1" dirty="0"/>
              <a:t>Buying a car in the </a:t>
            </a:r>
            <a:r>
              <a:rPr lang="en-US" b="1" dirty="0" err="1"/>
              <a:t>u.S.</a:t>
            </a:r>
            <a:r>
              <a:rPr lang="en-US" b="1" dirty="0"/>
              <a:t> – part 1</a:t>
            </a:r>
            <a:br>
              <a:rPr lang="en-US" dirty="0"/>
            </a:br>
            <a:br>
              <a:rPr lang="en-US" dirty="0"/>
            </a:br>
            <a:br>
              <a:rPr lang="en-US" dirty="0"/>
            </a:br>
            <a:br>
              <a:rPr lang="en-US" dirty="0"/>
            </a:br>
            <a:br>
              <a:rPr lang="en-US" dirty="0"/>
            </a:br>
            <a:br>
              <a:rPr lang="en-US" dirty="0"/>
            </a:br>
            <a:r>
              <a:rPr lang="en-US" sz="4000" cap="none" dirty="0">
                <a:solidFill>
                  <a:srgbClr val="FFFFFF"/>
                </a:solidFill>
                <a:latin typeface="Bell MT" panose="02020503060305020303" pitchFamily="18" charset="0"/>
                <a:ea typeface="+mn-ea"/>
                <a:cs typeface="+mn-cs"/>
                <a:hlinkClick r:id="rId2"/>
              </a:rPr>
              <a:t>www.samuelchukwuemeka.com</a:t>
            </a:r>
            <a:br>
              <a:rPr lang="en-US" sz="4000" cap="none" dirty="0">
                <a:solidFill>
                  <a:srgbClr val="FFFFFF"/>
                </a:solidFill>
                <a:latin typeface="Bell MT" panose="02020503060305020303" pitchFamily="18" charset="0"/>
                <a:ea typeface="+mn-ea"/>
                <a:cs typeface="+mn-cs"/>
              </a:rPr>
            </a:br>
            <a:r>
              <a:rPr lang="en-US" sz="2400" b="1" cap="none" dirty="0">
                <a:solidFill>
                  <a:srgbClr val="FFFFFF"/>
                </a:solidFill>
                <a:latin typeface="Bell MT" panose="02020503060305020303" pitchFamily="18" charset="0"/>
                <a:ea typeface="+mn-ea"/>
                <a:cs typeface="+mn-cs"/>
              </a:rPr>
              <a:t>The Joy of a Teacher is the Success of his Students. – Samuel Chukwuemeka</a:t>
            </a:r>
            <a:br>
              <a:rPr lang="en-US" sz="2400" b="1" cap="none" dirty="0">
                <a:solidFill>
                  <a:srgbClr val="FFFFFF"/>
                </a:solidFill>
                <a:latin typeface="Bell MT" panose="02020503060305020303" pitchFamily="18" charset="0"/>
                <a:ea typeface="+mn-ea"/>
                <a:cs typeface="+mn-cs"/>
              </a:rPr>
            </a:br>
            <a:r>
              <a:rPr lang="en-US" sz="2000" cap="none" dirty="0">
                <a:latin typeface="Times New Roman" panose="02020603050405020304" pitchFamily="18" charset="0"/>
                <a:cs typeface="Times New Roman" panose="02020603050405020304" pitchFamily="18" charset="0"/>
              </a:rPr>
              <a:t>Calculator:                  </a:t>
            </a:r>
            <a:r>
              <a:rPr lang="en-US" sz="2000" u="sng" cap="none" dirty="0">
                <a:latin typeface="Times New Roman" panose="02020603050405020304" pitchFamily="18" charset="0"/>
                <a:cs typeface="Times New Roman" panose="02020603050405020304" pitchFamily="18" charset="0"/>
                <a:hlinkClick r:id="rId3"/>
              </a:rPr>
              <a:t>www.finance-calculators.appspot.com</a:t>
            </a:r>
            <a:br>
              <a:rPr lang="en-US" dirty="0"/>
            </a:br>
            <a:endParaRPr lang="en-US"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6439" y="1598389"/>
            <a:ext cx="2018428" cy="1343024"/>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36117" y="3147470"/>
            <a:ext cx="2581275" cy="1257300"/>
          </a:xfrm>
          <a:prstGeom prst="rect">
            <a:avLst/>
          </a:prstGeom>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62091" y="1598388"/>
            <a:ext cx="1995376" cy="1343025"/>
          </a:xfrm>
          <a:prstGeom prst="rect">
            <a:avLst/>
          </a:prstGeom>
        </p:spPr>
      </p:pic>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453093" y="746975"/>
            <a:ext cx="2408349" cy="1648495"/>
          </a:xfrm>
          <a:prstGeom prst="rect">
            <a:avLst/>
          </a:prstGeom>
        </p:spPr>
      </p:pic>
    </p:spTree>
    <p:extLst>
      <p:ext uri="{BB962C8B-B14F-4D97-AF65-F5344CB8AC3E}">
        <p14:creationId xmlns:p14="http://schemas.microsoft.com/office/powerpoint/2010/main" val="1727290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719071"/>
            <a:ext cx="11210524" cy="4784760"/>
          </a:xfrm>
        </p:spPr>
        <p:txBody>
          <a:bodyPr>
            <a:normAutofit lnSpcReduction="10000"/>
          </a:bodyPr>
          <a:lstStyle/>
          <a:p>
            <a:r>
              <a:rPr lang="en-US" dirty="0"/>
              <a:t>Installment Loan</a:t>
            </a:r>
          </a:p>
          <a:p>
            <a:r>
              <a:rPr lang="en-US" dirty="0"/>
              <a:t>Amortization</a:t>
            </a:r>
          </a:p>
          <a:p>
            <a:r>
              <a:rPr lang="en-US" dirty="0"/>
              <a:t>Closed-End Lease</a:t>
            </a:r>
          </a:p>
          <a:p>
            <a:r>
              <a:rPr lang="en-US" dirty="0"/>
              <a:t>Open-End Lease</a:t>
            </a:r>
          </a:p>
          <a:p>
            <a:r>
              <a:rPr lang="en-US" dirty="0"/>
              <a:t>Appraised Value</a:t>
            </a:r>
          </a:p>
          <a:p>
            <a:r>
              <a:rPr lang="en-US" dirty="0"/>
              <a:t>Residual Value</a:t>
            </a:r>
          </a:p>
          <a:p>
            <a:r>
              <a:rPr lang="en-US" dirty="0"/>
              <a:t>Auto Insurance</a:t>
            </a:r>
          </a:p>
          <a:p>
            <a:pPr lvl="1"/>
            <a:r>
              <a:rPr lang="en-US" sz="2400" dirty="0"/>
              <a:t>Liability Coverage</a:t>
            </a:r>
          </a:p>
          <a:p>
            <a:pPr lvl="2"/>
            <a:r>
              <a:rPr lang="en-US" sz="2000" dirty="0"/>
              <a:t>Bodily Injury Liability</a:t>
            </a:r>
          </a:p>
          <a:p>
            <a:pPr lvl="2"/>
            <a:r>
              <a:rPr lang="en-US" sz="2000" dirty="0"/>
              <a:t>Property Damage Liability</a:t>
            </a:r>
          </a:p>
          <a:p>
            <a:pPr lvl="1"/>
            <a:r>
              <a:rPr lang="en-US" sz="2400" dirty="0"/>
              <a:t>Collision Coverage</a:t>
            </a:r>
          </a:p>
          <a:p>
            <a:pPr lvl="1"/>
            <a:r>
              <a:rPr lang="en-US" sz="2400" dirty="0"/>
              <a:t>Comprehensive Coverage</a:t>
            </a:r>
          </a:p>
          <a:p>
            <a:endParaRPr lang="en-US" dirty="0"/>
          </a:p>
        </p:txBody>
      </p:sp>
      <p:sp>
        <p:nvSpPr>
          <p:cNvPr id="6" name="Title 5"/>
          <p:cNvSpPr>
            <a:spLocks noGrp="1"/>
          </p:cNvSpPr>
          <p:nvPr>
            <p:ph type="title"/>
          </p:nvPr>
        </p:nvSpPr>
        <p:spPr/>
        <p:txBody>
          <a:bodyPr/>
          <a:lstStyle/>
          <a:p>
            <a:r>
              <a:rPr lang="en-US" dirty="0"/>
              <a:t>Vocabulary words</a:t>
            </a:r>
          </a:p>
        </p:txBody>
      </p:sp>
    </p:spTree>
    <p:extLst>
      <p:ext uri="{BB962C8B-B14F-4D97-AF65-F5344CB8AC3E}">
        <p14:creationId xmlns:p14="http://schemas.microsoft.com/office/powerpoint/2010/main" val="221132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4">
                                            <p:txEl>
                                              <p:pRg st="7" end="7"/>
                                            </p:txEl>
                                          </p:spTgt>
                                        </p:tgtEl>
                                        <p:attrNameLst>
                                          <p:attrName>style.visibility</p:attrName>
                                        </p:attrNameLst>
                                      </p:cBhvr>
                                      <p:to>
                                        <p:strVal val="visible"/>
                                      </p:to>
                                    </p:set>
                                    <p:animEffect transition="in" filter="fade">
                                      <p:cBhvr>
                                        <p:cTn id="56" dur="1000"/>
                                        <p:tgtEl>
                                          <p:spTgt spid="4">
                                            <p:txEl>
                                              <p:pRg st="7" end="7"/>
                                            </p:txEl>
                                          </p:spTgt>
                                        </p:tgtEl>
                                      </p:cBhvr>
                                    </p:animEffect>
                                    <p:anim calcmode="lin" valueType="num">
                                      <p:cBhvr>
                                        <p:cTn id="57"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4">
                                            <p:txEl>
                                              <p:pRg st="8" end="8"/>
                                            </p:txEl>
                                          </p:spTgt>
                                        </p:tgtEl>
                                        <p:attrNameLst>
                                          <p:attrName>style.visibility</p:attrName>
                                        </p:attrNameLst>
                                      </p:cBhvr>
                                      <p:to>
                                        <p:strVal val="visible"/>
                                      </p:to>
                                    </p:set>
                                    <p:animEffect transition="in" filter="fade">
                                      <p:cBhvr>
                                        <p:cTn id="63" dur="1000"/>
                                        <p:tgtEl>
                                          <p:spTgt spid="4">
                                            <p:txEl>
                                              <p:pRg st="8" end="8"/>
                                            </p:txEl>
                                          </p:spTgt>
                                        </p:tgtEl>
                                      </p:cBhvr>
                                    </p:animEffect>
                                    <p:anim calcmode="lin" valueType="num">
                                      <p:cBhvr>
                                        <p:cTn id="64"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4">
                                            <p:txEl>
                                              <p:pRg st="9" end="9"/>
                                            </p:txEl>
                                          </p:spTgt>
                                        </p:tgtEl>
                                        <p:attrNameLst>
                                          <p:attrName>style.visibility</p:attrName>
                                        </p:attrNameLst>
                                      </p:cBhvr>
                                      <p:to>
                                        <p:strVal val="visible"/>
                                      </p:to>
                                    </p:set>
                                    <p:animEffect transition="in" filter="fade">
                                      <p:cBhvr>
                                        <p:cTn id="70" dur="1000"/>
                                        <p:tgtEl>
                                          <p:spTgt spid="4">
                                            <p:txEl>
                                              <p:pRg st="9" end="9"/>
                                            </p:txEl>
                                          </p:spTgt>
                                        </p:tgtEl>
                                      </p:cBhvr>
                                    </p:animEffect>
                                    <p:anim calcmode="lin" valueType="num">
                                      <p:cBhvr>
                                        <p:cTn id="71"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4">
                                            <p:txEl>
                                              <p:pRg st="10" end="10"/>
                                            </p:txEl>
                                          </p:spTgt>
                                        </p:tgtEl>
                                        <p:attrNameLst>
                                          <p:attrName>style.visibility</p:attrName>
                                        </p:attrNameLst>
                                      </p:cBhvr>
                                      <p:to>
                                        <p:strVal val="visible"/>
                                      </p:to>
                                    </p:set>
                                    <p:animEffect transition="in" filter="fade">
                                      <p:cBhvr>
                                        <p:cTn id="77" dur="1000"/>
                                        <p:tgtEl>
                                          <p:spTgt spid="4">
                                            <p:txEl>
                                              <p:pRg st="10" end="10"/>
                                            </p:txEl>
                                          </p:spTgt>
                                        </p:tgtEl>
                                      </p:cBhvr>
                                    </p:animEffect>
                                    <p:anim calcmode="lin" valueType="num">
                                      <p:cBhvr>
                                        <p:cTn id="78"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4">
                                            <p:txEl>
                                              <p:pRg st="11" end="11"/>
                                            </p:txEl>
                                          </p:spTgt>
                                        </p:tgtEl>
                                        <p:attrNameLst>
                                          <p:attrName>style.visibility</p:attrName>
                                        </p:attrNameLst>
                                      </p:cBhvr>
                                      <p:to>
                                        <p:strVal val="visible"/>
                                      </p:to>
                                    </p:set>
                                    <p:animEffect transition="in" filter="fade">
                                      <p:cBhvr>
                                        <p:cTn id="84" dur="1000"/>
                                        <p:tgtEl>
                                          <p:spTgt spid="4">
                                            <p:txEl>
                                              <p:pRg st="11" end="11"/>
                                            </p:txEl>
                                          </p:spTgt>
                                        </p:tgtEl>
                                      </p:cBhvr>
                                    </p:animEffect>
                                    <p:anim calcmode="lin" valueType="num">
                                      <p:cBhvr>
                                        <p:cTn id="8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719071"/>
            <a:ext cx="11210524" cy="4784760"/>
          </a:xfrm>
        </p:spPr>
        <p:txBody>
          <a:bodyPr>
            <a:normAutofit fontScale="92500" lnSpcReduction="10000"/>
          </a:bodyPr>
          <a:lstStyle/>
          <a:p>
            <a:r>
              <a:rPr lang="en-US" dirty="0"/>
              <a:t>At the end of this presentation, students will:</a:t>
            </a:r>
          </a:p>
          <a:p>
            <a:endParaRPr lang="en-US" dirty="0"/>
          </a:p>
          <a:p>
            <a:r>
              <a:rPr lang="en-US" dirty="0"/>
              <a:t>Define the terms used in car purchases and leases.</a:t>
            </a:r>
          </a:p>
          <a:p>
            <a:r>
              <a:rPr lang="en-US" dirty="0"/>
              <a:t>Differentiate between a closed-end lease and an open-end lease.</a:t>
            </a:r>
          </a:p>
          <a:p>
            <a:r>
              <a:rPr lang="en-US" dirty="0"/>
              <a:t>Compare and contrast “Leasing” versus “Buying”.</a:t>
            </a:r>
          </a:p>
          <a:p>
            <a:r>
              <a:rPr lang="en-US" dirty="0"/>
              <a:t>Define the basic kinds of car insurance.</a:t>
            </a:r>
          </a:p>
          <a:p>
            <a:r>
              <a:rPr lang="en-US" dirty="0"/>
              <a:t>Calculate the monthly payments for a car loan.</a:t>
            </a:r>
          </a:p>
          <a:p>
            <a:r>
              <a:rPr lang="en-US" dirty="0"/>
              <a:t>Calculate the interests for a car loan.</a:t>
            </a:r>
          </a:p>
          <a:p>
            <a:r>
              <a:rPr lang="en-US" dirty="0"/>
              <a:t>Calculate the annual fuel expense for cars.</a:t>
            </a:r>
          </a:p>
          <a:p>
            <a:endParaRPr lang="en-US" dirty="0"/>
          </a:p>
          <a:p>
            <a:endParaRPr lang="en-US" dirty="0"/>
          </a:p>
          <a:p>
            <a:r>
              <a:rPr lang="en-US" dirty="0"/>
              <a:t>Pre-requisite Video: </a:t>
            </a:r>
            <a:r>
              <a:rPr lang="en-US" dirty="0">
                <a:hlinkClick r:id="rId2"/>
              </a:rPr>
              <a:t>Mathematics of Finance</a:t>
            </a:r>
            <a:endParaRPr lang="en-US" dirty="0"/>
          </a:p>
          <a:p>
            <a:endParaRPr lang="en-US" dirty="0"/>
          </a:p>
          <a:p>
            <a:endParaRPr lang="en-US" dirty="0"/>
          </a:p>
          <a:p>
            <a:endParaRPr lang="en-US" dirty="0"/>
          </a:p>
        </p:txBody>
      </p:sp>
      <p:sp>
        <p:nvSpPr>
          <p:cNvPr id="6" name="Title 5"/>
          <p:cNvSpPr>
            <a:spLocks noGrp="1"/>
          </p:cNvSpPr>
          <p:nvPr>
            <p:ph type="title"/>
          </p:nvPr>
        </p:nvSpPr>
        <p:spPr/>
        <p:txBody>
          <a:bodyPr/>
          <a:lstStyle/>
          <a:p>
            <a:r>
              <a:rPr lang="en-US" dirty="0"/>
              <a:t>objectives</a:t>
            </a:r>
          </a:p>
        </p:txBody>
      </p:sp>
    </p:spTree>
    <p:extLst>
      <p:ext uri="{BB962C8B-B14F-4D97-AF65-F5344CB8AC3E}">
        <p14:creationId xmlns:p14="http://schemas.microsoft.com/office/powerpoint/2010/main" val="3358269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Effect transition="in" filter="fade">
                                      <p:cBhvr>
                                        <p:cTn id="19" dur="1000"/>
                                        <p:tgtEl>
                                          <p:spTgt spid="4">
                                            <p:txEl>
                                              <p:pRg st="3" end="3"/>
                                            </p:txEl>
                                          </p:spTgt>
                                        </p:tgtEl>
                                      </p:cBhvr>
                                    </p:animEffect>
                                    <p:anim calcmode="lin" valueType="num">
                                      <p:cBhvr>
                                        <p:cTn id="20"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4" end="4"/>
                                            </p:txEl>
                                          </p:spTgt>
                                        </p:tgtEl>
                                        <p:attrNameLst>
                                          <p:attrName>style.visibility</p:attrName>
                                        </p:attrNameLst>
                                      </p:cBhvr>
                                      <p:to>
                                        <p:strVal val="visible"/>
                                      </p:to>
                                    </p:set>
                                    <p:animEffect transition="in" filter="fade">
                                      <p:cBhvr>
                                        <p:cTn id="26" dur="1000"/>
                                        <p:tgtEl>
                                          <p:spTgt spid="4">
                                            <p:txEl>
                                              <p:pRg st="4" end="4"/>
                                            </p:txEl>
                                          </p:spTgt>
                                        </p:tgtEl>
                                      </p:cBhvr>
                                    </p:animEffect>
                                    <p:anim calcmode="lin" valueType="num">
                                      <p:cBhvr>
                                        <p:cTn id="27"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4">
                                            <p:txEl>
                                              <p:pRg st="5" end="5"/>
                                            </p:txEl>
                                          </p:spTgt>
                                        </p:tgtEl>
                                        <p:attrNameLst>
                                          <p:attrName>style.visibility</p:attrName>
                                        </p:attrNameLst>
                                      </p:cBhvr>
                                      <p:to>
                                        <p:strVal val="visible"/>
                                      </p:to>
                                    </p:set>
                                    <p:animEffect transition="in" filter="fade">
                                      <p:cBhvr>
                                        <p:cTn id="33" dur="1000"/>
                                        <p:tgtEl>
                                          <p:spTgt spid="4">
                                            <p:txEl>
                                              <p:pRg st="5" end="5"/>
                                            </p:txEl>
                                          </p:spTgt>
                                        </p:tgtEl>
                                      </p:cBhvr>
                                    </p:animEffect>
                                    <p:anim calcmode="lin" valueType="num">
                                      <p:cBhvr>
                                        <p:cTn id="34"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4">
                                            <p:txEl>
                                              <p:pRg st="6" end="6"/>
                                            </p:txEl>
                                          </p:spTgt>
                                        </p:tgtEl>
                                        <p:attrNameLst>
                                          <p:attrName>style.visibility</p:attrName>
                                        </p:attrNameLst>
                                      </p:cBhvr>
                                      <p:to>
                                        <p:strVal val="visible"/>
                                      </p:to>
                                    </p:set>
                                    <p:animEffect transition="in" filter="fade">
                                      <p:cBhvr>
                                        <p:cTn id="40" dur="1000"/>
                                        <p:tgtEl>
                                          <p:spTgt spid="4">
                                            <p:txEl>
                                              <p:pRg st="6" end="6"/>
                                            </p:txEl>
                                          </p:spTgt>
                                        </p:tgtEl>
                                      </p:cBhvr>
                                    </p:animEffect>
                                    <p:anim calcmode="lin" valueType="num">
                                      <p:cBhvr>
                                        <p:cTn id="41"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1000"/>
                                        <p:tgtEl>
                                          <p:spTgt spid="4">
                                            <p:txEl>
                                              <p:pRg st="7" end="7"/>
                                            </p:txEl>
                                          </p:spTgt>
                                        </p:tgtEl>
                                      </p:cBhvr>
                                    </p:animEffect>
                                    <p:anim calcmode="lin" valueType="num">
                                      <p:cBhvr>
                                        <p:cTn id="4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4">
                                            <p:txEl>
                                              <p:pRg st="8" end="8"/>
                                            </p:txEl>
                                          </p:spTgt>
                                        </p:tgtEl>
                                        <p:attrNameLst>
                                          <p:attrName>style.visibility</p:attrName>
                                        </p:attrNameLst>
                                      </p:cBhvr>
                                      <p:to>
                                        <p:strVal val="visible"/>
                                      </p:to>
                                    </p:set>
                                    <p:animEffect transition="in" filter="fade">
                                      <p:cBhvr>
                                        <p:cTn id="54" dur="1000"/>
                                        <p:tgtEl>
                                          <p:spTgt spid="4">
                                            <p:txEl>
                                              <p:pRg st="8" end="8"/>
                                            </p:txEl>
                                          </p:spTgt>
                                        </p:tgtEl>
                                      </p:cBhvr>
                                    </p:animEffect>
                                    <p:anim calcmode="lin" valueType="num">
                                      <p:cBhvr>
                                        <p:cTn id="55"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719071"/>
            <a:ext cx="11210524" cy="4694608"/>
          </a:xfrm>
        </p:spPr>
        <p:txBody>
          <a:bodyPr>
            <a:normAutofit fontScale="92500" lnSpcReduction="10000"/>
          </a:bodyPr>
          <a:lstStyle/>
          <a:p>
            <a:r>
              <a:rPr lang="en-US" sz="2800" dirty="0"/>
              <a:t>When buying a car in the U.S (used or new), you can either </a:t>
            </a:r>
          </a:p>
          <a:p>
            <a:pPr lvl="1"/>
            <a:r>
              <a:rPr lang="en-US" sz="2800" dirty="0"/>
              <a:t>Pay cash/check or</a:t>
            </a:r>
          </a:p>
          <a:p>
            <a:pPr lvl="1"/>
            <a:r>
              <a:rPr lang="en-US" sz="2800" dirty="0"/>
              <a:t>Take out an installment loan by accepting the financing of the car.</a:t>
            </a:r>
          </a:p>
          <a:p>
            <a:r>
              <a:rPr lang="en-US" sz="2800" dirty="0">
                <a:solidFill>
                  <a:srgbClr val="775F55"/>
                </a:solidFill>
              </a:rPr>
              <a:t>It is always a good practice to negotiate the “sticker price” on the car. The sticker prices are not the actual purchase prices.</a:t>
            </a:r>
          </a:p>
          <a:p>
            <a:r>
              <a:rPr lang="en-US" sz="2800" dirty="0">
                <a:solidFill>
                  <a:srgbClr val="775F55"/>
                </a:solidFill>
              </a:rPr>
              <a:t>If you </a:t>
            </a:r>
            <a:r>
              <a:rPr lang="en-US" sz="2800">
                <a:solidFill>
                  <a:srgbClr val="775F55"/>
                </a:solidFill>
              </a:rPr>
              <a:t>pay cash/check, </a:t>
            </a:r>
            <a:r>
              <a:rPr lang="en-US" sz="2800" dirty="0">
                <a:solidFill>
                  <a:srgbClr val="775F55"/>
                </a:solidFill>
              </a:rPr>
              <a:t>the purchase price becomes reduced even further.</a:t>
            </a:r>
          </a:p>
          <a:p>
            <a:r>
              <a:rPr lang="en-US" sz="2800" dirty="0">
                <a:solidFill>
                  <a:srgbClr val="775F55"/>
                </a:solidFill>
              </a:rPr>
              <a:t>If you accept the financing of the car, the price is higher than if you pay cash/check.</a:t>
            </a:r>
          </a:p>
          <a:p>
            <a:r>
              <a:rPr lang="en-US" sz="2800" dirty="0">
                <a:solidFill>
                  <a:srgbClr val="775F55"/>
                </a:solidFill>
              </a:rPr>
              <a:t>Before the car dealer finances your car via a financial institution, a collateral is usually required.</a:t>
            </a:r>
          </a:p>
        </p:txBody>
      </p:sp>
      <p:sp>
        <p:nvSpPr>
          <p:cNvPr id="6" name="Title 5"/>
          <p:cNvSpPr>
            <a:spLocks noGrp="1"/>
          </p:cNvSpPr>
          <p:nvPr>
            <p:ph type="title"/>
          </p:nvPr>
        </p:nvSpPr>
        <p:spPr/>
        <p:txBody>
          <a:bodyPr/>
          <a:lstStyle/>
          <a:p>
            <a:r>
              <a:rPr lang="en-US" dirty="0"/>
              <a:t>Definitions / terms       1</a:t>
            </a:r>
          </a:p>
        </p:txBody>
      </p:sp>
    </p:spTree>
    <p:extLst>
      <p:ext uri="{BB962C8B-B14F-4D97-AF65-F5344CB8AC3E}">
        <p14:creationId xmlns:p14="http://schemas.microsoft.com/office/powerpoint/2010/main" val="3327773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4">
                                            <p:txEl>
                                              <p:pRg st="6" end="6"/>
                                            </p:txEl>
                                          </p:spTgt>
                                        </p:tgtEl>
                                        <p:attrNameLst>
                                          <p:attrName>style.visibility</p:attrName>
                                        </p:attrNameLst>
                                      </p:cBhvr>
                                      <p:to>
                                        <p:strVal val="visible"/>
                                      </p:to>
                                    </p:set>
                                    <p:animEffect transition="in" filter="fade">
                                      <p:cBhvr>
                                        <p:cTn id="49" dur="1000"/>
                                        <p:tgtEl>
                                          <p:spTgt spid="4">
                                            <p:txEl>
                                              <p:pRg st="6" end="6"/>
                                            </p:txEl>
                                          </p:spTgt>
                                        </p:tgtEl>
                                      </p:cBhvr>
                                    </p:animEffect>
                                    <p:anim calcmode="lin" valueType="num">
                                      <p:cBhvr>
                                        <p:cTn id="50"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674254"/>
            <a:ext cx="11210524" cy="4868213"/>
          </a:xfrm>
        </p:spPr>
        <p:txBody>
          <a:bodyPr>
            <a:normAutofit/>
          </a:bodyPr>
          <a:lstStyle/>
          <a:p>
            <a:r>
              <a:rPr lang="en-US" dirty="0"/>
              <a:t>The collateral could be a proof that you work such as regular pay stubs; bank accounts; and other valuable property among others.</a:t>
            </a:r>
          </a:p>
          <a:p>
            <a:r>
              <a:rPr lang="en-US" dirty="0"/>
              <a:t>In addition, a down payment is usually required.</a:t>
            </a:r>
          </a:p>
          <a:p>
            <a:r>
              <a:rPr lang="en-US" dirty="0"/>
              <a:t>The interest rate on the car loan depends on several factors including your credit score and history, your job/profession and annual salary, the amount of the loan and the repayment period among others.</a:t>
            </a:r>
          </a:p>
          <a:p>
            <a:r>
              <a:rPr lang="en-US" dirty="0">
                <a:solidFill>
                  <a:srgbClr val="775F55"/>
                </a:solidFill>
              </a:rPr>
              <a:t>An </a:t>
            </a:r>
            <a:r>
              <a:rPr lang="en-US" b="1" dirty="0">
                <a:solidFill>
                  <a:srgbClr val="775F55"/>
                </a:solidFill>
              </a:rPr>
              <a:t>installment loan</a:t>
            </a:r>
            <a:r>
              <a:rPr lang="en-US" dirty="0">
                <a:solidFill>
                  <a:srgbClr val="775F55"/>
                </a:solidFill>
              </a:rPr>
              <a:t> is a loan/money you borrow, and agree to pay back in installments. This means that you make equal periodic payments over the term of the loan. The periodic payments could be weekly payments, bi-weekly payments, monthly payments, or some other periodic payments as the case may be.</a:t>
            </a:r>
          </a:p>
          <a:p>
            <a:endParaRPr lang="en-US" dirty="0"/>
          </a:p>
          <a:p>
            <a:endParaRPr lang="en-US" dirty="0">
              <a:solidFill>
                <a:srgbClr val="775F55"/>
              </a:solidFill>
            </a:endParaRPr>
          </a:p>
        </p:txBody>
      </p:sp>
      <p:sp>
        <p:nvSpPr>
          <p:cNvPr id="6" name="Title 5"/>
          <p:cNvSpPr>
            <a:spLocks noGrp="1"/>
          </p:cNvSpPr>
          <p:nvPr>
            <p:ph type="title"/>
          </p:nvPr>
        </p:nvSpPr>
        <p:spPr/>
        <p:txBody>
          <a:bodyPr/>
          <a:lstStyle/>
          <a:p>
            <a:r>
              <a:rPr lang="en-US" dirty="0"/>
              <a:t>Definitions / terms       2</a:t>
            </a:r>
          </a:p>
        </p:txBody>
      </p:sp>
    </p:spTree>
    <p:extLst>
      <p:ext uri="{BB962C8B-B14F-4D97-AF65-F5344CB8AC3E}">
        <p14:creationId xmlns:p14="http://schemas.microsoft.com/office/powerpoint/2010/main" val="3726938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719071"/>
            <a:ext cx="11210524" cy="4874912"/>
          </a:xfrm>
        </p:spPr>
        <p:txBody>
          <a:bodyPr>
            <a:normAutofit lnSpcReduction="10000"/>
          </a:bodyPr>
          <a:lstStyle/>
          <a:p>
            <a:r>
              <a:rPr lang="en-US" dirty="0">
                <a:solidFill>
                  <a:srgbClr val="775F55"/>
                </a:solidFill>
              </a:rPr>
              <a:t>Installment loans allow consumers to finance high price purchases of some things that they would otherwise not be able to afford immediately. These includes cars and homes among others.</a:t>
            </a:r>
          </a:p>
          <a:p>
            <a:r>
              <a:rPr lang="en-US" b="1" dirty="0">
                <a:solidFill>
                  <a:srgbClr val="775F55"/>
                </a:solidFill>
              </a:rPr>
              <a:t>Amortization</a:t>
            </a:r>
            <a:r>
              <a:rPr lang="en-US" dirty="0">
                <a:solidFill>
                  <a:srgbClr val="775F55"/>
                </a:solidFill>
              </a:rPr>
              <a:t> is defined as the repayment of loan by installments.</a:t>
            </a:r>
          </a:p>
          <a:p>
            <a:r>
              <a:rPr lang="en-US" dirty="0">
                <a:solidFill>
                  <a:srgbClr val="775F55"/>
                </a:solidFill>
              </a:rPr>
              <a:t>In the U.S, almost all installment loans are based on monthly payments and the interest on the loan is compounded on a monthly basis. The Amortization Formula is used for these calculations.</a:t>
            </a:r>
          </a:p>
          <a:p>
            <a:r>
              <a:rPr lang="en-US" dirty="0"/>
              <a:t>Leasing a car is the act of paying a specified amount of money to use a car over a period of time. There are two types of leasing contracts: a closed-end lease and an open-end lease.</a:t>
            </a:r>
          </a:p>
          <a:p>
            <a:r>
              <a:rPr lang="en-US" dirty="0"/>
              <a:t>The difference between a closed-end lease and an open-end lease typically lies on who is financially responsible for the decline in value of the leased vehicle.</a:t>
            </a:r>
          </a:p>
          <a:p>
            <a:endParaRPr lang="en-US" dirty="0"/>
          </a:p>
          <a:p>
            <a:endParaRPr lang="en-US" dirty="0"/>
          </a:p>
        </p:txBody>
      </p:sp>
      <p:sp>
        <p:nvSpPr>
          <p:cNvPr id="6" name="Title 5"/>
          <p:cNvSpPr>
            <a:spLocks noGrp="1"/>
          </p:cNvSpPr>
          <p:nvPr>
            <p:ph type="title"/>
          </p:nvPr>
        </p:nvSpPr>
        <p:spPr/>
        <p:txBody>
          <a:bodyPr/>
          <a:lstStyle/>
          <a:p>
            <a:r>
              <a:rPr lang="en-US" dirty="0"/>
              <a:t>Definitions / terms       3</a:t>
            </a:r>
          </a:p>
        </p:txBody>
      </p:sp>
    </p:spTree>
    <p:extLst>
      <p:ext uri="{BB962C8B-B14F-4D97-AF65-F5344CB8AC3E}">
        <p14:creationId xmlns:p14="http://schemas.microsoft.com/office/powerpoint/2010/main" val="3164358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661375"/>
            <a:ext cx="11210524" cy="4932608"/>
          </a:xfrm>
        </p:spPr>
        <p:txBody>
          <a:bodyPr>
            <a:normAutofit/>
          </a:bodyPr>
          <a:lstStyle/>
          <a:p>
            <a:pPr lvl="0"/>
            <a:r>
              <a:rPr lang="en-US" dirty="0">
                <a:solidFill>
                  <a:srgbClr val="775F55"/>
                </a:solidFill>
              </a:rPr>
              <a:t>In a </a:t>
            </a:r>
            <a:r>
              <a:rPr lang="en-US" b="1" dirty="0">
                <a:solidFill>
                  <a:srgbClr val="775F55"/>
                </a:solidFill>
              </a:rPr>
              <a:t>closed-end lease</a:t>
            </a:r>
            <a:r>
              <a:rPr lang="en-US" dirty="0">
                <a:solidFill>
                  <a:srgbClr val="775F55"/>
                </a:solidFill>
              </a:rPr>
              <a:t>, you make a fixed monthly payment based on estimated usage. When the lease ends; you return the car, pay for any excess mileage, and pay for any damage. However, the dealer or the leasing company is financially responsible for any difference between the appraised value of the car and the residual value.</a:t>
            </a:r>
          </a:p>
          <a:p>
            <a:r>
              <a:rPr lang="en-US" dirty="0">
                <a:solidFill>
                  <a:srgbClr val="775F55"/>
                </a:solidFill>
              </a:rPr>
              <a:t>In an </a:t>
            </a:r>
            <a:r>
              <a:rPr lang="en-US" b="1" dirty="0">
                <a:solidFill>
                  <a:srgbClr val="775F55"/>
                </a:solidFill>
              </a:rPr>
              <a:t>open-end lease</a:t>
            </a:r>
            <a:r>
              <a:rPr lang="en-US" dirty="0">
                <a:solidFill>
                  <a:srgbClr val="775F55"/>
                </a:solidFill>
              </a:rPr>
              <a:t>, you make a fixed monthly payment based on the residual value of the car. When the lease ends, you return the car and make a payment based on the appraised value of the car at that time compared to it’s residual value. If the appraised value is less than the residual value, you pay all or part of the difference. If the appraised value is equal to the residual value, you owe nothing. If the appraised value is greater than the residual value, you may receive a refund.</a:t>
            </a:r>
          </a:p>
          <a:p>
            <a:endParaRPr lang="en-US" dirty="0"/>
          </a:p>
        </p:txBody>
      </p:sp>
      <p:sp>
        <p:nvSpPr>
          <p:cNvPr id="6" name="Title 5"/>
          <p:cNvSpPr>
            <a:spLocks noGrp="1"/>
          </p:cNvSpPr>
          <p:nvPr>
            <p:ph type="title"/>
          </p:nvPr>
        </p:nvSpPr>
        <p:spPr/>
        <p:txBody>
          <a:bodyPr/>
          <a:lstStyle/>
          <a:p>
            <a:r>
              <a:rPr lang="en-US" dirty="0"/>
              <a:t>Definitions / terms       4</a:t>
            </a:r>
          </a:p>
        </p:txBody>
      </p:sp>
    </p:spTree>
    <p:extLst>
      <p:ext uri="{BB962C8B-B14F-4D97-AF65-F5344CB8AC3E}">
        <p14:creationId xmlns:p14="http://schemas.microsoft.com/office/powerpoint/2010/main" val="4027887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US" sz="2600" dirty="0"/>
              <a:t>The </a:t>
            </a:r>
            <a:r>
              <a:rPr lang="en-US" sz="2600" b="1" dirty="0"/>
              <a:t>appraised value</a:t>
            </a:r>
            <a:r>
              <a:rPr lang="en-US" sz="2600" dirty="0"/>
              <a:t> of a car is the assessed value of the car.</a:t>
            </a:r>
          </a:p>
          <a:p>
            <a:r>
              <a:rPr lang="en-US" sz="2600" dirty="0"/>
              <a:t>The </a:t>
            </a:r>
            <a:r>
              <a:rPr lang="en-US" sz="2600" b="1" dirty="0"/>
              <a:t>residual value</a:t>
            </a:r>
            <a:r>
              <a:rPr lang="en-US" sz="2600" dirty="0"/>
              <a:t> of a car is the estimated resale value of the car at the end of the lease. </a:t>
            </a:r>
          </a:p>
          <a:p>
            <a:r>
              <a:rPr lang="en-US" sz="2600" dirty="0"/>
              <a:t>Would you buy a new or used car?</a:t>
            </a:r>
          </a:p>
          <a:p>
            <a:r>
              <a:rPr lang="en-US" sz="2600" dirty="0"/>
              <a:t>A new car loses an average of 12% of its value as soon as it is driven off the dealer’s car lot. Even before you get home, it is already a used car.</a:t>
            </a:r>
          </a:p>
          <a:p>
            <a:r>
              <a:rPr lang="en-US" sz="2600" dirty="0"/>
              <a:t>Used cars are a good option – especially a one-year to three-year old car because the annual depreciation in price is greatest over the first few years.</a:t>
            </a:r>
          </a:p>
          <a:p>
            <a:endParaRPr lang="en-US" dirty="0"/>
          </a:p>
        </p:txBody>
      </p:sp>
      <p:sp>
        <p:nvSpPr>
          <p:cNvPr id="6" name="Title 5"/>
          <p:cNvSpPr>
            <a:spLocks noGrp="1"/>
          </p:cNvSpPr>
          <p:nvPr>
            <p:ph type="title"/>
          </p:nvPr>
        </p:nvSpPr>
        <p:spPr/>
        <p:txBody>
          <a:bodyPr/>
          <a:lstStyle/>
          <a:p>
            <a:r>
              <a:rPr lang="en-US" dirty="0"/>
              <a:t>Definitions / terms       5</a:t>
            </a:r>
          </a:p>
        </p:txBody>
      </p:sp>
    </p:spTree>
    <p:extLst>
      <p:ext uri="{BB962C8B-B14F-4D97-AF65-F5344CB8AC3E}">
        <p14:creationId xmlns:p14="http://schemas.microsoft.com/office/powerpoint/2010/main" val="927888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507999" y="1661375"/>
            <a:ext cx="11210524" cy="4572000"/>
          </a:xfrm>
        </p:spPr>
        <p:txBody>
          <a:bodyPr>
            <a:normAutofit fontScale="92500" lnSpcReduction="10000"/>
          </a:bodyPr>
          <a:lstStyle/>
          <a:p>
            <a:r>
              <a:rPr lang="en-US" dirty="0"/>
              <a:t>The two most commonly used sources of pricing information for used cars are the:</a:t>
            </a:r>
          </a:p>
          <a:p>
            <a:r>
              <a:rPr lang="en-US" dirty="0">
                <a:hlinkClick r:id="rId2"/>
              </a:rPr>
              <a:t>National Automobile Dealers Association Official Used Car Guide</a:t>
            </a:r>
            <a:endParaRPr lang="en-US" dirty="0"/>
          </a:p>
          <a:p>
            <a:r>
              <a:rPr lang="en-US" dirty="0">
                <a:hlinkClick r:id="rId3"/>
              </a:rPr>
              <a:t>Kelley Blue Book Used Car Guide</a:t>
            </a:r>
            <a:endParaRPr lang="en-US" dirty="0"/>
          </a:p>
          <a:p>
            <a:r>
              <a:rPr lang="en-US" dirty="0"/>
              <a:t>Do you need an auto insurance? </a:t>
            </a:r>
            <a:r>
              <a:rPr lang="en-US" b="1" dirty="0"/>
              <a:t>YES, YOU DO!</a:t>
            </a:r>
          </a:p>
          <a:p>
            <a:r>
              <a:rPr lang="en-US" b="1" dirty="0"/>
              <a:t>Auto insurance</a:t>
            </a:r>
            <a:r>
              <a:rPr lang="en-US" dirty="0"/>
              <a:t> is necessary whether you own or lease a car!</a:t>
            </a:r>
          </a:p>
          <a:p>
            <a:r>
              <a:rPr lang="en-US" dirty="0"/>
              <a:t>Purchasing auto insurance means buying protection against damage or loss associated with unexpected events.</a:t>
            </a:r>
          </a:p>
          <a:p>
            <a:r>
              <a:rPr lang="en-US" dirty="0"/>
              <a:t>A policyholder is one who purchases auto insurance policy.</a:t>
            </a:r>
          </a:p>
          <a:p>
            <a:r>
              <a:rPr lang="en-US" dirty="0"/>
              <a:t>Auto insurance rates depends on several factors including younger drivers with limited driving experience, many tickets and points on driving history, poor driving record, place of residence, value of the car, and the number of miles driven each year among others.</a:t>
            </a:r>
          </a:p>
          <a:p>
            <a:endParaRPr lang="en-US" dirty="0"/>
          </a:p>
        </p:txBody>
      </p:sp>
      <p:sp>
        <p:nvSpPr>
          <p:cNvPr id="6" name="Title 5"/>
          <p:cNvSpPr>
            <a:spLocks noGrp="1"/>
          </p:cNvSpPr>
          <p:nvPr>
            <p:ph type="title"/>
          </p:nvPr>
        </p:nvSpPr>
        <p:spPr/>
        <p:txBody>
          <a:bodyPr/>
          <a:lstStyle/>
          <a:p>
            <a:r>
              <a:rPr lang="en-US" dirty="0"/>
              <a:t>Definitions / terms       6</a:t>
            </a:r>
          </a:p>
        </p:txBody>
      </p:sp>
    </p:spTree>
    <p:extLst>
      <p:ext uri="{BB962C8B-B14F-4D97-AF65-F5344CB8AC3E}">
        <p14:creationId xmlns:p14="http://schemas.microsoft.com/office/powerpoint/2010/main" val="334048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8" presetClass="emph" presetSubtype="0" fill="hold" nodeType="clickEffect">
                                  <p:stCondLst>
                                    <p:cond delay="0"/>
                                  </p:stCondLst>
                                  <p:childTnLst>
                                    <p:animRot by="21600000">
                                      <p:cBhvr>
                                        <p:cTn id="13" dur="2000" fill="hold"/>
                                        <p:tgtEl>
                                          <p:spTgt spid="4">
                                            <p:txEl>
                                              <p:pRg st="1" end="1"/>
                                            </p:txEl>
                                          </p:spTgt>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8" presetClass="emph" presetSubtype="0" fill="hold" nodeType="clickEffect">
                                  <p:stCondLst>
                                    <p:cond delay="0"/>
                                  </p:stCondLst>
                                  <p:childTnLst>
                                    <p:animRot by="21600000">
                                      <p:cBhvr>
                                        <p:cTn id="17" dur="2000" fill="hold"/>
                                        <p:tgtEl>
                                          <p:spTgt spid="4">
                                            <p:txEl>
                                              <p:pRg st="2" end="2"/>
                                            </p:txEl>
                                          </p:spTgt>
                                        </p:tgtEl>
                                        <p:attrNameLst>
                                          <p:attrName>r</p:attrName>
                                        </p:attrNameLst>
                                      </p:cBhvr>
                                    </p:animRo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fade">
                                      <p:cBhvr>
                                        <p:cTn id="43" dur="1000"/>
                                        <p:tgtEl>
                                          <p:spTgt spid="4">
                                            <p:txEl>
                                              <p:pRg st="6" end="6"/>
                                            </p:txEl>
                                          </p:spTgt>
                                        </p:tgtEl>
                                      </p:cBhvr>
                                    </p:animEffect>
                                    <p:anim calcmode="lin" valueType="num">
                                      <p:cBhvr>
                                        <p:cTn id="4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
                                            <p:txEl>
                                              <p:pRg st="7" end="7"/>
                                            </p:txEl>
                                          </p:spTgt>
                                        </p:tgtEl>
                                        <p:attrNameLst>
                                          <p:attrName>style.visibility</p:attrName>
                                        </p:attrNameLst>
                                      </p:cBhvr>
                                      <p:to>
                                        <p:strVal val="visible"/>
                                      </p:to>
                                    </p:set>
                                    <p:animEffect transition="in" filter="fade">
                                      <p:cBhvr>
                                        <p:cTn id="50" dur="1000"/>
                                        <p:tgtEl>
                                          <p:spTgt spid="4">
                                            <p:txEl>
                                              <p:pRg st="7" end="7"/>
                                            </p:txEl>
                                          </p:spTgt>
                                        </p:tgtEl>
                                      </p:cBhvr>
                                    </p:animEffect>
                                    <p:anim calcmode="lin" valueType="num">
                                      <p:cBhvr>
                                        <p:cTn id="5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Auto Insurance coverage includes:</a:t>
            </a:r>
          </a:p>
          <a:p>
            <a:r>
              <a:rPr lang="en-US" dirty="0"/>
              <a:t>Liability Coverage</a:t>
            </a:r>
          </a:p>
          <a:p>
            <a:r>
              <a:rPr lang="en-US" dirty="0"/>
              <a:t>Collison Coverage</a:t>
            </a:r>
          </a:p>
          <a:p>
            <a:r>
              <a:rPr lang="en-US" dirty="0"/>
              <a:t>Comprehensive Coverage</a:t>
            </a:r>
          </a:p>
          <a:p>
            <a:r>
              <a:rPr lang="en-US" b="1" dirty="0"/>
              <a:t>Liability Coverage</a:t>
            </a:r>
            <a:r>
              <a:rPr lang="en-US" dirty="0"/>
              <a:t> is the coverage required by almost all U.S states. It is the insurance guarding against damage or loss that the policyholder may cause another person in the form of bodily injury or property damage. Liability Coverage includes:</a:t>
            </a:r>
          </a:p>
          <a:p>
            <a:r>
              <a:rPr lang="en-US" dirty="0"/>
              <a:t>Bodily Injury Liability</a:t>
            </a:r>
          </a:p>
          <a:p>
            <a:r>
              <a:rPr lang="en-US" dirty="0"/>
              <a:t>Property Damage Liability</a:t>
            </a:r>
          </a:p>
          <a:p>
            <a:endParaRPr lang="en-US" dirty="0"/>
          </a:p>
        </p:txBody>
      </p:sp>
      <p:sp>
        <p:nvSpPr>
          <p:cNvPr id="3" name="Title 2"/>
          <p:cNvSpPr>
            <a:spLocks noGrp="1"/>
          </p:cNvSpPr>
          <p:nvPr>
            <p:ph type="title"/>
          </p:nvPr>
        </p:nvSpPr>
        <p:spPr/>
        <p:txBody>
          <a:bodyPr/>
          <a:lstStyle/>
          <a:p>
            <a:r>
              <a:rPr lang="en-US" dirty="0"/>
              <a:t>Definitions / terms       7</a:t>
            </a:r>
          </a:p>
        </p:txBody>
      </p:sp>
    </p:spTree>
    <p:extLst>
      <p:ext uri="{BB962C8B-B14F-4D97-AF65-F5344CB8AC3E}">
        <p14:creationId xmlns:p14="http://schemas.microsoft.com/office/powerpoint/2010/main" val="416630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a:t>Bodily Injury Liability</a:t>
            </a:r>
            <a:r>
              <a:rPr lang="en-US" dirty="0"/>
              <a:t> covers the costs of lawsuits if someone is injured or killed in an accident in which the policyholder is at fault.</a:t>
            </a:r>
          </a:p>
          <a:p>
            <a:r>
              <a:rPr lang="en-US" b="1" dirty="0"/>
              <a:t>Property Damage Liability</a:t>
            </a:r>
            <a:r>
              <a:rPr lang="en-US" dirty="0"/>
              <a:t> covers damage to other cars and property from the operation of the car of the policyholder.</a:t>
            </a:r>
          </a:p>
          <a:p>
            <a:r>
              <a:rPr lang="en-US" dirty="0"/>
              <a:t>Collision Coverage and Comprehensive Coverage is also required when one is paying for a car loan or when one is leasing a car.</a:t>
            </a:r>
          </a:p>
          <a:p>
            <a:r>
              <a:rPr lang="en-US" b="1" dirty="0"/>
              <a:t>Collison Coverage</a:t>
            </a:r>
            <a:r>
              <a:rPr lang="en-US" dirty="0"/>
              <a:t> covers the damage or loss of the car of the policyholder if the policyholder is involved in an accident.</a:t>
            </a:r>
          </a:p>
          <a:p>
            <a:r>
              <a:rPr lang="en-US" b="1" dirty="0"/>
              <a:t>Comprehensive Coverage</a:t>
            </a:r>
            <a:r>
              <a:rPr lang="en-US" dirty="0"/>
              <a:t> covers the damage or loss of the car due to perils such as fire, falling objects, theft, collision with an animal and acts of nature. </a:t>
            </a:r>
          </a:p>
        </p:txBody>
      </p:sp>
      <p:sp>
        <p:nvSpPr>
          <p:cNvPr id="4" name="Title 3"/>
          <p:cNvSpPr>
            <a:spLocks noGrp="1"/>
          </p:cNvSpPr>
          <p:nvPr>
            <p:ph type="title"/>
          </p:nvPr>
        </p:nvSpPr>
        <p:spPr/>
        <p:txBody>
          <a:bodyPr/>
          <a:lstStyle/>
          <a:p>
            <a:r>
              <a:rPr lang="en-US" dirty="0"/>
              <a:t>Definitions / terms       8</a:t>
            </a:r>
          </a:p>
        </p:txBody>
      </p:sp>
    </p:spTree>
    <p:extLst>
      <p:ext uri="{BB962C8B-B14F-4D97-AF65-F5344CB8AC3E}">
        <p14:creationId xmlns:p14="http://schemas.microsoft.com/office/powerpoint/2010/main" val="2474756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4062146024"/>
              </p:ext>
            </p:extLst>
          </p:nvPr>
        </p:nvGraphicFramePr>
        <p:xfrm>
          <a:off x="508000" y="1719261"/>
          <a:ext cx="11210926" cy="4797448"/>
        </p:xfrm>
        <a:graphic>
          <a:graphicData uri="http://schemas.openxmlformats.org/drawingml/2006/table">
            <a:tbl>
              <a:tblPr firstRow="1" bandRow="1">
                <a:tableStyleId>{5C22544A-7EE6-4342-B048-85BDC9FD1C3A}</a:tableStyleId>
              </a:tblPr>
              <a:tblGrid>
                <a:gridCol w="5605463">
                  <a:extLst>
                    <a:ext uri="{9D8B030D-6E8A-4147-A177-3AD203B41FA5}">
                      <a16:colId xmlns:a16="http://schemas.microsoft.com/office/drawing/2014/main" val="20000"/>
                    </a:ext>
                  </a:extLst>
                </a:gridCol>
                <a:gridCol w="5605463">
                  <a:extLst>
                    <a:ext uri="{9D8B030D-6E8A-4147-A177-3AD203B41FA5}">
                      <a16:colId xmlns:a16="http://schemas.microsoft.com/office/drawing/2014/main" val="20001"/>
                    </a:ext>
                  </a:extLst>
                </a:gridCol>
              </a:tblGrid>
              <a:tr h="395722">
                <a:tc>
                  <a:txBody>
                    <a:bodyPr/>
                    <a:lstStyle/>
                    <a:p>
                      <a:pPr algn="ctr"/>
                      <a:r>
                        <a:rPr lang="en-US" dirty="0"/>
                        <a:t>Buying</a:t>
                      </a:r>
                    </a:p>
                  </a:txBody>
                  <a:tcPr/>
                </a:tc>
                <a:tc>
                  <a:txBody>
                    <a:bodyPr/>
                    <a:lstStyle/>
                    <a:p>
                      <a:pPr algn="ctr"/>
                      <a:r>
                        <a:rPr lang="en-US" dirty="0"/>
                        <a:t>Leasing</a:t>
                      </a:r>
                    </a:p>
                  </a:txBody>
                  <a:tcPr/>
                </a:tc>
                <a:extLst>
                  <a:ext uri="{0D108BD9-81ED-4DB2-BD59-A6C34878D82A}">
                    <a16:rowId xmlns:a16="http://schemas.microsoft.com/office/drawing/2014/main" val="10000"/>
                  </a:ext>
                </a:extLst>
              </a:tr>
              <a:tr h="395722">
                <a:tc>
                  <a:txBody>
                    <a:bodyPr/>
                    <a:lstStyle/>
                    <a:p>
                      <a:pPr algn="l"/>
                      <a:r>
                        <a:rPr lang="en-US" dirty="0"/>
                        <a:t>A down payment is usually</a:t>
                      </a:r>
                      <a:r>
                        <a:rPr lang="en-US" baseline="0" dirty="0"/>
                        <a:t> required.</a:t>
                      </a:r>
                      <a:endParaRPr lang="en-US" dirty="0"/>
                    </a:p>
                  </a:txBody>
                  <a:tcPr/>
                </a:tc>
                <a:tc>
                  <a:txBody>
                    <a:bodyPr/>
                    <a:lstStyle/>
                    <a:p>
                      <a:pPr algn="l"/>
                      <a:r>
                        <a:rPr lang="en-US" dirty="0"/>
                        <a:t>A</a:t>
                      </a:r>
                      <a:r>
                        <a:rPr lang="en-US" baseline="0" dirty="0"/>
                        <a:t> down payment may or may not be required.</a:t>
                      </a:r>
                      <a:endParaRPr lang="en-US" dirty="0"/>
                    </a:p>
                  </a:txBody>
                  <a:tcPr/>
                </a:tc>
                <a:extLst>
                  <a:ext uri="{0D108BD9-81ED-4DB2-BD59-A6C34878D82A}">
                    <a16:rowId xmlns:a16="http://schemas.microsoft.com/office/drawing/2014/main" val="10001"/>
                  </a:ext>
                </a:extLst>
              </a:tr>
              <a:tr h="683026">
                <a:tc>
                  <a:txBody>
                    <a:bodyPr/>
                    <a:lstStyle/>
                    <a:p>
                      <a:pPr algn="l"/>
                      <a:r>
                        <a:rPr lang="en-US" dirty="0"/>
                        <a:t>Loan monthly payments are higher</a:t>
                      </a:r>
                      <a:r>
                        <a:rPr lang="en-US" baseline="0" dirty="0"/>
                        <a:t> when compared to lease monthly payments.</a:t>
                      </a:r>
                      <a:endParaRPr lang="en-US" dirty="0"/>
                    </a:p>
                  </a:txBody>
                  <a:tcPr/>
                </a:tc>
                <a:tc>
                  <a:txBody>
                    <a:bodyPr/>
                    <a:lstStyle/>
                    <a:p>
                      <a:pPr algn="l"/>
                      <a:r>
                        <a:rPr lang="en-US" dirty="0"/>
                        <a:t>Lease monthly</a:t>
                      </a:r>
                      <a:r>
                        <a:rPr lang="en-US" baseline="0" dirty="0"/>
                        <a:t> payments are lower than loan monthly payments.</a:t>
                      </a:r>
                      <a:endParaRPr lang="en-US" dirty="0"/>
                    </a:p>
                  </a:txBody>
                  <a:tcPr/>
                </a:tc>
                <a:extLst>
                  <a:ext uri="{0D108BD9-81ED-4DB2-BD59-A6C34878D82A}">
                    <a16:rowId xmlns:a16="http://schemas.microsoft.com/office/drawing/2014/main" val="10002"/>
                  </a:ext>
                </a:extLst>
              </a:tr>
              <a:tr h="395722">
                <a:tc>
                  <a:txBody>
                    <a:bodyPr/>
                    <a:lstStyle/>
                    <a:p>
                      <a:pPr algn="l"/>
                      <a:r>
                        <a:rPr lang="en-US" dirty="0"/>
                        <a:t>When you finish</a:t>
                      </a:r>
                      <a:r>
                        <a:rPr lang="en-US" baseline="0" dirty="0"/>
                        <a:t> paying for the car, you own the car.</a:t>
                      </a:r>
                      <a:endParaRPr lang="en-US" dirty="0"/>
                    </a:p>
                  </a:txBody>
                  <a:tcPr/>
                </a:tc>
                <a:tc>
                  <a:txBody>
                    <a:bodyPr/>
                    <a:lstStyle/>
                    <a:p>
                      <a:pPr algn="l"/>
                      <a:r>
                        <a:rPr lang="en-US" dirty="0"/>
                        <a:t>When the lease ends,</a:t>
                      </a:r>
                      <a:r>
                        <a:rPr lang="en-US" baseline="0" dirty="0"/>
                        <a:t> you do not own the car.</a:t>
                      </a:r>
                      <a:endParaRPr lang="en-US" dirty="0"/>
                    </a:p>
                  </a:txBody>
                  <a:tcPr/>
                </a:tc>
                <a:extLst>
                  <a:ext uri="{0D108BD9-81ED-4DB2-BD59-A6C34878D82A}">
                    <a16:rowId xmlns:a16="http://schemas.microsoft.com/office/drawing/2014/main" val="10003"/>
                  </a:ext>
                </a:extLst>
              </a:tr>
              <a:tr h="1268478">
                <a:tc>
                  <a:txBody>
                    <a:bodyPr/>
                    <a:lstStyle/>
                    <a:p>
                      <a:pPr algn="l"/>
                      <a:r>
                        <a:rPr lang="en-US" dirty="0"/>
                        <a:t>There</a:t>
                      </a:r>
                      <a:r>
                        <a:rPr lang="en-US" baseline="0" dirty="0"/>
                        <a:t> is no limit on the mileage you put on the car because you are buying it.</a:t>
                      </a:r>
                      <a:endParaRPr lang="en-US" dirty="0"/>
                    </a:p>
                  </a:txBody>
                  <a:tcPr/>
                </a:tc>
                <a:tc>
                  <a:txBody>
                    <a:bodyPr/>
                    <a:lstStyle/>
                    <a:p>
                      <a:pPr algn="l"/>
                      <a:r>
                        <a:rPr lang="en-US" dirty="0"/>
                        <a:t>There is</a:t>
                      </a:r>
                      <a:r>
                        <a:rPr lang="en-US" baseline="0" dirty="0"/>
                        <a:t> a mileage limit (usually 12000 – 15000 per year) when you lease the car. If you exceed the number of miles allowed, you pay for excess mileage.</a:t>
                      </a:r>
                      <a:endParaRPr lang="en-US" dirty="0"/>
                    </a:p>
                  </a:txBody>
                  <a:tcPr/>
                </a:tc>
                <a:extLst>
                  <a:ext uri="{0D108BD9-81ED-4DB2-BD59-A6C34878D82A}">
                    <a16:rowId xmlns:a16="http://schemas.microsoft.com/office/drawing/2014/main" val="10004"/>
                  </a:ext>
                </a:extLst>
              </a:tr>
              <a:tr h="975752">
                <a:tc>
                  <a:txBody>
                    <a:bodyPr/>
                    <a:lstStyle/>
                    <a:p>
                      <a:pPr algn="l"/>
                      <a:r>
                        <a:rPr lang="en-US" dirty="0"/>
                        <a:t>Sometimes, refinancing your</a:t>
                      </a:r>
                      <a:r>
                        <a:rPr lang="en-US" baseline="0" dirty="0"/>
                        <a:t> car can reduce your monthly payments and lower the overall cost of your car. But, you are responsible to pay off the old loan.</a:t>
                      </a:r>
                      <a:endParaRPr lang="en-US" dirty="0"/>
                    </a:p>
                  </a:txBody>
                  <a:tcPr/>
                </a:tc>
                <a:tc>
                  <a:txBody>
                    <a:bodyPr/>
                    <a:lstStyle/>
                    <a:p>
                      <a:pPr algn="l"/>
                      <a:r>
                        <a:rPr lang="en-US" dirty="0"/>
                        <a:t>There are penalties</a:t>
                      </a:r>
                      <a:r>
                        <a:rPr lang="en-US" baseline="0" dirty="0"/>
                        <a:t> when you end your lease early.</a:t>
                      </a:r>
                      <a:endParaRPr lang="en-US" dirty="0"/>
                    </a:p>
                  </a:txBody>
                  <a:tcPr/>
                </a:tc>
                <a:extLst>
                  <a:ext uri="{0D108BD9-81ED-4DB2-BD59-A6C34878D82A}">
                    <a16:rowId xmlns:a16="http://schemas.microsoft.com/office/drawing/2014/main" val="10005"/>
                  </a:ext>
                </a:extLst>
              </a:tr>
              <a:tr h="683026">
                <a:tc>
                  <a:txBody>
                    <a:bodyPr/>
                    <a:lstStyle/>
                    <a:p>
                      <a:pPr algn="l"/>
                      <a:r>
                        <a:rPr lang="en-US" dirty="0"/>
                        <a:t>You, the buyer has the risk of your</a:t>
                      </a:r>
                      <a:r>
                        <a:rPr lang="en-US" baseline="0" dirty="0"/>
                        <a:t> car’s market value when you trade or sell it.</a:t>
                      </a:r>
                      <a:endParaRPr lang="en-US" dirty="0"/>
                    </a:p>
                  </a:txBody>
                  <a:tcPr/>
                </a:tc>
                <a:tc>
                  <a:txBody>
                    <a:bodyPr/>
                    <a:lstStyle/>
                    <a:p>
                      <a:pPr algn="l"/>
                      <a:r>
                        <a:rPr lang="en-US" dirty="0"/>
                        <a:t>You,</a:t>
                      </a:r>
                      <a:r>
                        <a:rPr lang="en-US" baseline="0" dirty="0"/>
                        <a:t> the lessor has the risk of the future market value of the car.</a:t>
                      </a:r>
                      <a:endParaRPr lang="en-US" dirty="0"/>
                    </a:p>
                  </a:txBody>
                  <a:tcPr/>
                </a:tc>
                <a:extLst>
                  <a:ext uri="{0D108BD9-81ED-4DB2-BD59-A6C34878D82A}">
                    <a16:rowId xmlns:a16="http://schemas.microsoft.com/office/drawing/2014/main" val="10006"/>
                  </a:ext>
                </a:extLst>
              </a:tr>
            </a:tbl>
          </a:graphicData>
        </a:graphic>
      </p:graphicFrame>
      <p:sp>
        <p:nvSpPr>
          <p:cNvPr id="4" name="Title 3"/>
          <p:cNvSpPr>
            <a:spLocks noGrp="1"/>
          </p:cNvSpPr>
          <p:nvPr>
            <p:ph type="title"/>
          </p:nvPr>
        </p:nvSpPr>
        <p:spPr/>
        <p:txBody>
          <a:bodyPr/>
          <a:lstStyle/>
          <a:p>
            <a:r>
              <a:rPr lang="en-US" dirty="0"/>
              <a:t>Buying versus leasing</a:t>
            </a:r>
          </a:p>
        </p:txBody>
      </p:sp>
    </p:spTree>
    <p:extLst>
      <p:ext uri="{BB962C8B-B14F-4D97-AF65-F5344CB8AC3E}">
        <p14:creationId xmlns:p14="http://schemas.microsoft.com/office/powerpoint/2010/main" val="2206165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7999" y="1719070"/>
            <a:ext cx="11210524" cy="4655971"/>
          </a:xfrm>
        </p:spPr>
        <p:txBody>
          <a:bodyPr>
            <a:normAutofit/>
          </a:bodyPr>
          <a:lstStyle/>
          <a:p>
            <a:r>
              <a:rPr lang="en-US" dirty="0"/>
              <a:t>Enroll in a driving school. Take a mature driver course. Test and get your driver license.</a:t>
            </a:r>
          </a:p>
          <a:p>
            <a:r>
              <a:rPr lang="en-US" dirty="0"/>
              <a:t>Obey traffic regulations including child passenger safety among others.</a:t>
            </a:r>
          </a:p>
          <a:p>
            <a:r>
              <a:rPr lang="en-US" dirty="0"/>
              <a:t>Click It or Tick-et! Always wear your seat / safety belt when you get in your car.</a:t>
            </a:r>
          </a:p>
          <a:p>
            <a:r>
              <a:rPr lang="en-US" dirty="0"/>
              <a:t>If you must drive, don’t drink. If you must drink, don’t drive.</a:t>
            </a:r>
          </a:p>
          <a:p>
            <a:r>
              <a:rPr lang="en-US" dirty="0"/>
              <a:t>Avoid road rage. Stop aggressive driving.</a:t>
            </a:r>
          </a:p>
          <a:p>
            <a:r>
              <a:rPr lang="en-US" dirty="0"/>
              <a:t>Better be late than the late. Stop speeding.</a:t>
            </a:r>
          </a:p>
          <a:p>
            <a:r>
              <a:rPr lang="en-US" dirty="0"/>
              <a:t>Everyone is a pedestrian…and the tips continue</a:t>
            </a:r>
          </a:p>
        </p:txBody>
      </p:sp>
      <p:sp>
        <p:nvSpPr>
          <p:cNvPr id="4" name="Title 3"/>
          <p:cNvSpPr>
            <a:spLocks noGrp="1"/>
          </p:cNvSpPr>
          <p:nvPr>
            <p:ph type="title"/>
          </p:nvPr>
        </p:nvSpPr>
        <p:spPr/>
        <p:txBody>
          <a:bodyPr/>
          <a:lstStyle/>
          <a:p>
            <a:r>
              <a:rPr lang="en-US" dirty="0"/>
              <a:t>Driving safety tips</a:t>
            </a:r>
          </a:p>
        </p:txBody>
      </p:sp>
    </p:spTree>
    <p:extLst>
      <p:ext uri="{BB962C8B-B14F-4D97-AF65-F5344CB8AC3E}">
        <p14:creationId xmlns:p14="http://schemas.microsoft.com/office/powerpoint/2010/main" val="33257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1"/>
                <a:ext cx="11210524" cy="4668850"/>
              </a:xfrm>
            </p:spPr>
            <p:txBody>
              <a:bodyPr>
                <a:normAutofit lnSpcReduction="10000"/>
              </a:bodyPr>
              <a:lstStyle/>
              <a:p>
                <a:r>
                  <a:rPr lang="en-US" b="1" u="sng" dirty="0"/>
                  <a:t>Amortization Formula</a:t>
                </a:r>
              </a:p>
              <a:p>
                <a14:m>
                  <m:oMath xmlns:m="http://schemas.openxmlformats.org/officeDocument/2006/math">
                    <m:r>
                      <a:rPr lang="en-US" sz="2800" b="0" i="1" smtClean="0">
                        <a:latin typeface="Cambria Math" panose="02040503050406030204" pitchFamily="18" charset="0"/>
                      </a:rPr>
                      <m:t>𝑃𝑀𝑇</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𝑃𝑉</m:t>
                        </m:r>
                      </m:num>
                      <m:den>
                        <m:r>
                          <a:rPr lang="en-US" sz="2800" b="0" i="1" smtClean="0">
                            <a:latin typeface="Cambria Math" panose="02040503050406030204" pitchFamily="18" charset="0"/>
                          </a:rPr>
                          <m:t>𝑚</m:t>
                        </m:r>
                      </m:den>
                    </m:f>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𝑟</m:t>
                        </m:r>
                      </m:num>
                      <m:den>
                        <m:r>
                          <a:rPr lang="en-US" sz="2800" b="0" i="1" smtClean="0">
                            <a:latin typeface="Cambria Math" panose="02040503050406030204" pitchFamily="18" charset="0"/>
                          </a:rPr>
                          <m:t>1−</m:t>
                        </m:r>
                        <m:sSup>
                          <m:sSupPr>
                            <m:ctrlPr>
                              <a:rPr lang="en-US" sz="2800" b="0" i="1" smtClean="0">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f>
                                  <m:fPr>
                                    <m:ctrlPr>
                                      <a:rPr lang="en-US" sz="2800" i="1">
                                        <a:latin typeface="Cambria Math" panose="02040503050406030204" pitchFamily="18" charset="0"/>
                                      </a:rPr>
                                    </m:ctrlPr>
                                  </m:fPr>
                                  <m:num>
                                    <m:r>
                                      <a:rPr lang="en-US" sz="2800" i="1">
                                        <a:latin typeface="Cambria Math" panose="02040503050406030204" pitchFamily="18" charset="0"/>
                                      </a:rPr>
                                      <m:t>𝑟</m:t>
                                    </m:r>
                                  </m:num>
                                  <m:den>
                                    <m:r>
                                      <a:rPr lang="en-US" sz="2800" i="1">
                                        <a:latin typeface="Cambria Math" panose="02040503050406030204" pitchFamily="18" charset="0"/>
                                      </a:rPr>
                                      <m:t>𝑚</m:t>
                                    </m:r>
                                  </m:den>
                                </m:f>
                              </m:e>
                            </m:d>
                          </m:e>
                          <m:sup>
                            <m:r>
                              <a:rPr lang="en-US" sz="2800" b="0" i="1" smtClean="0">
                                <a:latin typeface="Cambria Math" panose="02040503050406030204" pitchFamily="18" charset="0"/>
                              </a:rPr>
                              <m:t>−</m:t>
                            </m:r>
                            <m:r>
                              <a:rPr lang="en-US" sz="2800" b="0" i="1" smtClean="0">
                                <a:latin typeface="Cambria Math" panose="02040503050406030204" pitchFamily="18" charset="0"/>
                              </a:rPr>
                              <m:t>𝑚𝑡</m:t>
                            </m:r>
                          </m:sup>
                        </m:sSup>
                      </m:den>
                    </m:f>
                    <m:r>
                      <a:rPr lang="en-US" sz="2800" b="0" i="1" smtClean="0">
                        <a:latin typeface="Cambria Math" panose="02040503050406030204" pitchFamily="18" charset="0"/>
                      </a:rPr>
                      <m:t>]</m:t>
                    </m:r>
                  </m:oMath>
                </a14:m>
                <a:r>
                  <a:rPr lang="en-US" sz="2800" dirty="0"/>
                  <a:t>	1</a:t>
                </a:r>
                <a:r>
                  <a:rPr lang="en-US" sz="2800" baseline="30000" dirty="0"/>
                  <a:t>st</a:t>
                </a:r>
                <a:r>
                  <a:rPr lang="en-US" sz="2800" dirty="0"/>
                  <a:t> Formula</a:t>
                </a:r>
              </a:p>
              <a:p>
                <a:pPr marL="45720" indent="0">
                  <a:buNone/>
                </a:pPr>
                <a:endParaRPr lang="en-US" sz="2800" dirty="0"/>
              </a:p>
              <a:p>
                <a14:m>
                  <m:oMath xmlns:m="http://schemas.openxmlformats.org/officeDocument/2006/math">
                    <m:r>
                      <a:rPr lang="en-US" sz="2800" i="1">
                        <a:latin typeface="Cambria Math" panose="02040503050406030204" pitchFamily="18" charset="0"/>
                      </a:rPr>
                      <m:t>𝑃𝑀𝑇</m:t>
                    </m:r>
                    <m:r>
                      <a:rPr lang="en-US" sz="2800" i="1">
                        <a:latin typeface="Cambria Math" panose="02040503050406030204" pitchFamily="18" charset="0"/>
                      </a:rPr>
                      <m:t>=</m:t>
                    </m:r>
                    <m:r>
                      <a:rPr lang="en-US" sz="2800" b="0" i="1" smtClean="0">
                        <a:latin typeface="Cambria Math" panose="02040503050406030204" pitchFamily="18" charset="0"/>
                      </a:rPr>
                      <m:t>𝑃𝑉</m:t>
                    </m:r>
                    <m:r>
                      <a:rPr lang="en-US" sz="2800" i="1">
                        <a:latin typeface="Cambria Math" panose="02040503050406030204" pitchFamily="18" charset="0"/>
                      </a:rPr>
                      <m:t>∗</m:t>
                    </m:r>
                    <m:r>
                      <a:rPr lang="en-US" sz="2800" b="0" i="1" smtClean="0">
                        <a:latin typeface="Cambria Math" panose="02040503050406030204" pitchFamily="18" charset="0"/>
                      </a:rPr>
                      <m:t>[</m:t>
                    </m:r>
                    <m:f>
                      <m:fPr>
                        <m:ctrlPr>
                          <a:rPr lang="en-US" sz="2800" i="1">
                            <a:latin typeface="Cambria Math" panose="02040503050406030204" pitchFamily="18" charset="0"/>
                          </a:rPr>
                        </m:ctrlPr>
                      </m:fPr>
                      <m:num>
                        <m:r>
                          <a:rPr lang="en-US" sz="2800" b="0" i="1" smtClean="0">
                            <a:latin typeface="Cambria Math" panose="02040503050406030204" pitchFamily="18" charset="0"/>
                          </a:rPr>
                          <m:t>𝑖</m:t>
                        </m:r>
                      </m:num>
                      <m:den>
                        <m:r>
                          <a:rPr lang="en-US" sz="2800" i="1">
                            <a:latin typeface="Cambria Math" panose="02040503050406030204" pitchFamily="18" charset="0"/>
                          </a:rPr>
                          <m:t>1−</m:t>
                        </m:r>
                        <m:sSup>
                          <m:sSupPr>
                            <m:ctrlPr>
                              <a:rPr lang="en-US" sz="2800" i="1">
                                <a:latin typeface="Cambria Math" panose="02040503050406030204" pitchFamily="18" charset="0"/>
                              </a:rPr>
                            </m:ctrlPr>
                          </m:sSupPr>
                          <m:e>
                            <m:d>
                              <m:dPr>
                                <m:ctrlPr>
                                  <a:rPr lang="en-US" sz="2800" i="1">
                                    <a:latin typeface="Cambria Math" panose="02040503050406030204" pitchFamily="18" charset="0"/>
                                  </a:rPr>
                                </m:ctrlPr>
                              </m:dPr>
                              <m:e>
                                <m:r>
                                  <a:rPr lang="en-US" sz="2800" i="1">
                                    <a:latin typeface="Cambria Math" panose="02040503050406030204" pitchFamily="18" charset="0"/>
                                  </a:rPr>
                                  <m:t>1+</m:t>
                                </m:r>
                                <m:r>
                                  <a:rPr lang="en-US" sz="2800" b="0" i="1" smtClean="0">
                                    <a:latin typeface="Cambria Math" panose="02040503050406030204" pitchFamily="18" charset="0"/>
                                  </a:rPr>
                                  <m:t>𝑖</m:t>
                                </m:r>
                              </m:e>
                            </m:d>
                          </m:e>
                          <m:sup>
                            <m:r>
                              <a:rPr lang="en-US" sz="2800" i="1">
                                <a:latin typeface="Cambria Math" panose="02040503050406030204" pitchFamily="18" charset="0"/>
                              </a:rPr>
                              <m:t>−</m:t>
                            </m:r>
                            <m:r>
                              <a:rPr lang="en-US" sz="2800" b="0" i="1" smtClean="0">
                                <a:latin typeface="Cambria Math" panose="02040503050406030204" pitchFamily="18" charset="0"/>
                              </a:rPr>
                              <m:t>𝑛</m:t>
                            </m:r>
                          </m:sup>
                        </m:sSup>
                      </m:den>
                    </m:f>
                    <m:r>
                      <a:rPr lang="en-US" sz="2800" b="0" i="1" smtClean="0">
                        <a:latin typeface="Cambria Math" panose="02040503050406030204" pitchFamily="18" charset="0"/>
                      </a:rPr>
                      <m:t>]</m:t>
                    </m:r>
                  </m:oMath>
                </a14:m>
                <a:r>
                  <a:rPr lang="en-US" sz="2800" dirty="0"/>
                  <a:t>		2</a:t>
                </a:r>
                <a:r>
                  <a:rPr lang="en-US" sz="2800" baseline="30000" dirty="0"/>
                  <a:t>nd</a:t>
                </a:r>
                <a:r>
                  <a:rPr lang="en-US" sz="2800" dirty="0"/>
                  <a:t> Formula</a:t>
                </a:r>
              </a:p>
              <a:p>
                <a:endParaRPr lang="en-US" dirty="0"/>
              </a:p>
              <a:p>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𝑟</m:t>
                        </m:r>
                      </m:num>
                      <m:den>
                        <m:r>
                          <a:rPr lang="en-US" b="0" i="1" smtClean="0">
                            <a:latin typeface="Cambria Math" panose="02040503050406030204" pitchFamily="18" charset="0"/>
                          </a:rPr>
                          <m:t>𝑚</m:t>
                        </m:r>
                      </m:den>
                    </m:f>
                  </m:oMath>
                </a14:m>
                <a:endParaRPr lang="en-US" b="0" dirty="0"/>
              </a:p>
              <a:p>
                <a:endParaRPr lang="en-US" dirty="0"/>
              </a:p>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𝑚𝑡</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1"/>
                <a:ext cx="11210524" cy="4668850"/>
              </a:xfrm>
              <a:blipFill rotWithShape="0">
                <a:blip r:embed="rId2"/>
                <a:stretch>
                  <a:fillRect l="-218" t="-1697"/>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Formulas       1</a:t>
            </a:r>
          </a:p>
        </p:txBody>
      </p:sp>
    </p:spTree>
    <p:extLst>
      <p:ext uri="{BB962C8B-B14F-4D97-AF65-F5344CB8AC3E}">
        <p14:creationId xmlns:p14="http://schemas.microsoft.com/office/powerpoint/2010/main" val="462363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87132"/>
                <a:ext cx="11210524" cy="4893972"/>
              </a:xfrm>
            </p:spPr>
            <p:txBody>
              <a:bodyPr>
                <a:normAutofit lnSpcReduction="10000"/>
              </a:bodyPr>
              <a:lstStyle/>
              <a:p>
                <a14:m>
                  <m:oMath xmlns:m="http://schemas.openxmlformats.org/officeDocument/2006/math">
                    <m:r>
                      <a:rPr lang="en-US" b="0" i="1" dirty="0" smtClean="0">
                        <a:latin typeface="Cambria Math" panose="02040503050406030204" pitchFamily="18" charset="0"/>
                      </a:rPr>
                      <m:t>𝑃𝑀𝑇</m:t>
                    </m:r>
                    <m:r>
                      <a:rPr lang="en-US" b="0" i="1" dirty="0" smtClean="0">
                        <a:latin typeface="Cambria Math" panose="02040503050406030204" pitchFamily="18" charset="0"/>
                      </a:rPr>
                      <m:t>=</m:t>
                    </m:r>
                    <m:r>
                      <a:rPr lang="en-US" b="0" i="1" dirty="0" smtClean="0">
                        <a:latin typeface="Cambria Math" panose="02040503050406030204" pitchFamily="18" charset="0"/>
                      </a:rPr>
                      <m:t>𝑝𝑒𝑟𝑖𝑜𝑑𝑖𝑐</m:t>
                    </m:r>
                    <m:r>
                      <a:rPr lang="en-US" b="0" i="1" dirty="0" smtClean="0">
                        <a:latin typeface="Cambria Math" panose="02040503050406030204" pitchFamily="18" charset="0"/>
                      </a:rPr>
                      <m:t> </m:t>
                    </m:r>
                    <m:r>
                      <a:rPr lang="en-US" b="0" i="1" dirty="0" smtClean="0">
                        <a:latin typeface="Cambria Math" panose="02040503050406030204" pitchFamily="18" charset="0"/>
                      </a:rPr>
                      <m:t>𝑝𝑎𝑦𝑚𝑒𝑛𝑡</m:t>
                    </m:r>
                    <m:r>
                      <a:rPr lang="en-US" b="0" i="1" dirty="0" smtClean="0">
                        <a:latin typeface="Cambria Math" panose="02040503050406030204" pitchFamily="18" charset="0"/>
                      </a:rPr>
                      <m:t> ($)</m:t>
                    </m:r>
                  </m:oMath>
                </a14:m>
                <a:endParaRPr lang="en-US" b="0" i="1" dirty="0">
                  <a:latin typeface="Cambria Math" panose="02040503050406030204" pitchFamily="18" charset="0"/>
                </a:endParaRPr>
              </a:p>
              <a:p>
                <a14:m>
                  <m:oMath xmlns:m="http://schemas.openxmlformats.org/officeDocument/2006/math">
                    <m:r>
                      <a:rPr lang="en-US" b="0" i="1" smtClean="0">
                        <a:latin typeface="Cambria Math" panose="02040503050406030204" pitchFamily="18" charset="0"/>
                      </a:rPr>
                      <m:t>𝑃𝑉</m:t>
                    </m:r>
                    <m:r>
                      <a:rPr lang="en-US" b="0" i="1" smtClean="0">
                        <a:latin typeface="Cambria Math" panose="02040503050406030204" pitchFamily="18" charset="0"/>
                      </a:rPr>
                      <m:t>=</m:t>
                    </m:r>
                    <m:r>
                      <a:rPr lang="en-US" b="0" i="1" smtClean="0">
                        <a:latin typeface="Cambria Math" panose="02040503050406030204" pitchFamily="18" charset="0"/>
                      </a:rPr>
                      <m:t>𝑝𝑟𝑒𝑠𝑒𝑛𝑡</m:t>
                    </m:r>
                    <m:r>
                      <a:rPr lang="en-US" b="0" i="1" smtClean="0">
                        <a:latin typeface="Cambria Math" panose="02040503050406030204" pitchFamily="18" charset="0"/>
                      </a:rPr>
                      <m:t> </m:t>
                    </m:r>
                    <m:r>
                      <a:rPr lang="en-US" b="0" i="1" smtClean="0">
                        <a:latin typeface="Cambria Math" panose="02040503050406030204" pitchFamily="18" charset="0"/>
                      </a:rPr>
                      <m:t>𝑣𝑎𝑙𝑢𝑒</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𝑝𝑎𝑦𝑚𝑒𝑛𝑡𝑠</m:t>
                    </m:r>
                    <m:r>
                      <a:rPr lang="en-US" b="0" i="1" smtClean="0">
                        <a:latin typeface="Cambria Math" panose="02040503050406030204" pitchFamily="18" charset="0"/>
                      </a:rPr>
                      <m:t> ($)</m:t>
                    </m:r>
                  </m:oMath>
                </a14:m>
                <a:endParaRPr lang="en-US" dirty="0"/>
              </a:p>
              <a:p>
                <a14:m>
                  <m:oMath xmlns:m="http://schemas.openxmlformats.org/officeDocument/2006/math">
                    <m:r>
                      <a:rPr lang="en-US" b="0" i="1" smtClean="0">
                        <a:latin typeface="Cambria Math" panose="02040503050406030204" pitchFamily="18" charset="0"/>
                      </a:rPr>
                      <m:t>𝑟</m:t>
                    </m:r>
                    <m:r>
                      <a:rPr lang="en-US" b="0" i="1" smtClean="0">
                        <a:latin typeface="Cambria Math" panose="02040503050406030204" pitchFamily="18" charset="0"/>
                      </a:rPr>
                      <m:t>=</m:t>
                    </m:r>
                    <m:r>
                      <a:rPr lang="en-US" b="0" i="1" smtClean="0">
                        <a:latin typeface="Cambria Math" panose="02040503050406030204" pitchFamily="18" charset="0"/>
                      </a:rPr>
                      <m:t>𝑎𝑛𝑛𝑢𝑎𝑙</m:t>
                    </m:r>
                    <m:r>
                      <a:rPr lang="en-US" b="0" i="1" smtClean="0">
                        <a:latin typeface="Cambria Math" panose="02040503050406030204" pitchFamily="18" charset="0"/>
                      </a:rPr>
                      <m:t> </m:t>
                    </m:r>
                    <m:r>
                      <a:rPr lang="en-US" b="0" i="1" smtClean="0">
                        <a:latin typeface="Cambria Math" panose="02040503050406030204" pitchFamily="18" charset="0"/>
                      </a:rPr>
                      <m:t>𝑖𝑛𝑡𝑒𝑟𝑒𝑠𝑡</m:t>
                    </m:r>
                    <m:r>
                      <a:rPr lang="en-US" b="0" i="1" smtClean="0">
                        <a:latin typeface="Cambria Math" panose="02040503050406030204" pitchFamily="18" charset="0"/>
                      </a:rPr>
                      <m:t> </m:t>
                    </m:r>
                    <m:r>
                      <a:rPr lang="en-US" b="0" i="1" smtClean="0">
                        <a:latin typeface="Cambria Math" panose="02040503050406030204" pitchFamily="18" charset="0"/>
                      </a:rPr>
                      <m:t>𝑟𝑎𝑡𝑒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endParaRPr lang="en-US" b="0" dirty="0"/>
              </a:p>
              <a:p>
                <a14:m>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𝑐𝑜𝑚𝑝𝑜𝑢𝑛𝑑𝑖𝑛𝑔</m:t>
                    </m:r>
                    <m:r>
                      <a:rPr lang="en-US" b="0" i="1" smtClean="0">
                        <a:latin typeface="Cambria Math" panose="02040503050406030204" pitchFamily="18" charset="0"/>
                      </a:rPr>
                      <m:t> </m:t>
                    </m:r>
                    <m:r>
                      <a:rPr lang="en-US" b="0" i="1" smtClean="0">
                        <a:latin typeface="Cambria Math" panose="02040503050406030204" pitchFamily="18" charset="0"/>
                      </a:rPr>
                      <m:t>𝑝𝑒𝑟𝑖𝑜𝑑𝑠</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𝑦𝑒𝑎𝑟</m:t>
                    </m:r>
                  </m:oMath>
                </a14:m>
                <a:endParaRPr lang="en-US" b="0" dirty="0"/>
              </a:p>
              <a:p>
                <a14:m>
                  <m:oMath xmlns:m="http://schemas.openxmlformats.org/officeDocument/2006/math">
                    <m:r>
                      <a:rPr lang="en-US" b="0" i="1" smtClean="0">
                        <a:latin typeface="Cambria Math" panose="02040503050406030204" pitchFamily="18" charset="0"/>
                      </a:rPr>
                      <m:t>𝑡</m:t>
                    </m:r>
                    <m:r>
                      <a:rPr lang="en-US" b="0" i="1" smtClean="0">
                        <a:latin typeface="Cambria Math" panose="02040503050406030204" pitchFamily="18" charset="0"/>
                      </a:rPr>
                      <m:t>=</m:t>
                    </m:r>
                    <m:r>
                      <a:rPr lang="en-US" b="0" i="1" smtClean="0">
                        <a:latin typeface="Cambria Math" panose="02040503050406030204" pitchFamily="18" charset="0"/>
                      </a:rPr>
                      <m:t>𝑡𝑖𝑚𝑒</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𝑦𝑒𝑎𝑟𝑠</m:t>
                        </m:r>
                      </m:e>
                    </m:d>
                  </m:oMath>
                </a14:m>
                <a:endParaRPr lang="en-US" b="0" dirty="0"/>
              </a:p>
              <a:p>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𝑟𝑎𝑡𝑒</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𝑝𝑒𝑟𝑖𝑜𝑑</m:t>
                    </m:r>
                  </m:oMath>
                </a14:m>
                <a:endParaRPr lang="en-US" b="0" dirty="0"/>
              </a:p>
              <a:p>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f>
                      <m:fPr>
                        <m:ctrlPr>
                          <a:rPr lang="en-US" b="0" i="1" smtClean="0">
                            <a:latin typeface="Cambria Math" panose="02040503050406030204" pitchFamily="18" charset="0"/>
                          </a:rPr>
                        </m:ctrlPr>
                      </m:fPr>
                      <m:num>
                        <m:r>
                          <a:rPr lang="en-US" b="0" i="1" smtClean="0">
                            <a:latin typeface="Cambria Math" panose="02040503050406030204" pitchFamily="18" charset="0"/>
                          </a:rPr>
                          <m:t>𝑝𝑎𝑦𝑚𝑒𝑛𝑡𝑠</m:t>
                        </m:r>
                      </m:num>
                      <m:den>
                        <m:r>
                          <a:rPr lang="en-US" b="0" i="1" smtClean="0">
                            <a:latin typeface="Cambria Math" panose="02040503050406030204" pitchFamily="18" charset="0"/>
                          </a:rPr>
                          <m:t>𝑝𝑒𝑟𝑖𝑜𝑑𝑠</m:t>
                        </m:r>
                      </m:den>
                    </m:f>
                  </m:oMath>
                </a14:m>
                <a:endParaRPr lang="en-US" b="0" dirty="0"/>
              </a:p>
              <a:p>
                <a:pPr marL="45720" indent="0">
                  <a:buNone/>
                </a:pPr>
                <a:endParaRPr lang="en-US" dirty="0"/>
              </a:p>
              <a:p>
                <a:r>
                  <a:rPr lang="en-US" b="1" u="sng" dirty="0"/>
                  <a:t>The Cost of Gasoline</a:t>
                </a:r>
              </a:p>
              <a:p>
                <a14:m>
                  <m:oMath xmlns:m="http://schemas.openxmlformats.org/officeDocument/2006/math">
                    <m:r>
                      <a:rPr lang="en-US" sz="2800" b="0" i="1" smtClean="0">
                        <a:latin typeface="Cambria Math" panose="02040503050406030204" pitchFamily="18" charset="0"/>
                      </a:rPr>
                      <m:t>𝐴𝑛𝑛𝑢𝑎𝑙</m:t>
                    </m:r>
                    <m:r>
                      <a:rPr lang="en-US" sz="2800" b="0" i="1" smtClean="0">
                        <a:latin typeface="Cambria Math" panose="02040503050406030204" pitchFamily="18" charset="0"/>
                      </a:rPr>
                      <m:t> </m:t>
                    </m:r>
                    <m:r>
                      <a:rPr lang="en-US" sz="2800" b="0" i="1" smtClean="0">
                        <a:latin typeface="Cambria Math" panose="02040503050406030204" pitchFamily="18" charset="0"/>
                      </a:rPr>
                      <m:t>𝐹𝑢𝑒𝑙</m:t>
                    </m:r>
                    <m:r>
                      <a:rPr lang="en-US" sz="2800" b="0" i="1" smtClean="0">
                        <a:latin typeface="Cambria Math" panose="02040503050406030204" pitchFamily="18" charset="0"/>
                      </a:rPr>
                      <m:t> </m:t>
                    </m:r>
                    <m:r>
                      <a:rPr lang="en-US" sz="2800" b="0" i="1" smtClean="0">
                        <a:latin typeface="Cambria Math" panose="02040503050406030204" pitchFamily="18" charset="0"/>
                      </a:rPr>
                      <m:t>𝐸𝑥𝑝𝑒𝑛𝑠𝑒</m:t>
                    </m:r>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𝐴𝑛𝑛𝑢𝑎𝑙</m:t>
                        </m:r>
                        <m:r>
                          <a:rPr lang="en-US" sz="2800" b="0" i="1" smtClean="0">
                            <a:latin typeface="Cambria Math" panose="02040503050406030204" pitchFamily="18" charset="0"/>
                          </a:rPr>
                          <m:t> </m:t>
                        </m:r>
                        <m:r>
                          <a:rPr lang="en-US" sz="2800" b="0" i="1" smtClean="0">
                            <a:latin typeface="Cambria Math" panose="02040503050406030204" pitchFamily="18" charset="0"/>
                          </a:rPr>
                          <m:t>𝑀𝑖𝑙𝑒𝑠</m:t>
                        </m:r>
                        <m:r>
                          <a:rPr lang="en-US" sz="2800" b="0" i="1" smtClean="0">
                            <a:latin typeface="Cambria Math" panose="02040503050406030204" pitchFamily="18" charset="0"/>
                          </a:rPr>
                          <m:t> </m:t>
                        </m:r>
                        <m:r>
                          <a:rPr lang="en-US" sz="2800" b="0" i="1" smtClean="0">
                            <a:latin typeface="Cambria Math" panose="02040503050406030204" pitchFamily="18" charset="0"/>
                          </a:rPr>
                          <m:t>𝐷𝑟𝑖𝑣𝑒𝑛</m:t>
                        </m:r>
                      </m:num>
                      <m:den>
                        <m:r>
                          <a:rPr lang="en-US" sz="2800" b="0" i="1" smtClean="0">
                            <a:latin typeface="Cambria Math" panose="02040503050406030204" pitchFamily="18" charset="0"/>
                          </a:rPr>
                          <m:t>𝑀𝑖𝑙𝑒𝑠</m:t>
                        </m:r>
                        <m:r>
                          <a:rPr lang="en-US" sz="2800" b="0" i="1" smtClean="0">
                            <a:latin typeface="Cambria Math" panose="02040503050406030204" pitchFamily="18" charset="0"/>
                          </a:rPr>
                          <m:t> </m:t>
                        </m:r>
                        <m:r>
                          <a:rPr lang="en-US" sz="2800" b="0" i="1" smtClean="0">
                            <a:latin typeface="Cambria Math" panose="02040503050406030204" pitchFamily="18" charset="0"/>
                          </a:rPr>
                          <m:t>𝑃𝑒𝑟</m:t>
                        </m:r>
                        <m:r>
                          <a:rPr lang="en-US" sz="2800" b="0" i="1" smtClean="0">
                            <a:latin typeface="Cambria Math" panose="02040503050406030204" pitchFamily="18" charset="0"/>
                          </a:rPr>
                          <m:t> </m:t>
                        </m:r>
                        <m:r>
                          <a:rPr lang="en-US" sz="2800" b="0" i="1" smtClean="0">
                            <a:latin typeface="Cambria Math" panose="02040503050406030204" pitchFamily="18" charset="0"/>
                          </a:rPr>
                          <m:t>𝐺𝑎𝑙𝑙𝑜𝑛</m:t>
                        </m:r>
                      </m:den>
                    </m:f>
                    <m:r>
                      <a:rPr lang="en-US" sz="2800" b="0" i="1" smtClean="0">
                        <a:latin typeface="Cambria Math" panose="02040503050406030204" pitchFamily="18" charset="0"/>
                      </a:rPr>
                      <m:t>∗</m:t>
                    </m:r>
                    <m:r>
                      <a:rPr lang="en-US" sz="2800" b="0" i="1" smtClean="0">
                        <a:latin typeface="Cambria Math" panose="02040503050406030204" pitchFamily="18" charset="0"/>
                      </a:rPr>
                      <m:t>𝑃𝑟𝑖𝑐𝑒</m:t>
                    </m:r>
                    <m:r>
                      <a:rPr lang="en-US" sz="2800" b="0" i="1" smtClean="0">
                        <a:latin typeface="Cambria Math" panose="02040503050406030204" pitchFamily="18" charset="0"/>
                      </a:rPr>
                      <m:t> </m:t>
                    </m:r>
                    <m:r>
                      <a:rPr lang="en-US" sz="2800" b="0" i="1" smtClean="0">
                        <a:latin typeface="Cambria Math" panose="02040503050406030204" pitchFamily="18" charset="0"/>
                      </a:rPr>
                      <m:t>𝑃𝑒𝑟</m:t>
                    </m:r>
                    <m:r>
                      <a:rPr lang="en-US" sz="2800" b="0" i="1" smtClean="0">
                        <a:latin typeface="Cambria Math" panose="02040503050406030204" pitchFamily="18" charset="0"/>
                      </a:rPr>
                      <m:t> </m:t>
                    </m:r>
                    <m:r>
                      <a:rPr lang="en-US" sz="2800" b="0" i="1" smtClean="0">
                        <a:latin typeface="Cambria Math" panose="02040503050406030204" pitchFamily="18" charset="0"/>
                      </a:rPr>
                      <m:t>𝐺𝑎𝑙𝑙𝑜𝑛</m:t>
                    </m:r>
                  </m:oMath>
                </a14:m>
                <a:endParaRPr lang="en-US" sz="2800"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87132"/>
                <a:ext cx="11210524" cy="4893972"/>
              </a:xfrm>
              <a:blipFill rotWithShape="0">
                <a:blip r:embed="rId2"/>
                <a:stretch>
                  <a:fillRect l="-218"/>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Formulas       2</a:t>
            </a:r>
          </a:p>
        </p:txBody>
      </p:sp>
    </p:spTree>
    <p:extLst>
      <p:ext uri="{BB962C8B-B14F-4D97-AF65-F5344CB8AC3E}">
        <p14:creationId xmlns:p14="http://schemas.microsoft.com/office/powerpoint/2010/main" val="1549303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1"/>
                <a:ext cx="11210524" cy="4668850"/>
              </a:xfrm>
            </p:spPr>
            <p:txBody>
              <a:bodyPr>
                <a:normAutofit lnSpcReduction="10000"/>
              </a:bodyPr>
              <a:lstStyle/>
              <a:p>
                <a:r>
                  <a:rPr lang="en-US" dirty="0"/>
                  <a:t>(1.) Peter purchased a car. The car is going to be financed for $10,000 for 48 months at an APR of 8%. </a:t>
                </a:r>
              </a:p>
              <a:p>
                <a:r>
                  <a:rPr lang="en-US" dirty="0"/>
                  <a:t>(a.) Calculate the monthly payments on the loan. </a:t>
                </a:r>
              </a:p>
              <a:p>
                <a:r>
                  <a:rPr lang="en-US" dirty="0"/>
                  <a:t>(b.) What is the total interest?</a:t>
                </a:r>
              </a:p>
              <a:p>
                <a:r>
                  <a:rPr lang="en-US" dirty="0"/>
                  <a:t>Round your answer to the nearest dollar and use the rounded answer in your calculations.</a:t>
                </a:r>
              </a:p>
              <a:p>
                <a:endParaRPr lang="en-US" dirty="0"/>
              </a:p>
              <a:p>
                <a:r>
                  <a:rPr lang="en-US" b="1" u="sng" dirty="0"/>
                  <a:t>Solution</a:t>
                </a:r>
              </a:p>
              <a:p>
                <a14:m>
                  <m:oMath xmlns:m="http://schemas.openxmlformats.org/officeDocument/2006/math">
                    <m:r>
                      <a:rPr lang="en-US" i="1" dirty="0" smtClean="0">
                        <a:latin typeface="Cambria Math" panose="02040503050406030204" pitchFamily="18" charset="0"/>
                      </a:rPr>
                      <m:t>𝑃𝑉</m:t>
                    </m:r>
                    <m:r>
                      <a:rPr lang="en-US" i="1" dirty="0" smtClean="0">
                        <a:latin typeface="Cambria Math" panose="02040503050406030204" pitchFamily="18" charset="0"/>
                      </a:rPr>
                      <m:t> = $10000; </m:t>
                    </m:r>
                    <m:r>
                      <a:rPr lang="en-US" i="1" dirty="0" smtClean="0">
                        <a:latin typeface="Cambria Math" panose="02040503050406030204" pitchFamily="18" charset="0"/>
                      </a:rPr>
                      <m:t>𝑡</m:t>
                    </m:r>
                    <m:r>
                      <a:rPr lang="en-US" i="1" dirty="0" smtClean="0">
                        <a:latin typeface="Cambria Math" panose="02040503050406030204" pitchFamily="18" charset="0"/>
                      </a:rPr>
                      <m:t> = 48 </m:t>
                    </m:r>
                    <m:r>
                      <a:rPr lang="en-US" i="1" dirty="0" smtClean="0">
                        <a:latin typeface="Cambria Math" panose="02040503050406030204" pitchFamily="18" charset="0"/>
                      </a:rPr>
                      <m:t>𝑚𝑜𝑛𝑡h𝑠</m:t>
                    </m:r>
                    <m:r>
                      <a:rPr lang="en-US" i="1" dirty="0" smtClean="0">
                        <a:latin typeface="Cambria Math" panose="02040503050406030204" pitchFamily="18" charset="0"/>
                      </a:rPr>
                      <m:t> = 4 </m:t>
                    </m:r>
                    <m:r>
                      <a:rPr lang="en-US" i="1" dirty="0" smtClean="0">
                        <a:latin typeface="Cambria Math" panose="02040503050406030204" pitchFamily="18" charset="0"/>
                      </a:rPr>
                      <m:t>𝑦𝑒𝑎𝑟𝑠</m:t>
                    </m:r>
                    <m:r>
                      <a:rPr lang="en-US" i="1" dirty="0" smtClean="0">
                        <a:latin typeface="Cambria Math" panose="02040503050406030204" pitchFamily="18" charset="0"/>
                      </a:rPr>
                      <m:t>; </m:t>
                    </m:r>
                    <m:r>
                      <a:rPr lang="en-US" i="1" dirty="0" smtClean="0">
                        <a:latin typeface="Cambria Math" panose="02040503050406030204" pitchFamily="18" charset="0"/>
                      </a:rPr>
                      <m:t>𝑟</m:t>
                    </m:r>
                    <m:r>
                      <a:rPr lang="en-US" i="1" dirty="0" smtClean="0">
                        <a:latin typeface="Cambria Math" panose="02040503050406030204" pitchFamily="18" charset="0"/>
                      </a:rPr>
                      <m:t> = 8% = 0.08; </m:t>
                    </m:r>
                    <m:r>
                      <a:rPr lang="en-US" i="1" dirty="0" smtClean="0">
                        <a:latin typeface="Cambria Math" panose="02040503050406030204" pitchFamily="18" charset="0"/>
                      </a:rPr>
                      <m:t>𝑚</m:t>
                    </m:r>
                    <m:r>
                      <a:rPr lang="en-US" i="1" dirty="0" smtClean="0">
                        <a:latin typeface="Cambria Math" panose="02040503050406030204" pitchFamily="18" charset="0"/>
                      </a:rPr>
                      <m:t> = 12</m:t>
                    </m:r>
                  </m:oMath>
                </a14:m>
                <a:endParaRPr lang="en-US" dirty="0"/>
              </a:p>
              <a:p>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1"/>
                <a:ext cx="11210524" cy="4668850"/>
              </a:xfrm>
              <a:blipFill rotWithShape="0">
                <a:blip r:embed="rId2"/>
                <a:stretch>
                  <a:fillRect l="-218" t="-1697" r="-707"/>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Question 1</a:t>
            </a:r>
          </a:p>
        </p:txBody>
      </p:sp>
    </p:spTree>
    <p:extLst>
      <p:ext uri="{BB962C8B-B14F-4D97-AF65-F5344CB8AC3E}">
        <p14:creationId xmlns:p14="http://schemas.microsoft.com/office/powerpoint/2010/main" val="1090739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0"/>
                <a:ext cx="11210524" cy="4874913"/>
              </a:xfrm>
            </p:spPr>
            <p:txBody>
              <a:bodyPr>
                <a:normAutofit/>
              </a:bodyPr>
              <a:lstStyle/>
              <a:p>
                <a14:m>
                  <m:oMath xmlns:m="http://schemas.openxmlformats.org/officeDocument/2006/math">
                    <m:r>
                      <a:rPr lang="en-US" i="1" dirty="0" smtClean="0">
                        <a:latin typeface="Cambria Math" panose="02040503050406030204" pitchFamily="18" charset="0"/>
                      </a:rPr>
                      <m:t>𝑃𝑉</m:t>
                    </m:r>
                    <m:r>
                      <a:rPr lang="en-US" i="1" dirty="0" smtClean="0">
                        <a:latin typeface="Cambria Math" panose="02040503050406030204" pitchFamily="18" charset="0"/>
                      </a:rPr>
                      <m:t> = $10000; </m:t>
                    </m:r>
                    <m:r>
                      <a:rPr lang="en-US" i="1" dirty="0" smtClean="0">
                        <a:latin typeface="Cambria Math" panose="02040503050406030204" pitchFamily="18" charset="0"/>
                      </a:rPr>
                      <m:t>𝑡</m:t>
                    </m:r>
                    <m:r>
                      <a:rPr lang="en-US" i="1" dirty="0" smtClean="0">
                        <a:latin typeface="Cambria Math" panose="02040503050406030204" pitchFamily="18" charset="0"/>
                      </a:rPr>
                      <m:t> = 48 </m:t>
                    </m:r>
                    <m:r>
                      <a:rPr lang="en-US" i="1" dirty="0" smtClean="0">
                        <a:latin typeface="Cambria Math" panose="02040503050406030204" pitchFamily="18" charset="0"/>
                      </a:rPr>
                      <m:t>𝑚𝑜𝑛𝑡h𝑠</m:t>
                    </m:r>
                    <m:r>
                      <a:rPr lang="en-US" i="1" dirty="0" smtClean="0">
                        <a:latin typeface="Cambria Math" panose="02040503050406030204" pitchFamily="18" charset="0"/>
                      </a:rPr>
                      <m:t> = 4 </m:t>
                    </m:r>
                    <m:r>
                      <a:rPr lang="en-US" i="1" dirty="0" smtClean="0">
                        <a:latin typeface="Cambria Math" panose="02040503050406030204" pitchFamily="18" charset="0"/>
                      </a:rPr>
                      <m:t>𝑦𝑒𝑎𝑟𝑠</m:t>
                    </m:r>
                    <m:r>
                      <a:rPr lang="en-US" i="1" dirty="0" smtClean="0">
                        <a:latin typeface="Cambria Math" panose="02040503050406030204" pitchFamily="18" charset="0"/>
                      </a:rPr>
                      <m:t>; </m:t>
                    </m:r>
                    <m:r>
                      <a:rPr lang="en-US" i="1" dirty="0" smtClean="0">
                        <a:latin typeface="Cambria Math" panose="02040503050406030204" pitchFamily="18" charset="0"/>
                      </a:rPr>
                      <m:t>𝑟</m:t>
                    </m:r>
                    <m:r>
                      <a:rPr lang="en-US" i="1" dirty="0" smtClean="0">
                        <a:latin typeface="Cambria Math" panose="02040503050406030204" pitchFamily="18" charset="0"/>
                      </a:rPr>
                      <m:t> = 8% = 0.08; </m:t>
                    </m:r>
                    <m:r>
                      <a:rPr lang="en-US" i="1" dirty="0" smtClean="0">
                        <a:latin typeface="Cambria Math" panose="02040503050406030204" pitchFamily="18" charset="0"/>
                      </a:rPr>
                      <m:t>𝑚</m:t>
                    </m:r>
                    <m:r>
                      <a:rPr lang="en-US" i="1" dirty="0" smtClean="0">
                        <a:latin typeface="Cambria Math" panose="02040503050406030204" pitchFamily="18" charset="0"/>
                      </a:rPr>
                      <m:t> = 12</m:t>
                    </m:r>
                  </m:oMath>
                </a14:m>
                <a:endParaRPr lang="en-US" dirty="0"/>
              </a:p>
              <a:p>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10000</m:t>
                        </m:r>
                      </m:num>
                      <m:den>
                        <m:r>
                          <a:rPr lang="en-US" sz="2800" b="0" i="1" smtClean="0">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0.08</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0.08</m:t>
                                    </m:r>
                                  </m:num>
                                  <m:den>
                                    <m:r>
                                      <a:rPr lang="en-US" sz="2800" b="0" i="1" smtClean="0">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12∗4</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10000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0.08</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0.006666666</m:t>
                                </m:r>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48</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10000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0.08</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1.006666666</m:t>
                                </m:r>
                              </m:e>
                            </m:d>
                          </m:e>
                          <m:sup>
                            <m:r>
                              <a:rPr lang="en-US" sz="2800" i="1">
                                <a:solidFill>
                                  <a:srgbClr val="775F55"/>
                                </a:solidFill>
                                <a:latin typeface="Cambria Math" panose="02040503050406030204" pitchFamily="18" charset="0"/>
                              </a:rPr>
                              <m:t>−48</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10000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0.08</m:t>
                        </m:r>
                      </m:num>
                      <m:den>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0.72692058</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0"/>
                <a:ext cx="11210524" cy="4874913"/>
              </a:xfrm>
              <a:blipFill rotWithShape="0">
                <a:blip r:embed="rId2"/>
                <a:stretch>
                  <a:fillRect l="-218"/>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1			1</a:t>
            </a:r>
          </a:p>
        </p:txBody>
      </p:sp>
    </p:spTree>
    <p:extLst>
      <p:ext uri="{BB962C8B-B14F-4D97-AF65-F5344CB8AC3E}">
        <p14:creationId xmlns:p14="http://schemas.microsoft.com/office/powerpoint/2010/main" val="4012802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0"/>
                <a:ext cx="11210524" cy="4874913"/>
              </a:xfrm>
            </p:spPr>
            <p:txBody>
              <a:bodyPr>
                <a:normAutofit/>
              </a:bodyPr>
              <a:lstStyle/>
              <a:p>
                <a:pPr lvl="0">
                  <a:buClr>
                    <a:srgbClr val="94B6D2"/>
                  </a:buClr>
                </a:pPr>
                <a14:m>
                  <m:oMath xmlns:m="http://schemas.openxmlformats.org/officeDocument/2006/math">
                    <m:r>
                      <a:rPr lang="en-US" sz="2800" i="1" smtClean="0">
                        <a:solidFill>
                          <a:srgbClr val="775F55"/>
                        </a:solidFill>
                        <a:latin typeface="Cambria Math" panose="02040503050406030204" pitchFamily="18" charset="0"/>
                      </a:rPr>
                      <m:t>𝑃𝑀𝑇</m:t>
                    </m:r>
                    <m:r>
                      <a:rPr lang="en-US" sz="2800" i="1" smtClean="0">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10000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0.08</m:t>
                        </m:r>
                      </m:num>
                      <m:den>
                        <m:r>
                          <a:rPr lang="en-US" sz="2800" b="0" i="1" smtClean="0">
                            <a:solidFill>
                              <a:srgbClr val="775F55"/>
                            </a:solidFill>
                            <a:latin typeface="Cambria Math" panose="02040503050406030204" pitchFamily="18" charset="0"/>
                          </a:rPr>
                          <m:t>0.27307942</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10000</m:t>
                        </m:r>
                        <m:r>
                          <a:rPr lang="en-US" sz="2800" b="0" i="1" smtClean="0">
                            <a:solidFill>
                              <a:srgbClr val="775F55"/>
                            </a:solidFill>
                            <a:latin typeface="Cambria Math" panose="02040503050406030204" pitchFamily="18" charset="0"/>
                          </a:rPr>
                          <m:t>∗0.08</m:t>
                        </m:r>
                      </m:num>
                      <m:den>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∗027307942</m:t>
                        </m:r>
                      </m:den>
                    </m:f>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8</m:t>
                        </m:r>
                        <m:r>
                          <a:rPr lang="en-US" sz="2800" i="1">
                            <a:solidFill>
                              <a:srgbClr val="775F55"/>
                            </a:solidFill>
                            <a:latin typeface="Cambria Math" panose="02040503050406030204" pitchFamily="18" charset="0"/>
                          </a:rPr>
                          <m:t>00</m:t>
                        </m:r>
                      </m:num>
                      <m:den>
                        <m:r>
                          <a:rPr lang="en-US" sz="2800" b="0" i="1" smtClean="0">
                            <a:solidFill>
                              <a:srgbClr val="775F55"/>
                            </a:solidFill>
                            <a:latin typeface="Cambria Math" panose="02040503050406030204" pitchFamily="18" charset="0"/>
                          </a:rPr>
                          <m:t>3.27695304</m:t>
                        </m:r>
                      </m:den>
                    </m:f>
                    <m:r>
                      <a:rPr lang="en-US" sz="2800" b="0" i="1" smtClean="0">
                        <a:solidFill>
                          <a:srgbClr val="775F55"/>
                        </a:solidFill>
                        <a:latin typeface="Cambria Math" panose="02040503050406030204" pitchFamily="18" charset="0"/>
                      </a:rPr>
                      <m:t>=$244.13</m:t>
                    </m:r>
                  </m:oMath>
                </a14:m>
                <a:endParaRPr lang="en-US" dirty="0">
                  <a:solidFill>
                    <a:srgbClr val="775F55"/>
                  </a:solidFill>
                </a:endParaRPr>
              </a:p>
              <a:p>
                <a:pPr lvl="0">
                  <a:buClr>
                    <a:srgbClr val="94B6D2"/>
                  </a:buClr>
                </a:pPr>
                <a14:m>
                  <m:oMath xmlns:m="http://schemas.openxmlformats.org/officeDocument/2006/math">
                    <m:r>
                      <a:rPr lang="en-US" sz="2800" b="0" i="1" smtClean="0">
                        <a:solidFill>
                          <a:srgbClr val="775F55"/>
                        </a:solidFill>
                        <a:latin typeface="Cambria Math" panose="02040503050406030204" pitchFamily="18" charset="0"/>
                        <a:ea typeface="Cambria Math" panose="02040503050406030204" pitchFamily="18" charset="0"/>
                      </a:rPr>
                      <m:t>𝑀𝑜𝑛𝑡h𝑙𝑦</m:t>
                    </m:r>
                    <m:r>
                      <a:rPr lang="en-US" sz="2800" b="0" i="1" smtClean="0">
                        <a:solidFill>
                          <a:srgbClr val="775F55"/>
                        </a:solidFill>
                        <a:latin typeface="Cambria Math" panose="02040503050406030204" pitchFamily="18" charset="0"/>
                        <a:ea typeface="Cambria Math" panose="02040503050406030204" pitchFamily="18" charset="0"/>
                      </a:rPr>
                      <m:t> </m:t>
                    </m:r>
                    <m:r>
                      <a:rPr lang="en-US" sz="2800" b="0" i="1" smtClean="0">
                        <a:solidFill>
                          <a:srgbClr val="775F55"/>
                        </a:solidFill>
                        <a:latin typeface="Cambria Math" panose="02040503050406030204" pitchFamily="18" charset="0"/>
                        <a:ea typeface="Cambria Math" panose="02040503050406030204" pitchFamily="18" charset="0"/>
                      </a:rPr>
                      <m:t>𝑃𝑎𝑦𝑚𝑒𝑛𝑡𝑠</m:t>
                    </m:r>
                    <m:r>
                      <a:rPr lang="en-US" sz="2800" i="1">
                        <a:solidFill>
                          <a:srgbClr val="775F55"/>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𝟐𝟒𝟒</m:t>
                    </m:r>
                  </m:oMath>
                </a14:m>
                <a:endParaRPr lang="en-US" b="1" dirty="0">
                  <a:solidFill>
                    <a:srgbClr val="775F55"/>
                  </a:solidFill>
                </a:endParaRPr>
              </a:p>
              <a:p>
                <a:pPr lvl="0">
                  <a:buClr>
                    <a:srgbClr val="94B6D2"/>
                  </a:buClr>
                </a:pPr>
                <a:endParaRPr lang="en-US" dirty="0">
                  <a:solidFill>
                    <a:srgbClr val="775F55"/>
                  </a:solidFill>
                </a:endParaRPr>
              </a:p>
              <a:p>
                <a:pPr lvl="0">
                  <a:buClr>
                    <a:srgbClr val="94B6D2"/>
                  </a:buClr>
                </a:pPr>
                <a:r>
                  <a:rPr lang="en-US" dirty="0">
                    <a:solidFill>
                      <a:srgbClr val="775F55"/>
                    </a:solidFill>
                  </a:rPr>
                  <a:t>(b.) </a:t>
                </a:r>
                <a14:m>
                  <m:oMath xmlns:m="http://schemas.openxmlformats.org/officeDocument/2006/math">
                    <m:r>
                      <a:rPr lang="en-US" b="0" i="1" smtClean="0">
                        <a:solidFill>
                          <a:srgbClr val="775F55"/>
                        </a:solidFill>
                        <a:latin typeface="Cambria Math" panose="02040503050406030204" pitchFamily="18" charset="0"/>
                      </a:rPr>
                      <m:t>𝑇𝑜𝑡𝑎𝑙</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𝑃𝑎𝑦𝑚𝑒𝑛𝑡𝑠</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𝑓𝑜𝑟</m:t>
                    </m:r>
                    <m:r>
                      <a:rPr lang="en-US" b="0" i="1" smtClean="0">
                        <a:solidFill>
                          <a:srgbClr val="775F55"/>
                        </a:solidFill>
                        <a:latin typeface="Cambria Math" panose="02040503050406030204" pitchFamily="18" charset="0"/>
                      </a:rPr>
                      <m:t> 4 </m:t>
                    </m:r>
                    <m:r>
                      <a:rPr lang="en-US" b="0" i="1" smtClean="0">
                        <a:solidFill>
                          <a:srgbClr val="775F55"/>
                        </a:solidFill>
                        <a:latin typeface="Cambria Math" panose="02040503050406030204" pitchFamily="18" charset="0"/>
                      </a:rPr>
                      <m:t>𝑦𝑒𝑎𝑟𝑠</m:t>
                    </m:r>
                    <m:r>
                      <a:rPr lang="en-US" b="0" i="1" smtClean="0">
                        <a:solidFill>
                          <a:srgbClr val="775F55"/>
                        </a:solidFill>
                        <a:latin typeface="Cambria Math" panose="02040503050406030204" pitchFamily="18" charset="0"/>
                      </a:rPr>
                      <m:t>=244 ∗12∗4=$11712</m:t>
                    </m:r>
                  </m:oMath>
                </a14:m>
                <a:endParaRPr lang="en-US" b="0" dirty="0">
                  <a:solidFill>
                    <a:srgbClr val="775F55"/>
                  </a:solidFill>
                </a:endParaRPr>
              </a:p>
              <a:p>
                <a:pPr lvl="0">
                  <a:buClr>
                    <a:srgbClr val="94B6D2"/>
                  </a:buClr>
                </a:pPr>
                <a14:m>
                  <m:oMath xmlns:m="http://schemas.openxmlformats.org/officeDocument/2006/math">
                    <m:r>
                      <a:rPr lang="en-US" b="0" i="1" smtClean="0">
                        <a:solidFill>
                          <a:srgbClr val="775F55"/>
                        </a:solidFill>
                        <a:latin typeface="Cambria Math" panose="02040503050406030204" pitchFamily="18" charset="0"/>
                      </a:rPr>
                      <m:t>𝑇𝑜𝑡𝑎𝑙</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𝐼𝑛𝑡𝑒𝑟𝑒𝑠𝑡</m:t>
                    </m:r>
                    <m:r>
                      <a:rPr lang="en-US" b="0" i="1" smtClean="0">
                        <a:solidFill>
                          <a:srgbClr val="775F55"/>
                        </a:solidFill>
                        <a:latin typeface="Cambria Math" panose="02040503050406030204" pitchFamily="18" charset="0"/>
                      </a:rPr>
                      <m:t>=</m:t>
                    </m:r>
                    <m:r>
                      <a:rPr lang="en-US" b="0" i="1" smtClean="0">
                        <a:solidFill>
                          <a:srgbClr val="775F55"/>
                        </a:solidFill>
                        <a:latin typeface="Cambria Math" panose="02040503050406030204" pitchFamily="18" charset="0"/>
                      </a:rPr>
                      <m:t>𝑇𝑜𝑡𝑎𝑙</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𝑃𝑎𝑦𝑚𝑒𝑛𝑡𝑠</m:t>
                    </m:r>
                    <m:r>
                      <a:rPr lang="en-US" b="0" i="1" smtClean="0">
                        <a:solidFill>
                          <a:srgbClr val="775F55"/>
                        </a:solidFill>
                        <a:latin typeface="Cambria Math" panose="02040503050406030204" pitchFamily="18" charset="0"/>
                      </a:rPr>
                      <m:t>−</m:t>
                    </m:r>
                    <m:r>
                      <a:rPr lang="en-US" b="0" i="1" smtClean="0">
                        <a:solidFill>
                          <a:srgbClr val="775F55"/>
                        </a:solidFill>
                        <a:latin typeface="Cambria Math" panose="02040503050406030204" pitchFamily="18" charset="0"/>
                      </a:rPr>
                      <m:t>𝐴𝑚𝑜𝑢𝑛𝑡</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𝑜𝑓</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𝐿𝑜𝑎𝑛</m:t>
                    </m:r>
                    <m:r>
                      <a:rPr lang="en-US" b="0" i="1" smtClean="0">
                        <a:solidFill>
                          <a:srgbClr val="775F55"/>
                        </a:solidFill>
                        <a:latin typeface="Cambria Math" panose="02040503050406030204" pitchFamily="18" charset="0"/>
                      </a:rPr>
                      <m:t> </m:t>
                    </m:r>
                    <m:d>
                      <m:dPr>
                        <m:ctrlPr>
                          <a:rPr lang="en-US" b="0" i="1" smtClean="0">
                            <a:solidFill>
                              <a:srgbClr val="775F55"/>
                            </a:solidFill>
                            <a:latin typeface="Cambria Math" panose="02040503050406030204" pitchFamily="18" charset="0"/>
                          </a:rPr>
                        </m:ctrlPr>
                      </m:dPr>
                      <m:e>
                        <m:r>
                          <a:rPr lang="en-US" b="0" i="1" smtClean="0">
                            <a:solidFill>
                              <a:srgbClr val="775F55"/>
                            </a:solidFill>
                            <a:latin typeface="Cambria Math" panose="02040503050406030204" pitchFamily="18" charset="0"/>
                          </a:rPr>
                          <m:t>𝑃𝑟𝑒𝑠𝑒𝑛𝑡</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𝑉𝑎𝑙𝑢𝑒</m:t>
                        </m:r>
                      </m:e>
                    </m:d>
                  </m:oMath>
                </a14:m>
                <a:endParaRPr lang="en-US" b="0" dirty="0">
                  <a:solidFill>
                    <a:srgbClr val="775F55"/>
                  </a:solidFill>
                </a:endParaRPr>
              </a:p>
              <a:p>
                <a:pPr lvl="0">
                  <a:buClr>
                    <a:srgbClr val="94B6D2"/>
                  </a:buClr>
                </a:pPr>
                <a14:m>
                  <m:oMath xmlns:m="http://schemas.openxmlformats.org/officeDocument/2006/math">
                    <m:r>
                      <a:rPr lang="en-US" b="0" i="1" smtClean="0">
                        <a:solidFill>
                          <a:srgbClr val="775F55"/>
                        </a:solidFill>
                        <a:latin typeface="Cambria Math" panose="02040503050406030204" pitchFamily="18" charset="0"/>
                      </a:rPr>
                      <m:t>𝑇𝑜𝑡𝑎𝑙</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𝐼𝑛𝑡𝑒𝑟𝑒𝑠𝑡</m:t>
                    </m:r>
                    <m:r>
                      <a:rPr lang="en-US" b="0" i="1" smtClean="0">
                        <a:solidFill>
                          <a:srgbClr val="775F55"/>
                        </a:solidFill>
                        <a:latin typeface="Cambria Math" panose="02040503050406030204" pitchFamily="18" charset="0"/>
                      </a:rPr>
                      <m:t>=$11712−$10000=</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𝟏𝟕𝟏𝟐</m:t>
                    </m:r>
                  </m:oMath>
                </a14:m>
                <a:endParaRPr lang="en-US" b="1" dirty="0">
                  <a:solidFill>
                    <a:srgbClr val="00B050"/>
                  </a:solidFill>
                </a:endParaRP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0"/>
                <a:ext cx="11210524" cy="4874913"/>
              </a:xfrm>
              <a:blipFill rotWithShape="0">
                <a:blip r:embed="rId2"/>
                <a:stretch>
                  <a:fillRect l="-218"/>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1			2</a:t>
            </a:r>
          </a:p>
        </p:txBody>
      </p:sp>
    </p:spTree>
    <p:extLst>
      <p:ext uri="{BB962C8B-B14F-4D97-AF65-F5344CB8AC3E}">
        <p14:creationId xmlns:p14="http://schemas.microsoft.com/office/powerpoint/2010/main" val="1382337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7999" y="1719070"/>
            <a:ext cx="11210524" cy="4771882"/>
          </a:xfrm>
        </p:spPr>
        <p:txBody>
          <a:bodyPr>
            <a:normAutofit lnSpcReduction="10000"/>
          </a:bodyPr>
          <a:lstStyle/>
          <a:p>
            <a:r>
              <a:rPr lang="en-US" dirty="0"/>
              <a:t>(2.) Paul is shopping for a new car. He found a nice energy efficient car he liked and negotiated a good price with the dealer: $21,995 including taxes and license fees. In addition, the car manufacturer offered him two options:</a:t>
            </a:r>
          </a:p>
          <a:p>
            <a:endParaRPr lang="en-US" dirty="0"/>
          </a:p>
          <a:p>
            <a:r>
              <a:rPr lang="en-US" dirty="0"/>
              <a:t> He can choose between a $2000 manufacturer’s rebate and then finance the balance at the dealer’s going rate of 6% APR for a 60-month loan.</a:t>
            </a:r>
          </a:p>
          <a:p>
            <a:r>
              <a:rPr lang="en-US" dirty="0"/>
              <a:t>OR</a:t>
            </a:r>
          </a:p>
          <a:p>
            <a:r>
              <a:rPr lang="en-US" dirty="0"/>
              <a:t>He can use a special financing at 2.4% APR for 60 months.</a:t>
            </a:r>
          </a:p>
          <a:p>
            <a:r>
              <a:rPr lang="en-US" dirty="0"/>
              <a:t> Which option should he choose? How much savings would he have when comparing the two options over the period of the loan? Round all answers to the nearest dollar.</a:t>
            </a:r>
          </a:p>
        </p:txBody>
      </p:sp>
      <p:sp>
        <p:nvSpPr>
          <p:cNvPr id="4" name="Title 3"/>
          <p:cNvSpPr>
            <a:spLocks noGrp="1"/>
          </p:cNvSpPr>
          <p:nvPr>
            <p:ph type="title"/>
          </p:nvPr>
        </p:nvSpPr>
        <p:spPr/>
        <p:txBody>
          <a:bodyPr/>
          <a:lstStyle/>
          <a:p>
            <a:r>
              <a:rPr lang="en-US" dirty="0"/>
              <a:t>Question 2</a:t>
            </a:r>
          </a:p>
        </p:txBody>
      </p:sp>
    </p:spTree>
    <p:extLst>
      <p:ext uri="{BB962C8B-B14F-4D97-AF65-F5344CB8AC3E}">
        <p14:creationId xmlns:p14="http://schemas.microsoft.com/office/powerpoint/2010/main" val="2765754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fontScale="92500"/>
              </a:bodyPr>
              <a:lstStyle/>
              <a:p>
                <a:r>
                  <a:rPr lang="en-US" b="1" u="sng" dirty="0">
                    <a:latin typeface="Cambria Math" panose="02040503050406030204" pitchFamily="18" charset="0"/>
                  </a:rPr>
                  <a:t>Option 1</a:t>
                </a:r>
              </a:p>
              <a:p>
                <a14:m>
                  <m:oMath xmlns:m="http://schemas.openxmlformats.org/officeDocument/2006/math">
                    <m:r>
                      <a:rPr lang="en-US" i="1" dirty="0" smtClean="0">
                        <a:latin typeface="Cambria Math" panose="02040503050406030204" pitchFamily="18" charset="0"/>
                      </a:rPr>
                      <m:t>𝑃𝑉</m:t>
                    </m:r>
                    <m:r>
                      <a:rPr lang="en-US" i="1" dirty="0" smtClean="0">
                        <a:latin typeface="Cambria Math" panose="02040503050406030204" pitchFamily="18" charset="0"/>
                      </a:rPr>
                      <m:t> = $21995−$2000=$19995; </m:t>
                    </m:r>
                    <m:r>
                      <a:rPr lang="en-US" i="1" dirty="0" smtClean="0">
                        <a:latin typeface="Cambria Math" panose="02040503050406030204" pitchFamily="18" charset="0"/>
                      </a:rPr>
                      <m:t>𝑡</m:t>
                    </m:r>
                    <m:r>
                      <a:rPr lang="en-US" b="0" i="1" dirty="0" smtClean="0">
                        <a:latin typeface="Cambria Math" panose="02040503050406030204" pitchFamily="18" charset="0"/>
                      </a:rPr>
                      <m:t>=60</m:t>
                    </m:r>
                    <m:r>
                      <a:rPr lang="en-US" i="1" dirty="0" smtClean="0">
                        <a:latin typeface="Cambria Math" panose="02040503050406030204" pitchFamily="18" charset="0"/>
                      </a:rPr>
                      <m:t> </m:t>
                    </m:r>
                    <m:r>
                      <a:rPr lang="en-US" i="1" dirty="0" smtClean="0">
                        <a:latin typeface="Cambria Math" panose="02040503050406030204" pitchFamily="18" charset="0"/>
                      </a:rPr>
                      <m:t>𝑚𝑜𝑛𝑡h𝑠</m:t>
                    </m:r>
                    <m:r>
                      <a:rPr lang="en-US" b="0" i="1" dirty="0" smtClean="0">
                        <a:latin typeface="Cambria Math" panose="02040503050406030204" pitchFamily="18" charset="0"/>
                      </a:rPr>
                      <m:t>=5 </m:t>
                    </m:r>
                    <m:r>
                      <a:rPr lang="en-US" b="0" i="1" dirty="0" smtClean="0">
                        <a:latin typeface="Cambria Math" panose="02040503050406030204" pitchFamily="18" charset="0"/>
                      </a:rPr>
                      <m:t>𝑦𝑒𝑎𝑟𝑠</m:t>
                    </m:r>
                    <m:r>
                      <a:rPr lang="en-US" i="1" dirty="0" smtClean="0">
                        <a:latin typeface="Cambria Math" panose="02040503050406030204" pitchFamily="18" charset="0"/>
                      </a:rPr>
                      <m:t>;</m:t>
                    </m:r>
                    <m:r>
                      <a:rPr lang="en-US" b="0" i="1" dirty="0" smtClean="0">
                        <a:latin typeface="Cambria Math" panose="02040503050406030204" pitchFamily="18" charset="0"/>
                      </a:rPr>
                      <m:t>𝑟</m:t>
                    </m:r>
                    <m:r>
                      <a:rPr lang="en-US" i="1" dirty="0" smtClean="0">
                        <a:latin typeface="Cambria Math" panose="02040503050406030204" pitchFamily="18" charset="0"/>
                      </a:rPr>
                      <m:t>=</m:t>
                    </m:r>
                    <m:r>
                      <a:rPr lang="en-US" b="0" i="1" dirty="0" smtClean="0">
                        <a:latin typeface="Cambria Math" panose="02040503050406030204" pitchFamily="18" charset="0"/>
                      </a:rPr>
                      <m:t>6</m:t>
                    </m:r>
                    <m:r>
                      <a:rPr lang="en-US" i="1" dirty="0" smtClean="0">
                        <a:latin typeface="Cambria Math" panose="02040503050406030204" pitchFamily="18" charset="0"/>
                      </a:rPr>
                      <m:t>% = 0.0</m:t>
                    </m:r>
                    <m:r>
                      <a:rPr lang="en-US" b="0" i="1" dirty="0" smtClean="0">
                        <a:latin typeface="Cambria Math" panose="02040503050406030204" pitchFamily="18" charset="0"/>
                      </a:rPr>
                      <m:t>6</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 = 12</m:t>
                    </m:r>
                  </m:oMath>
                </a14:m>
                <a:endParaRPr lang="en-US" dirty="0"/>
              </a:p>
              <a:p>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6</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6</m:t>
                                    </m:r>
                                  </m:num>
                                  <m:den>
                                    <m:r>
                                      <a:rPr lang="en-US" sz="2800" i="1">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5</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6</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6</m:t>
                                    </m:r>
                                  </m:num>
                                  <m:den>
                                    <m:r>
                                      <a:rPr lang="en-US" sz="2800" i="1">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−12∗5</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0.06</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0.005</m:t>
                                </m:r>
                              </m:e>
                            </m:d>
                          </m:e>
                          <m:sup>
                            <m:r>
                              <a:rPr lang="en-US" sz="2800" i="1">
                                <a:solidFill>
                                  <a:srgbClr val="775F55"/>
                                </a:solidFill>
                                <a:latin typeface="Cambria Math" panose="02040503050406030204" pitchFamily="18" charset="0"/>
                              </a:rPr>
                              <m:t>−12∗5</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109" t="-726"/>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2			1</a:t>
            </a:r>
          </a:p>
        </p:txBody>
      </p:sp>
    </p:spTree>
    <p:extLst>
      <p:ext uri="{BB962C8B-B14F-4D97-AF65-F5344CB8AC3E}">
        <p14:creationId xmlns:p14="http://schemas.microsoft.com/office/powerpoint/2010/main" val="1678890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r>
                  <a:rPr lang="en-US" b="1" u="sng" dirty="0">
                    <a:latin typeface="Cambria Math" panose="02040503050406030204" pitchFamily="18" charset="0"/>
                  </a:rPr>
                  <a:t>Option 1</a:t>
                </a: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0.06</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b="0" i="1" smtClean="0">
                                    <a:solidFill>
                                      <a:srgbClr val="775F55"/>
                                    </a:solidFill>
                                    <a:latin typeface="Cambria Math" panose="02040503050406030204" pitchFamily="18" charset="0"/>
                                  </a:rPr>
                                  <m:t>1.005</m:t>
                                </m:r>
                              </m:e>
                            </m:d>
                          </m:e>
                          <m:sup>
                            <m:r>
                              <a:rPr lang="en-US" sz="2800" i="1">
                                <a:solidFill>
                                  <a:srgbClr val="775F55"/>
                                </a:solidFill>
                                <a:latin typeface="Cambria Math" panose="02040503050406030204" pitchFamily="18" charset="0"/>
                              </a:rPr>
                              <m:t>−12∗5</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0.06</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1.005</m:t>
                                </m:r>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60</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0.06</m:t>
                        </m:r>
                      </m:num>
                      <m:den>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0.741372196</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0.06</m:t>
                        </m:r>
                      </m:num>
                      <m:den>
                        <m:r>
                          <a:rPr lang="en-US" sz="2800" b="0" i="1" smtClean="0">
                            <a:solidFill>
                              <a:srgbClr val="775F55"/>
                            </a:solidFill>
                            <a:latin typeface="Cambria Math" panose="02040503050406030204" pitchFamily="18" charset="0"/>
                          </a:rPr>
                          <m:t>0.258627803</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19995</m:t>
                        </m:r>
                        <m:r>
                          <a:rPr lang="en-US" sz="2800" b="0" i="1" smtClean="0">
                            <a:solidFill>
                              <a:srgbClr val="775F55"/>
                            </a:solidFill>
                            <a:latin typeface="Cambria Math" panose="02040503050406030204" pitchFamily="18" charset="0"/>
                          </a:rPr>
                          <m:t>∗0.06</m:t>
                        </m:r>
                      </m:num>
                      <m:den>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∗0.258627803</m:t>
                        </m:r>
                      </m:den>
                    </m:f>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199.7</m:t>
                        </m:r>
                      </m:num>
                      <m:den>
                        <m:r>
                          <a:rPr lang="en-US" sz="2800" b="0" i="1" smtClean="0">
                            <a:solidFill>
                              <a:srgbClr val="775F55"/>
                            </a:solidFill>
                            <a:latin typeface="Cambria Math" panose="02040503050406030204" pitchFamily="18" charset="0"/>
                          </a:rPr>
                          <m:t>3.103533636</m:t>
                        </m:r>
                      </m:den>
                    </m:f>
                    <m:r>
                      <a:rPr lang="en-US" sz="2800" b="0" i="1" smtClean="0">
                        <a:solidFill>
                          <a:srgbClr val="775F55"/>
                        </a:solidFill>
                        <a:latin typeface="Cambria Math" panose="02040503050406030204" pitchFamily="18" charset="0"/>
                      </a:rPr>
                      <m:t>=$386.56</m:t>
                    </m:r>
                    <m:r>
                      <a:rPr lang="en-US" sz="2800" b="0" i="1" smtClean="0">
                        <a:solidFill>
                          <a:srgbClr val="775F55"/>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𝟑𝟖𝟕</m:t>
                    </m:r>
                    <m:r>
                      <a:rPr lang="en-US" sz="2800" b="1" i="1" smtClean="0">
                        <a:solidFill>
                          <a:srgbClr val="00B050"/>
                        </a:solidFill>
                        <a:latin typeface="Cambria Math" panose="02040503050406030204" pitchFamily="18" charset="0"/>
                        <a:ea typeface="Cambria Math" panose="02040503050406030204" pitchFamily="18" charset="0"/>
                      </a:rPr>
                      <m:t> </m:t>
                    </m:r>
                    <m:r>
                      <a:rPr lang="en-US" sz="2800" b="1" i="1" smtClean="0">
                        <a:solidFill>
                          <a:srgbClr val="00B050"/>
                        </a:solidFill>
                        <a:latin typeface="Cambria Math" panose="02040503050406030204" pitchFamily="18" charset="0"/>
                        <a:ea typeface="Cambria Math" panose="02040503050406030204" pitchFamily="18" charset="0"/>
                      </a:rPr>
                      <m:t>𝒑𝒆𝒓</m:t>
                    </m:r>
                    <m:r>
                      <a:rPr lang="en-US" sz="2800" b="1" i="1" smtClean="0">
                        <a:solidFill>
                          <a:srgbClr val="00B050"/>
                        </a:solidFill>
                        <a:latin typeface="Cambria Math" panose="02040503050406030204" pitchFamily="18" charset="0"/>
                        <a:ea typeface="Cambria Math" panose="02040503050406030204" pitchFamily="18" charset="0"/>
                      </a:rPr>
                      <m:t> </m:t>
                    </m:r>
                    <m:r>
                      <a:rPr lang="en-US" sz="2800" b="1" i="1" smtClean="0">
                        <a:solidFill>
                          <a:srgbClr val="00B050"/>
                        </a:solidFill>
                        <a:latin typeface="Cambria Math" panose="02040503050406030204" pitchFamily="18" charset="0"/>
                        <a:ea typeface="Cambria Math" panose="02040503050406030204" pitchFamily="18" charset="0"/>
                      </a:rPr>
                      <m:t>𝒎𝒐𝒏𝒕𝒉</m:t>
                    </m:r>
                  </m:oMath>
                </a14:m>
                <a:endParaRPr lang="en-US" b="1" dirty="0">
                  <a:solidFill>
                    <a:srgbClr val="775F55"/>
                  </a:solidFill>
                </a:endParaRPr>
              </a:p>
              <a:p>
                <a:pPr lvl="0">
                  <a:buClr>
                    <a:srgbClr val="94B6D2"/>
                  </a:buClr>
                </a:pPr>
                <a:endParaRPr lang="en-US" dirty="0">
                  <a:solidFill>
                    <a:srgbClr val="775F55"/>
                  </a:solidFill>
                </a:endParaRPr>
              </a:p>
              <a:p>
                <a:pPr lvl="0">
                  <a:buClr>
                    <a:srgbClr val="94B6D2"/>
                  </a:buClr>
                </a:pPr>
                <a:endParaRPr lang="en-US" dirty="0">
                  <a:solidFill>
                    <a:srgbClr val="775F55"/>
                  </a:solidFill>
                </a:endParaRPr>
              </a:p>
              <a:p>
                <a:pPr lvl="0">
                  <a:buClr>
                    <a:srgbClr val="94B6D2"/>
                  </a:buClr>
                </a:pPr>
                <a:endParaRPr lang="en-US" dirty="0">
                  <a:solidFill>
                    <a:srgbClr val="775F55"/>
                  </a:solidFill>
                </a:endParaRP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2			2</a:t>
            </a:r>
          </a:p>
        </p:txBody>
      </p:sp>
    </p:spTree>
    <p:extLst>
      <p:ext uri="{BB962C8B-B14F-4D97-AF65-F5344CB8AC3E}">
        <p14:creationId xmlns:p14="http://schemas.microsoft.com/office/powerpoint/2010/main" val="12400000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r>
                  <a:rPr lang="en-US" b="1" u="sng" dirty="0">
                    <a:latin typeface="Cambria Math" panose="02040503050406030204" pitchFamily="18" charset="0"/>
                  </a:rPr>
                  <a:t>Option 2</a:t>
                </a:r>
              </a:p>
              <a:p>
                <a14:m>
                  <m:oMath xmlns:m="http://schemas.openxmlformats.org/officeDocument/2006/math">
                    <m:r>
                      <a:rPr lang="en-US" i="1" dirty="0" smtClean="0">
                        <a:latin typeface="Cambria Math" panose="02040503050406030204" pitchFamily="18" charset="0"/>
                      </a:rPr>
                      <m:t>𝑃𝑉</m:t>
                    </m:r>
                    <m:r>
                      <a:rPr lang="en-US" i="1" dirty="0" smtClean="0">
                        <a:latin typeface="Cambria Math" panose="02040503050406030204" pitchFamily="18" charset="0"/>
                      </a:rPr>
                      <m:t> = $21995; </m:t>
                    </m:r>
                    <m:r>
                      <a:rPr lang="en-US" i="1" dirty="0" smtClean="0">
                        <a:latin typeface="Cambria Math" panose="02040503050406030204" pitchFamily="18" charset="0"/>
                      </a:rPr>
                      <m:t>𝑡</m:t>
                    </m:r>
                    <m:r>
                      <a:rPr lang="en-US" b="0" i="1" dirty="0" smtClean="0">
                        <a:latin typeface="Cambria Math" panose="02040503050406030204" pitchFamily="18" charset="0"/>
                      </a:rPr>
                      <m:t>=60</m:t>
                    </m:r>
                    <m:r>
                      <a:rPr lang="en-US" i="1" dirty="0" smtClean="0">
                        <a:latin typeface="Cambria Math" panose="02040503050406030204" pitchFamily="18" charset="0"/>
                      </a:rPr>
                      <m:t> </m:t>
                    </m:r>
                    <m:r>
                      <a:rPr lang="en-US" i="1" dirty="0" smtClean="0">
                        <a:latin typeface="Cambria Math" panose="02040503050406030204" pitchFamily="18" charset="0"/>
                      </a:rPr>
                      <m:t>𝑚𝑜𝑛𝑡h𝑠</m:t>
                    </m:r>
                    <m:r>
                      <a:rPr lang="en-US" b="0" i="1" dirty="0" smtClean="0">
                        <a:latin typeface="Cambria Math" panose="02040503050406030204" pitchFamily="18" charset="0"/>
                      </a:rPr>
                      <m:t>=5 </m:t>
                    </m:r>
                    <m:r>
                      <a:rPr lang="en-US" b="0" i="1" dirty="0" smtClean="0">
                        <a:latin typeface="Cambria Math" panose="02040503050406030204" pitchFamily="18" charset="0"/>
                      </a:rPr>
                      <m:t>𝑦𝑒𝑎𝑟𝑠</m:t>
                    </m:r>
                    <m:r>
                      <a:rPr lang="en-US" i="1" dirty="0" smtClean="0">
                        <a:latin typeface="Cambria Math" panose="02040503050406030204" pitchFamily="18" charset="0"/>
                      </a:rPr>
                      <m:t>;</m:t>
                    </m:r>
                    <m:r>
                      <a:rPr lang="en-US" b="0" i="1" dirty="0" smtClean="0">
                        <a:latin typeface="Cambria Math" panose="02040503050406030204" pitchFamily="18" charset="0"/>
                      </a:rPr>
                      <m:t>𝑟</m:t>
                    </m:r>
                    <m:r>
                      <a:rPr lang="en-US" i="1" dirty="0" smtClean="0">
                        <a:latin typeface="Cambria Math" panose="02040503050406030204" pitchFamily="18" charset="0"/>
                      </a:rPr>
                      <m:t>=</m:t>
                    </m:r>
                    <m:r>
                      <a:rPr lang="en-US" b="0" i="1" dirty="0" smtClean="0">
                        <a:latin typeface="Cambria Math" panose="02040503050406030204" pitchFamily="18" charset="0"/>
                      </a:rPr>
                      <m:t>2.4</m:t>
                    </m:r>
                    <m:r>
                      <a:rPr lang="en-US" i="1" dirty="0" smtClean="0">
                        <a:latin typeface="Cambria Math" panose="02040503050406030204" pitchFamily="18" charset="0"/>
                      </a:rPr>
                      <m:t>% = 0.0</m:t>
                    </m:r>
                    <m:r>
                      <a:rPr lang="en-US" b="0" i="1" dirty="0" smtClean="0">
                        <a:latin typeface="Cambria Math" panose="02040503050406030204" pitchFamily="18" charset="0"/>
                      </a:rPr>
                      <m:t>24</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 = 12</m:t>
                    </m:r>
                  </m:oMath>
                </a14:m>
                <a:endParaRPr lang="en-US" dirty="0"/>
              </a:p>
              <a:p>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21995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24</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24</m:t>
                                    </m:r>
                                  </m:num>
                                  <m:den>
                                    <m:r>
                                      <a:rPr lang="en-US" sz="2800" i="1">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5</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21</m:t>
                        </m:r>
                        <m:r>
                          <a:rPr lang="en-US" sz="2800" i="1">
                            <a:solidFill>
                              <a:srgbClr val="775F55"/>
                            </a:solidFill>
                            <a:latin typeface="Cambria Math" panose="02040503050406030204" pitchFamily="18" charset="0"/>
                          </a:rPr>
                          <m:t>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24</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i="1" smtClean="0">
                                    <a:solidFill>
                                      <a:srgbClr val="775F55"/>
                                    </a:solidFill>
                                    <a:latin typeface="Cambria Math" panose="02040503050406030204" pitchFamily="18" charset="0"/>
                                  </a:rPr>
                                  <m:t>0</m:t>
                                </m:r>
                                <m:r>
                                  <a:rPr lang="en-US" sz="2800" b="0" i="1" smtClean="0">
                                    <a:solidFill>
                                      <a:srgbClr val="775F55"/>
                                    </a:solidFill>
                                    <a:latin typeface="Cambria Math" panose="02040503050406030204" pitchFamily="18" charset="0"/>
                                  </a:rPr>
                                  <m:t>.002</m:t>
                                </m:r>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60</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21</m:t>
                        </m:r>
                        <m:r>
                          <a:rPr lang="en-US" sz="2800" i="1">
                            <a:solidFill>
                              <a:srgbClr val="775F55"/>
                            </a:solidFill>
                            <a:latin typeface="Cambria Math" panose="02040503050406030204" pitchFamily="18" charset="0"/>
                          </a:rPr>
                          <m:t>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24</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.002</m:t>
                                </m:r>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60</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2			3</a:t>
            </a:r>
          </a:p>
        </p:txBody>
      </p:sp>
    </p:spTree>
    <p:extLst>
      <p:ext uri="{BB962C8B-B14F-4D97-AF65-F5344CB8AC3E}">
        <p14:creationId xmlns:p14="http://schemas.microsoft.com/office/powerpoint/2010/main" val="2871932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r>
                  <a:rPr lang="en-US" b="1" u="sng" dirty="0">
                    <a:latin typeface="Cambria Math" panose="02040503050406030204" pitchFamily="18" charset="0"/>
                  </a:rPr>
                  <a:t>Option 2</a:t>
                </a: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21</m:t>
                        </m:r>
                        <m:r>
                          <a:rPr lang="en-US" sz="2800" i="1">
                            <a:solidFill>
                              <a:srgbClr val="775F55"/>
                            </a:solidFill>
                            <a:latin typeface="Cambria Math" panose="02040503050406030204" pitchFamily="18" charset="0"/>
                          </a:rPr>
                          <m:t>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24</m:t>
                        </m:r>
                      </m:num>
                      <m:den>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0.887026731</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21995</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0.024</m:t>
                        </m:r>
                      </m:num>
                      <m:den>
                        <m:r>
                          <a:rPr lang="en-US" sz="2800" b="0" i="1" smtClean="0">
                            <a:solidFill>
                              <a:srgbClr val="775F55"/>
                            </a:solidFill>
                            <a:latin typeface="Cambria Math" panose="02040503050406030204" pitchFamily="18" charset="0"/>
                          </a:rPr>
                          <m:t>0.112973268</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21995</m:t>
                        </m:r>
                        <m:r>
                          <a:rPr lang="en-US" sz="2800" b="0" i="1" smtClean="0">
                            <a:solidFill>
                              <a:srgbClr val="775F55"/>
                            </a:solidFill>
                            <a:latin typeface="Cambria Math" panose="02040503050406030204" pitchFamily="18" charset="0"/>
                          </a:rPr>
                          <m:t>∗0.024</m:t>
                        </m:r>
                      </m:num>
                      <m:den>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∗0.112973268</m:t>
                        </m:r>
                      </m:den>
                    </m:f>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527.88</m:t>
                        </m:r>
                      </m:num>
                      <m:den>
                        <m:r>
                          <a:rPr lang="en-US" sz="2800" b="0" i="1" smtClean="0">
                            <a:solidFill>
                              <a:srgbClr val="775F55"/>
                            </a:solidFill>
                            <a:latin typeface="Cambria Math" panose="02040503050406030204" pitchFamily="18" charset="0"/>
                          </a:rPr>
                          <m:t>1.355679216</m:t>
                        </m:r>
                      </m:den>
                    </m:f>
                    <m:r>
                      <a:rPr lang="en-US" sz="2800" b="0" i="1" smtClean="0">
                        <a:solidFill>
                          <a:srgbClr val="775F55"/>
                        </a:solidFill>
                        <a:latin typeface="Cambria Math" panose="02040503050406030204" pitchFamily="18" charset="0"/>
                      </a:rPr>
                      <m:t>=$389.38</m:t>
                    </m:r>
                    <m:r>
                      <a:rPr lang="en-US" sz="2800" b="0" i="1" smtClean="0">
                        <a:solidFill>
                          <a:srgbClr val="775F55"/>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m:t>
                    </m:r>
                    <m:r>
                      <a:rPr lang="en-US" sz="2800" b="1" i="1" smtClean="0">
                        <a:solidFill>
                          <a:srgbClr val="00B050"/>
                        </a:solidFill>
                        <a:latin typeface="Cambria Math" panose="02040503050406030204" pitchFamily="18" charset="0"/>
                        <a:ea typeface="Cambria Math" panose="02040503050406030204" pitchFamily="18" charset="0"/>
                      </a:rPr>
                      <m:t>𝟑𝟖𝟗</m:t>
                    </m:r>
                    <m:r>
                      <a:rPr lang="en-US" sz="2800" b="1" i="1" smtClean="0">
                        <a:solidFill>
                          <a:srgbClr val="00B050"/>
                        </a:solidFill>
                        <a:latin typeface="Cambria Math" panose="02040503050406030204" pitchFamily="18" charset="0"/>
                        <a:ea typeface="Cambria Math" panose="02040503050406030204" pitchFamily="18" charset="0"/>
                      </a:rPr>
                      <m:t> </m:t>
                    </m:r>
                    <m:r>
                      <a:rPr lang="en-US" sz="2800" b="1" i="1" smtClean="0">
                        <a:solidFill>
                          <a:srgbClr val="00B050"/>
                        </a:solidFill>
                        <a:latin typeface="Cambria Math" panose="02040503050406030204" pitchFamily="18" charset="0"/>
                        <a:ea typeface="Cambria Math" panose="02040503050406030204" pitchFamily="18" charset="0"/>
                      </a:rPr>
                      <m:t>𝒑𝒆𝒓</m:t>
                    </m:r>
                    <m:r>
                      <a:rPr lang="en-US" sz="2800" b="1" i="1" smtClean="0">
                        <a:solidFill>
                          <a:srgbClr val="00B050"/>
                        </a:solidFill>
                        <a:latin typeface="Cambria Math" panose="02040503050406030204" pitchFamily="18" charset="0"/>
                        <a:ea typeface="Cambria Math" panose="02040503050406030204" pitchFamily="18" charset="0"/>
                      </a:rPr>
                      <m:t> </m:t>
                    </m:r>
                    <m:r>
                      <a:rPr lang="en-US" sz="2800" b="1" i="1" smtClean="0">
                        <a:solidFill>
                          <a:srgbClr val="00B050"/>
                        </a:solidFill>
                        <a:latin typeface="Cambria Math" panose="02040503050406030204" pitchFamily="18" charset="0"/>
                        <a:ea typeface="Cambria Math" panose="02040503050406030204" pitchFamily="18" charset="0"/>
                      </a:rPr>
                      <m:t>𝒎𝒐𝒏𝒕𝒉</m:t>
                    </m:r>
                  </m:oMath>
                </a14:m>
                <a:endParaRPr lang="en-US" sz="2800" b="1" dirty="0">
                  <a:solidFill>
                    <a:srgbClr val="00B050"/>
                  </a:solidFill>
                  <a:ea typeface="Cambria Math" panose="02040503050406030204" pitchFamily="18" charset="0"/>
                </a:endParaRPr>
              </a:p>
              <a:p>
                <a:pPr lvl="0">
                  <a:buClr>
                    <a:srgbClr val="94B6D2"/>
                  </a:buClr>
                </a:pPr>
                <a:r>
                  <a:rPr lang="en-US" dirty="0">
                    <a:solidFill>
                      <a:srgbClr val="775F55"/>
                    </a:solidFill>
                  </a:rPr>
                  <a:t>He</a:t>
                </a:r>
                <a:r>
                  <a:rPr lang="en-US" b="1" dirty="0">
                    <a:solidFill>
                      <a:srgbClr val="775F55"/>
                    </a:solidFill>
                  </a:rPr>
                  <a:t> </a:t>
                </a:r>
                <a:r>
                  <a:rPr lang="en-US" dirty="0">
                    <a:solidFill>
                      <a:srgbClr val="775F55"/>
                    </a:solidFill>
                  </a:rPr>
                  <a:t>should choose </a:t>
                </a:r>
                <a:r>
                  <a:rPr lang="en-US" b="1" dirty="0">
                    <a:solidFill>
                      <a:srgbClr val="00B050"/>
                    </a:solidFill>
                  </a:rPr>
                  <a:t>Option 1.</a:t>
                </a:r>
              </a:p>
              <a:p>
                <a:pPr lvl="0">
                  <a:buClr>
                    <a:srgbClr val="94B6D2"/>
                  </a:buClr>
                </a:pPr>
                <a:r>
                  <a:rPr lang="en-US" dirty="0">
                    <a:solidFill>
                      <a:srgbClr val="775F55"/>
                    </a:solidFill>
                  </a:rPr>
                  <a:t>By doing so, he saves about $2 per month</a:t>
                </a:r>
              </a:p>
              <a:p>
                <a:pPr lvl="0">
                  <a:buClr>
                    <a:srgbClr val="94B6D2"/>
                  </a:buClr>
                </a:pPr>
                <a:r>
                  <a:rPr lang="en-US" dirty="0">
                    <a:solidFill>
                      <a:srgbClr val="775F55"/>
                    </a:solidFill>
                  </a:rPr>
                  <a:t>He saves about $2 * 60 = </a:t>
                </a:r>
                <a:r>
                  <a:rPr lang="en-US" b="1" dirty="0">
                    <a:solidFill>
                      <a:srgbClr val="00B050"/>
                    </a:solidFill>
                  </a:rPr>
                  <a:t>$120</a:t>
                </a:r>
                <a:r>
                  <a:rPr lang="en-US" dirty="0">
                    <a:solidFill>
                      <a:srgbClr val="775F55"/>
                    </a:solidFill>
                  </a:rPr>
                  <a:t> over the 5 years of the loan.</a:t>
                </a: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2			4</a:t>
            </a:r>
          </a:p>
        </p:txBody>
      </p:sp>
    </p:spTree>
    <p:extLst>
      <p:ext uri="{BB962C8B-B14F-4D97-AF65-F5344CB8AC3E}">
        <p14:creationId xmlns:p14="http://schemas.microsoft.com/office/powerpoint/2010/main" val="4055941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dirty="0"/>
              <a:t>(3.) Daniel is 40 years old. He intends to start his own company. At his last job, he usually drives 40000 miles per year and gas averages $4 per gallon.</a:t>
            </a:r>
          </a:p>
          <a:p>
            <a:r>
              <a:rPr lang="en-US" dirty="0"/>
              <a:t>(a.) He wanted to buy a hybrid car that averages 40 miles per gallon rather than an SUV that averages 16 miles per gallon. Did he make a good decision? How much would he save in annual fuel expenses by doing so?</a:t>
            </a:r>
          </a:p>
          <a:p>
            <a:r>
              <a:rPr lang="en-US" dirty="0"/>
              <a:t>(b.) He intends to deposit the monthly fuel savings at the end of each month into an annuity that pays 5.2% compounded monthly. If he decides to retire in 20 years, how much would he have saved?</a:t>
            </a:r>
          </a:p>
          <a:p>
            <a:r>
              <a:rPr lang="en-US" dirty="0"/>
              <a:t>Round all answers to the nearest dollar.</a:t>
            </a:r>
          </a:p>
        </p:txBody>
      </p:sp>
      <p:sp>
        <p:nvSpPr>
          <p:cNvPr id="4" name="Title 3"/>
          <p:cNvSpPr>
            <a:spLocks noGrp="1"/>
          </p:cNvSpPr>
          <p:nvPr>
            <p:ph type="title"/>
          </p:nvPr>
        </p:nvSpPr>
        <p:spPr/>
        <p:txBody>
          <a:bodyPr/>
          <a:lstStyle/>
          <a:p>
            <a:r>
              <a:rPr lang="en-US" dirty="0"/>
              <a:t>Question 3</a:t>
            </a:r>
          </a:p>
        </p:txBody>
      </p:sp>
    </p:spTree>
    <p:extLst>
      <p:ext uri="{BB962C8B-B14F-4D97-AF65-F5344CB8AC3E}">
        <p14:creationId xmlns:p14="http://schemas.microsoft.com/office/powerpoint/2010/main" val="372828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1"/>
                <a:ext cx="11210524" cy="4926428"/>
              </a:xfrm>
            </p:spPr>
            <p:txBody>
              <a:bodyPr>
                <a:normAutofit lnSpcReduction="10000"/>
              </a:bodyPr>
              <a:lstStyle/>
              <a:p>
                <a:r>
                  <a:rPr lang="en-US" dirty="0"/>
                  <a:t>Annual miles driven by Daniel = 40000 miles</a:t>
                </a:r>
              </a:p>
              <a:p>
                <a:r>
                  <a:rPr lang="en-US" dirty="0"/>
                  <a:t>Price per gallon of gas = $4</a:t>
                </a:r>
              </a:p>
              <a:p>
                <a:r>
                  <a:rPr lang="en-US" b="1" u="sng" dirty="0"/>
                  <a:t>Hybrid Car</a:t>
                </a:r>
              </a:p>
              <a:p>
                <a:r>
                  <a:rPr lang="en-US" dirty="0"/>
                  <a:t>Miles per gallon for the hybrid car = 40 mpg</a:t>
                </a:r>
              </a:p>
              <a:p>
                <a:pPr lvl="0">
                  <a:buClr>
                    <a:srgbClr val="94B6D2"/>
                  </a:buClr>
                </a:pPr>
                <a14:m>
                  <m:oMath xmlns:m="http://schemas.openxmlformats.org/officeDocument/2006/math">
                    <m:r>
                      <a:rPr lang="en-US" i="1">
                        <a:solidFill>
                          <a:srgbClr val="775F55"/>
                        </a:solidFill>
                        <a:latin typeface="Cambria Math" panose="02040503050406030204" pitchFamily="18" charset="0"/>
                      </a:rPr>
                      <m:t>𝐴𝑛𝑛𝑢𝑎𝑙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𝐹𝑢𝑒𝑙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𝐸𝑥𝑝𝑒𝑛𝑠𝑒</m:t>
                    </m:r>
                    <m:r>
                      <a:rPr lang="en-US" i="1">
                        <a:solidFill>
                          <a:srgbClr val="775F55"/>
                        </a:solidFill>
                        <a:latin typeface="Cambria Math" panose="02040503050406030204" pitchFamily="18" charset="0"/>
                      </a:rPr>
                      <m:t>=</m:t>
                    </m:r>
                    <m:f>
                      <m:fPr>
                        <m:ctrlPr>
                          <a:rPr lang="en-US" i="1">
                            <a:solidFill>
                              <a:srgbClr val="775F55"/>
                            </a:solidFill>
                            <a:latin typeface="Cambria Math" panose="02040503050406030204" pitchFamily="18" charset="0"/>
                          </a:rPr>
                        </m:ctrlPr>
                      </m:fPr>
                      <m:num>
                        <m:r>
                          <a:rPr lang="en-US" i="1">
                            <a:solidFill>
                              <a:srgbClr val="775F55"/>
                            </a:solidFill>
                            <a:latin typeface="Cambria Math" panose="02040503050406030204" pitchFamily="18" charset="0"/>
                          </a:rPr>
                          <m:t>𝐴𝑛𝑛𝑢𝑎𝑙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𝑀𝑖𝑙𝑒𝑠</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𝐷𝑟𝑖𝑣𝑒𝑛</m:t>
                        </m:r>
                      </m:num>
                      <m:den>
                        <m:r>
                          <a:rPr lang="en-US" i="1">
                            <a:solidFill>
                              <a:srgbClr val="775F55"/>
                            </a:solidFill>
                            <a:latin typeface="Cambria Math" panose="02040503050406030204" pitchFamily="18" charset="0"/>
                          </a:rPr>
                          <m:t>𝑀𝑖𝑙𝑒𝑠</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𝑃𝑒𝑟</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𝐺𝑎𝑙𝑙𝑜𝑛</m:t>
                        </m:r>
                      </m:den>
                    </m:f>
                    <m:r>
                      <a:rPr lang="en-US" i="1">
                        <a:solidFill>
                          <a:srgbClr val="775F55"/>
                        </a:solidFill>
                        <a:latin typeface="Cambria Math" panose="02040503050406030204" pitchFamily="18" charset="0"/>
                      </a:rPr>
                      <m:t>∗</m:t>
                    </m:r>
                    <m:r>
                      <a:rPr lang="en-US" i="1">
                        <a:solidFill>
                          <a:srgbClr val="775F55"/>
                        </a:solidFill>
                        <a:latin typeface="Cambria Math" panose="02040503050406030204" pitchFamily="18" charset="0"/>
                      </a:rPr>
                      <m:t>𝑃𝑟𝑖𝑐𝑒</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𝑃𝑒𝑟</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𝐺𝑎𝑙𝑙𝑜𝑛</m:t>
                    </m:r>
                  </m:oMath>
                </a14:m>
                <a:endParaRPr lang="en-US" dirty="0">
                  <a:solidFill>
                    <a:srgbClr val="775F55"/>
                  </a:solidFill>
                </a:endParaRPr>
              </a:p>
              <a:p>
                <a:pPr lvl="0">
                  <a:buClr>
                    <a:srgbClr val="94B6D2"/>
                  </a:buClr>
                </a:pPr>
                <a14:m>
                  <m:oMath xmlns:m="http://schemas.openxmlformats.org/officeDocument/2006/math">
                    <m:r>
                      <a:rPr lang="en-US" i="1">
                        <a:solidFill>
                          <a:srgbClr val="775F55"/>
                        </a:solidFill>
                        <a:latin typeface="Cambria Math" panose="02040503050406030204" pitchFamily="18" charset="0"/>
                      </a:rPr>
                      <m:t>𝐴𝑛𝑛𝑢𝑎𝑙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𝐹𝑢𝑒𝑙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𝐸𝑥𝑝𝑒𝑛𝑠𝑒</m:t>
                    </m:r>
                    <m:r>
                      <a:rPr lang="en-US" i="1">
                        <a:solidFill>
                          <a:srgbClr val="775F55"/>
                        </a:solidFill>
                        <a:latin typeface="Cambria Math" panose="02040503050406030204" pitchFamily="18" charset="0"/>
                      </a:rPr>
                      <m:t>=</m:t>
                    </m:r>
                    <m:f>
                      <m:fPr>
                        <m:ctrlPr>
                          <a:rPr lang="en-US" i="1">
                            <a:solidFill>
                              <a:srgbClr val="775F55"/>
                            </a:solidFill>
                            <a:latin typeface="Cambria Math" panose="02040503050406030204" pitchFamily="18" charset="0"/>
                          </a:rPr>
                        </m:ctrlPr>
                      </m:fPr>
                      <m:num>
                        <m:r>
                          <a:rPr lang="en-US" b="0" i="1" smtClean="0">
                            <a:solidFill>
                              <a:srgbClr val="775F55"/>
                            </a:solidFill>
                            <a:latin typeface="Cambria Math" panose="02040503050406030204" pitchFamily="18" charset="0"/>
                          </a:rPr>
                          <m:t>40000</m:t>
                        </m:r>
                      </m:num>
                      <m:den>
                        <m:r>
                          <a:rPr lang="en-US" b="0" i="1" smtClean="0">
                            <a:solidFill>
                              <a:srgbClr val="775F55"/>
                            </a:solidFill>
                            <a:latin typeface="Cambria Math" panose="02040503050406030204" pitchFamily="18" charset="0"/>
                          </a:rPr>
                          <m:t>40</m:t>
                        </m:r>
                      </m:den>
                    </m:f>
                    <m:r>
                      <a:rPr lang="en-US" i="1">
                        <a:solidFill>
                          <a:srgbClr val="775F55"/>
                        </a:solidFill>
                        <a:latin typeface="Cambria Math" panose="02040503050406030204" pitchFamily="18" charset="0"/>
                      </a:rPr>
                      <m:t>∗</m:t>
                    </m:r>
                    <m:r>
                      <a:rPr lang="en-US" b="0" i="1" smtClean="0">
                        <a:solidFill>
                          <a:srgbClr val="775F55"/>
                        </a:solidFill>
                        <a:latin typeface="Cambria Math" panose="02040503050406030204" pitchFamily="18" charset="0"/>
                      </a:rPr>
                      <m:t>4=$4000</m:t>
                    </m:r>
                  </m:oMath>
                </a14:m>
                <a:endParaRPr lang="en-US" dirty="0">
                  <a:solidFill>
                    <a:srgbClr val="775F55"/>
                  </a:solidFill>
                </a:endParaRPr>
              </a:p>
              <a:p>
                <a:r>
                  <a:rPr lang="en-US" b="1" u="sng" dirty="0"/>
                  <a:t>SUV</a:t>
                </a:r>
              </a:p>
              <a:p>
                <a:r>
                  <a:rPr lang="en-US" dirty="0"/>
                  <a:t>Miles per gallon for the SUV = 16 mpg</a:t>
                </a:r>
              </a:p>
              <a:p>
                <a:pPr lvl="0">
                  <a:buClr>
                    <a:srgbClr val="94B6D2"/>
                  </a:buClr>
                </a:pPr>
                <a14:m>
                  <m:oMath xmlns:m="http://schemas.openxmlformats.org/officeDocument/2006/math">
                    <m:r>
                      <a:rPr lang="en-US" i="1">
                        <a:solidFill>
                          <a:srgbClr val="775F55"/>
                        </a:solidFill>
                        <a:latin typeface="Cambria Math" panose="02040503050406030204" pitchFamily="18" charset="0"/>
                      </a:rPr>
                      <m:t>𝐴𝑛𝑛𝑢𝑎𝑙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𝐹𝑢𝑒𝑙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𝐸𝑥𝑝𝑒𝑛𝑠𝑒</m:t>
                    </m:r>
                    <m:r>
                      <a:rPr lang="en-US" i="1">
                        <a:solidFill>
                          <a:srgbClr val="775F55"/>
                        </a:solidFill>
                        <a:latin typeface="Cambria Math" panose="02040503050406030204" pitchFamily="18" charset="0"/>
                      </a:rPr>
                      <m:t>=</m:t>
                    </m:r>
                    <m:f>
                      <m:fPr>
                        <m:ctrlPr>
                          <a:rPr lang="en-US" i="1">
                            <a:solidFill>
                              <a:srgbClr val="775F55"/>
                            </a:solidFill>
                            <a:latin typeface="Cambria Math" panose="02040503050406030204" pitchFamily="18" charset="0"/>
                          </a:rPr>
                        </m:ctrlPr>
                      </m:fPr>
                      <m:num>
                        <m:r>
                          <a:rPr lang="en-US" i="1">
                            <a:solidFill>
                              <a:srgbClr val="775F55"/>
                            </a:solidFill>
                            <a:latin typeface="Cambria Math" panose="02040503050406030204" pitchFamily="18" charset="0"/>
                          </a:rPr>
                          <m:t>40000</m:t>
                        </m:r>
                      </m:num>
                      <m:den>
                        <m:r>
                          <a:rPr lang="en-US" b="0" i="1" smtClean="0">
                            <a:solidFill>
                              <a:srgbClr val="775F55"/>
                            </a:solidFill>
                            <a:latin typeface="Cambria Math" panose="02040503050406030204" pitchFamily="18" charset="0"/>
                          </a:rPr>
                          <m:t>16</m:t>
                        </m:r>
                      </m:den>
                    </m:f>
                    <m:r>
                      <a:rPr lang="en-US" i="1">
                        <a:solidFill>
                          <a:srgbClr val="775F55"/>
                        </a:solidFill>
                        <a:latin typeface="Cambria Math" panose="02040503050406030204" pitchFamily="18" charset="0"/>
                      </a:rPr>
                      <m:t>∗4=$</m:t>
                    </m:r>
                    <m:r>
                      <a:rPr lang="en-US" b="0" i="1" smtClean="0">
                        <a:solidFill>
                          <a:srgbClr val="775F55"/>
                        </a:solidFill>
                        <a:latin typeface="Cambria Math" panose="02040503050406030204" pitchFamily="18" charset="0"/>
                      </a:rPr>
                      <m:t>10</m:t>
                    </m:r>
                    <m:r>
                      <a:rPr lang="en-US" i="1">
                        <a:solidFill>
                          <a:srgbClr val="775F55"/>
                        </a:solidFill>
                        <a:latin typeface="Cambria Math" panose="02040503050406030204" pitchFamily="18" charset="0"/>
                      </a:rPr>
                      <m:t>000</m:t>
                    </m:r>
                  </m:oMath>
                </a14:m>
                <a:endParaRPr lang="en-US" dirty="0">
                  <a:solidFill>
                    <a:srgbClr val="775F55"/>
                  </a:solidFill>
                </a:endParaRPr>
              </a:p>
              <a:p>
                <a:pPr lvl="0">
                  <a:buClr>
                    <a:srgbClr val="94B6D2"/>
                  </a:buClr>
                </a:pPr>
                <a:r>
                  <a:rPr lang="en-US" b="0" dirty="0">
                    <a:solidFill>
                      <a:srgbClr val="775F55"/>
                    </a:solidFill>
                  </a:rPr>
                  <a:t>(a.) </a:t>
                </a:r>
                <a14:m>
                  <m:oMath xmlns:m="http://schemas.openxmlformats.org/officeDocument/2006/math">
                    <m:r>
                      <a:rPr lang="en-US" b="0" i="1" smtClean="0">
                        <a:solidFill>
                          <a:srgbClr val="775F55"/>
                        </a:solidFill>
                        <a:latin typeface="Cambria Math" panose="02040503050406030204" pitchFamily="18" charset="0"/>
                      </a:rPr>
                      <m:t>𝑌𝑜𝑢</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𝑠𝑎𝑣𝑒</m:t>
                    </m:r>
                    <m:r>
                      <a:rPr lang="en-US" b="0" i="1" smtClean="0">
                        <a:solidFill>
                          <a:srgbClr val="775F55"/>
                        </a:solidFill>
                        <a:latin typeface="Cambria Math" panose="02040503050406030204" pitchFamily="18" charset="0"/>
                      </a:rPr>
                      <m:t> $10000−$4000=</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𝟔𝟎𝟎𝟎</m:t>
                    </m:r>
                    <m:r>
                      <a:rPr lang="en-US" b="1" i="1" smtClean="0">
                        <a:solidFill>
                          <a:srgbClr val="00B050"/>
                        </a:solidFill>
                        <a:latin typeface="Cambria Math" panose="02040503050406030204" pitchFamily="18" charset="0"/>
                      </a:rPr>
                      <m:t> </m:t>
                    </m:r>
                    <m:r>
                      <a:rPr lang="en-US" b="0" i="1" smtClean="0">
                        <a:solidFill>
                          <a:srgbClr val="775F55"/>
                        </a:solidFill>
                        <a:latin typeface="Cambria Math" panose="02040503050406030204" pitchFamily="18" charset="0"/>
                      </a:rPr>
                      <m:t>𝑝𝑒𝑟</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𝑦𝑒𝑎𝑟</m:t>
                    </m:r>
                  </m:oMath>
                </a14:m>
                <a:endParaRPr lang="en-US" dirty="0">
                  <a:solidFill>
                    <a:srgbClr val="775F55"/>
                  </a:solidFill>
                </a:endParaRPr>
              </a:p>
              <a:p>
                <a:pPr lvl="0">
                  <a:buClr>
                    <a:srgbClr val="94B6D2"/>
                  </a:buClr>
                </a:pPr>
                <a:endParaRPr lang="en-US" sz="2800"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1"/>
                <a:ext cx="11210524" cy="4926428"/>
              </a:xfrm>
              <a:blipFill rotWithShape="0">
                <a:blip r:embed="rId2"/>
                <a:stretch>
                  <a:fillRect l="-218" t="-160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3			1</a:t>
            </a:r>
          </a:p>
        </p:txBody>
      </p:sp>
    </p:spTree>
    <p:extLst>
      <p:ext uri="{BB962C8B-B14F-4D97-AF65-F5344CB8AC3E}">
        <p14:creationId xmlns:p14="http://schemas.microsoft.com/office/powerpoint/2010/main" val="65113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719071"/>
                <a:ext cx="11210524" cy="4926428"/>
              </a:xfrm>
            </p:spPr>
            <p:txBody>
              <a:bodyPr>
                <a:normAutofit/>
              </a:bodyPr>
              <a:lstStyle/>
              <a:p>
                <a:r>
                  <a:rPr lang="en-US" dirty="0"/>
                  <a:t>We will use the Future Value of Annuity formula to answer part (b.)</a:t>
                </a:r>
              </a:p>
              <a:p>
                <a14:m>
                  <m:oMath xmlns:m="http://schemas.openxmlformats.org/officeDocument/2006/math">
                    <m:r>
                      <a:rPr lang="en-US" i="1">
                        <a:latin typeface="Cambria Math" panose="02040503050406030204" pitchFamily="18" charset="0"/>
                      </a:rPr>
                      <m:t>𝐹𝑉</m:t>
                    </m:r>
                    <m:r>
                      <a:rPr lang="en-US" i="1">
                        <a:latin typeface="Cambria Math" panose="02040503050406030204" pitchFamily="18" charset="0"/>
                      </a:rPr>
                      <m:t>=</m:t>
                    </m:r>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𝑃𝑀𝑇</m:t>
                    </m:r>
                    <m:r>
                      <a:rPr lang="en-US" i="1">
                        <a:latin typeface="Cambria Math" panose="02040503050406030204" pitchFamily="18" charset="0"/>
                      </a:rPr>
                      <m:t>∗[</m:t>
                    </m:r>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m:t>
                            </m:r>
                            <m:f>
                              <m:fPr>
                                <m:ctrlPr>
                                  <a:rPr lang="en-US" i="1">
                                    <a:latin typeface="Cambria Math" panose="02040503050406030204" pitchFamily="18" charset="0"/>
                                  </a:rPr>
                                </m:ctrlPr>
                              </m:fPr>
                              <m:num>
                                <m:r>
                                  <a:rPr lang="en-US" i="1">
                                    <a:latin typeface="Cambria Math" panose="02040503050406030204" pitchFamily="18" charset="0"/>
                                  </a:rPr>
                                  <m:t>𝑟</m:t>
                                </m:r>
                              </m:num>
                              <m:den>
                                <m:r>
                                  <a:rPr lang="en-US" i="1">
                                    <a:latin typeface="Cambria Math" panose="02040503050406030204" pitchFamily="18" charset="0"/>
                                  </a:rPr>
                                  <m:t>𝑚</m:t>
                                </m:r>
                              </m:den>
                            </m:f>
                            <m:r>
                              <a:rPr lang="en-US" i="1">
                                <a:latin typeface="Cambria Math" panose="02040503050406030204" pitchFamily="18" charset="0"/>
                              </a:rPr>
                              <m:t>)</m:t>
                            </m:r>
                          </m:e>
                          <m:sup>
                            <m:r>
                              <a:rPr lang="en-US" i="1">
                                <a:latin typeface="Cambria Math" panose="02040503050406030204" pitchFamily="18" charset="0"/>
                              </a:rPr>
                              <m:t>𝑚𝑡</m:t>
                            </m:r>
                          </m:sup>
                        </m:sSup>
                        <m:r>
                          <a:rPr lang="en-US" i="1">
                            <a:latin typeface="Cambria Math" panose="02040503050406030204" pitchFamily="18" charset="0"/>
                          </a:rPr>
                          <m:t>−1</m:t>
                        </m:r>
                      </m:num>
                      <m:den>
                        <m:r>
                          <a:rPr lang="en-US" i="1">
                            <a:latin typeface="Cambria Math" panose="02040503050406030204" pitchFamily="18" charset="0"/>
                          </a:rPr>
                          <m:t>𝑟</m:t>
                        </m:r>
                      </m:den>
                    </m:f>
                    <m:r>
                      <a:rPr lang="en-US" i="1">
                        <a:latin typeface="Cambria Math" panose="02040503050406030204" pitchFamily="18" charset="0"/>
                      </a:rPr>
                      <m:t>]</m:t>
                    </m:r>
                  </m:oMath>
                </a14:m>
                <a:endParaRPr lang="en-US" dirty="0"/>
              </a:p>
              <a:p>
                <a:pPr lvl="0">
                  <a:buClr>
                    <a:srgbClr val="94B6D2"/>
                  </a:buClr>
                </a:pPr>
                <a14:m>
                  <m:oMath xmlns:m="http://schemas.openxmlformats.org/officeDocument/2006/math">
                    <m:r>
                      <a:rPr lang="en-US" b="0" i="1" smtClean="0">
                        <a:solidFill>
                          <a:srgbClr val="775F55"/>
                        </a:solidFill>
                        <a:latin typeface="Cambria Math" panose="02040503050406030204" pitchFamily="18" charset="0"/>
                      </a:rPr>
                      <m:t>𝑚</m:t>
                    </m:r>
                    <m:r>
                      <a:rPr lang="en-US" b="0" i="1" smtClean="0">
                        <a:solidFill>
                          <a:srgbClr val="775F55"/>
                        </a:solidFill>
                        <a:latin typeface="Cambria Math" panose="02040503050406030204" pitchFamily="18" charset="0"/>
                      </a:rPr>
                      <m:t>=12;</m:t>
                    </m:r>
                    <m:r>
                      <a:rPr lang="en-US" b="0" i="1" smtClean="0">
                        <a:solidFill>
                          <a:srgbClr val="775F55"/>
                        </a:solidFill>
                        <a:latin typeface="Cambria Math" panose="02040503050406030204" pitchFamily="18" charset="0"/>
                      </a:rPr>
                      <m:t>𝑟</m:t>
                    </m:r>
                    <m:r>
                      <a:rPr lang="en-US" b="0" i="1" smtClean="0">
                        <a:solidFill>
                          <a:srgbClr val="775F55"/>
                        </a:solidFill>
                        <a:latin typeface="Cambria Math" panose="02040503050406030204" pitchFamily="18" charset="0"/>
                      </a:rPr>
                      <m:t>=5.2%=0.052;</m:t>
                    </m:r>
                    <m:r>
                      <a:rPr lang="en-US" b="0" i="1" smtClean="0">
                        <a:solidFill>
                          <a:srgbClr val="775F55"/>
                        </a:solidFill>
                        <a:latin typeface="Cambria Math" panose="02040503050406030204" pitchFamily="18" charset="0"/>
                      </a:rPr>
                      <m:t>𝑡</m:t>
                    </m:r>
                    <m:r>
                      <a:rPr lang="en-US" b="0" i="1" smtClean="0">
                        <a:solidFill>
                          <a:srgbClr val="775F55"/>
                        </a:solidFill>
                        <a:latin typeface="Cambria Math" panose="02040503050406030204" pitchFamily="18" charset="0"/>
                      </a:rPr>
                      <m:t>=20 </m:t>
                    </m:r>
                    <m:r>
                      <a:rPr lang="en-US" b="0" i="1" smtClean="0">
                        <a:solidFill>
                          <a:srgbClr val="775F55"/>
                        </a:solidFill>
                        <a:latin typeface="Cambria Math" panose="02040503050406030204" pitchFamily="18" charset="0"/>
                      </a:rPr>
                      <m:t>𝑦𝑒𝑎𝑟𝑠</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𝑃𝑀𝑇</m:t>
                    </m:r>
                    <m:r>
                      <a:rPr lang="en-US" b="0" i="1" smtClean="0">
                        <a:solidFill>
                          <a:srgbClr val="775F55"/>
                        </a:solidFill>
                        <a:latin typeface="Cambria Math" panose="02040503050406030204" pitchFamily="18" charset="0"/>
                      </a:rPr>
                      <m:t>=</m:t>
                    </m:r>
                    <m:f>
                      <m:fPr>
                        <m:ctrlPr>
                          <a:rPr lang="en-US" b="0" i="1" smtClean="0">
                            <a:solidFill>
                              <a:srgbClr val="775F55"/>
                            </a:solidFill>
                            <a:latin typeface="Cambria Math" panose="02040503050406030204" pitchFamily="18" charset="0"/>
                          </a:rPr>
                        </m:ctrlPr>
                      </m:fPr>
                      <m:num>
                        <m:r>
                          <a:rPr lang="en-US" b="0" i="1" smtClean="0">
                            <a:solidFill>
                              <a:srgbClr val="775F55"/>
                            </a:solidFill>
                            <a:latin typeface="Cambria Math" panose="02040503050406030204" pitchFamily="18" charset="0"/>
                          </a:rPr>
                          <m:t>6000</m:t>
                        </m:r>
                      </m:num>
                      <m:den>
                        <m:r>
                          <a:rPr lang="en-US" b="0" i="1" smtClean="0">
                            <a:solidFill>
                              <a:srgbClr val="775F55"/>
                            </a:solidFill>
                            <a:latin typeface="Cambria Math" panose="02040503050406030204" pitchFamily="18" charset="0"/>
                          </a:rPr>
                          <m:t>12</m:t>
                        </m:r>
                      </m:den>
                    </m:f>
                    <m:r>
                      <a:rPr lang="en-US" b="0" i="1" smtClean="0">
                        <a:solidFill>
                          <a:srgbClr val="775F55"/>
                        </a:solidFill>
                        <a:latin typeface="Cambria Math" panose="02040503050406030204" pitchFamily="18" charset="0"/>
                      </a:rPr>
                      <m:t>=$500;</m:t>
                    </m:r>
                    <m:r>
                      <a:rPr lang="en-US" b="0" i="1" smtClean="0">
                        <a:solidFill>
                          <a:srgbClr val="775F55"/>
                        </a:solidFill>
                        <a:latin typeface="Cambria Math" panose="02040503050406030204" pitchFamily="18" charset="0"/>
                      </a:rPr>
                      <m:t>𝐹𝑉</m:t>
                    </m:r>
                    <m:r>
                      <a:rPr lang="en-US" b="0" i="1" smtClean="0">
                        <a:solidFill>
                          <a:srgbClr val="775F55"/>
                        </a:solidFill>
                        <a:latin typeface="Cambria Math" panose="02040503050406030204" pitchFamily="18" charset="0"/>
                      </a:rPr>
                      <m:t>=?</m:t>
                    </m:r>
                  </m:oMath>
                </a14:m>
                <a:endParaRPr lang="en-US" sz="2800" dirty="0">
                  <a:solidFill>
                    <a:srgbClr val="775F55"/>
                  </a:solidFill>
                </a:endParaRPr>
              </a:p>
              <a:p>
                <a:pPr lvl="0">
                  <a:buClr>
                    <a:srgbClr val="94B6D2"/>
                  </a:buClr>
                </a:pPr>
                <a14:m>
                  <m:oMath xmlns:m="http://schemas.openxmlformats.org/officeDocument/2006/math">
                    <m:r>
                      <a:rPr lang="en-US" sz="2700" i="1">
                        <a:solidFill>
                          <a:srgbClr val="775F55"/>
                        </a:solidFill>
                        <a:latin typeface="Cambria Math" panose="02040503050406030204" pitchFamily="18" charset="0"/>
                      </a:rPr>
                      <m:t>𝐹𝑉</m:t>
                    </m:r>
                    <m:r>
                      <a:rPr lang="en-US" sz="2700" i="1">
                        <a:solidFill>
                          <a:srgbClr val="775F55"/>
                        </a:solidFill>
                        <a:latin typeface="Cambria Math" panose="02040503050406030204" pitchFamily="18" charset="0"/>
                      </a:rPr>
                      <m:t>=12∗500∗[</m:t>
                    </m:r>
                    <m:f>
                      <m:fPr>
                        <m:ctrlPr>
                          <a:rPr lang="en-US" sz="2700" i="1">
                            <a:solidFill>
                              <a:srgbClr val="775F55"/>
                            </a:solidFill>
                            <a:latin typeface="Cambria Math" panose="02040503050406030204" pitchFamily="18" charset="0"/>
                          </a:rPr>
                        </m:ctrlPr>
                      </m:fPr>
                      <m:num>
                        <m:sSup>
                          <m:sSupPr>
                            <m:ctrlPr>
                              <a:rPr lang="en-US" sz="2700" i="1">
                                <a:solidFill>
                                  <a:srgbClr val="775F55"/>
                                </a:solidFill>
                                <a:latin typeface="Cambria Math" panose="02040503050406030204" pitchFamily="18" charset="0"/>
                              </a:rPr>
                            </m:ctrlPr>
                          </m:sSupPr>
                          <m:e>
                            <m:r>
                              <a:rPr lang="en-US" sz="2700" i="1">
                                <a:solidFill>
                                  <a:srgbClr val="775F55"/>
                                </a:solidFill>
                                <a:latin typeface="Cambria Math" panose="02040503050406030204" pitchFamily="18" charset="0"/>
                              </a:rPr>
                              <m:t>(1+</m:t>
                            </m:r>
                            <m:f>
                              <m:fPr>
                                <m:ctrlPr>
                                  <a:rPr lang="en-US" sz="2700" i="1">
                                    <a:solidFill>
                                      <a:srgbClr val="775F55"/>
                                    </a:solidFill>
                                    <a:latin typeface="Cambria Math" panose="02040503050406030204" pitchFamily="18" charset="0"/>
                                  </a:rPr>
                                </m:ctrlPr>
                              </m:fPr>
                              <m:num>
                                <m:r>
                                  <a:rPr lang="en-US" sz="2700" b="0" i="1" smtClean="0">
                                    <a:solidFill>
                                      <a:srgbClr val="775F55"/>
                                    </a:solidFill>
                                    <a:latin typeface="Cambria Math" panose="02040503050406030204" pitchFamily="18" charset="0"/>
                                  </a:rPr>
                                  <m:t>0.052</m:t>
                                </m:r>
                              </m:num>
                              <m:den>
                                <m:r>
                                  <a:rPr lang="en-US" sz="2700" b="0" i="1" smtClean="0">
                                    <a:solidFill>
                                      <a:srgbClr val="775F55"/>
                                    </a:solidFill>
                                    <a:latin typeface="Cambria Math" panose="02040503050406030204" pitchFamily="18" charset="0"/>
                                  </a:rPr>
                                  <m:t>12</m:t>
                                </m:r>
                              </m:den>
                            </m:f>
                            <m:r>
                              <a:rPr lang="en-US" sz="2700" i="1">
                                <a:solidFill>
                                  <a:srgbClr val="775F55"/>
                                </a:solidFill>
                                <a:latin typeface="Cambria Math" panose="02040503050406030204" pitchFamily="18" charset="0"/>
                              </a:rPr>
                              <m:t>)</m:t>
                            </m:r>
                          </m:e>
                          <m:sup>
                            <m:r>
                              <a:rPr lang="en-US" sz="2700" b="0" i="1" smtClean="0">
                                <a:solidFill>
                                  <a:srgbClr val="775F55"/>
                                </a:solidFill>
                                <a:latin typeface="Cambria Math" panose="02040503050406030204" pitchFamily="18" charset="0"/>
                              </a:rPr>
                              <m:t>12∗20</m:t>
                            </m:r>
                          </m:sup>
                        </m:sSup>
                        <m:r>
                          <a:rPr lang="en-US" sz="2700" i="1">
                            <a:solidFill>
                              <a:srgbClr val="775F55"/>
                            </a:solidFill>
                            <a:latin typeface="Cambria Math" panose="02040503050406030204" pitchFamily="18" charset="0"/>
                          </a:rPr>
                          <m:t>−1</m:t>
                        </m:r>
                      </m:num>
                      <m:den>
                        <m:r>
                          <a:rPr lang="en-US" sz="2700" b="0" i="1" smtClean="0">
                            <a:solidFill>
                              <a:srgbClr val="775F55"/>
                            </a:solidFill>
                            <a:latin typeface="Cambria Math" panose="02040503050406030204" pitchFamily="18" charset="0"/>
                          </a:rPr>
                          <m:t>0.052</m:t>
                        </m:r>
                      </m:den>
                    </m:f>
                    <m:r>
                      <a:rPr lang="en-US" sz="2700" i="1">
                        <a:solidFill>
                          <a:srgbClr val="775F55"/>
                        </a:solidFill>
                        <a:latin typeface="Cambria Math" panose="02040503050406030204" pitchFamily="18" charset="0"/>
                      </a:rPr>
                      <m:t>]</m:t>
                    </m:r>
                  </m:oMath>
                </a14:m>
                <a:r>
                  <a:rPr lang="en-US" sz="2700" dirty="0">
                    <a:solidFill>
                      <a:srgbClr val="775F55"/>
                    </a:solidFill>
                  </a:rPr>
                  <a:t> </a:t>
                </a:r>
                <a14:m>
                  <m:oMath xmlns:m="http://schemas.openxmlformats.org/officeDocument/2006/math">
                    <m:r>
                      <a:rPr lang="en-US" sz="2700" i="1">
                        <a:solidFill>
                          <a:srgbClr val="775F55"/>
                        </a:solidFill>
                        <a:latin typeface="Cambria Math" panose="02040503050406030204" pitchFamily="18" charset="0"/>
                      </a:rPr>
                      <m:t>=6000∗[</m:t>
                    </m:r>
                    <m:f>
                      <m:fPr>
                        <m:ctrlPr>
                          <a:rPr lang="en-US" sz="2700" i="1">
                            <a:solidFill>
                              <a:srgbClr val="775F55"/>
                            </a:solidFill>
                            <a:latin typeface="Cambria Math" panose="02040503050406030204" pitchFamily="18" charset="0"/>
                          </a:rPr>
                        </m:ctrlPr>
                      </m:fPr>
                      <m:num>
                        <m:sSup>
                          <m:sSupPr>
                            <m:ctrlPr>
                              <a:rPr lang="en-US" sz="2700" i="1">
                                <a:solidFill>
                                  <a:srgbClr val="775F55"/>
                                </a:solidFill>
                                <a:latin typeface="Cambria Math" panose="02040503050406030204" pitchFamily="18" charset="0"/>
                              </a:rPr>
                            </m:ctrlPr>
                          </m:sSupPr>
                          <m:e>
                            <m:r>
                              <a:rPr lang="en-US" sz="2700" i="1">
                                <a:solidFill>
                                  <a:srgbClr val="775F55"/>
                                </a:solidFill>
                                <a:latin typeface="Cambria Math" panose="02040503050406030204" pitchFamily="18" charset="0"/>
                              </a:rPr>
                              <m:t>(1+0.004333333)</m:t>
                            </m:r>
                          </m:e>
                          <m:sup>
                            <m:r>
                              <a:rPr lang="en-US" sz="2700" i="1">
                                <a:solidFill>
                                  <a:srgbClr val="775F55"/>
                                </a:solidFill>
                                <a:latin typeface="Cambria Math" panose="02040503050406030204" pitchFamily="18" charset="0"/>
                              </a:rPr>
                              <m:t>240</m:t>
                            </m:r>
                          </m:sup>
                        </m:sSup>
                        <m:r>
                          <a:rPr lang="en-US" sz="2700" i="1">
                            <a:solidFill>
                              <a:srgbClr val="775F55"/>
                            </a:solidFill>
                            <a:latin typeface="Cambria Math" panose="02040503050406030204" pitchFamily="18" charset="0"/>
                          </a:rPr>
                          <m:t>−1</m:t>
                        </m:r>
                      </m:num>
                      <m:den>
                        <m:r>
                          <a:rPr lang="en-US" sz="2700" i="1">
                            <a:solidFill>
                              <a:srgbClr val="775F55"/>
                            </a:solidFill>
                            <a:latin typeface="Cambria Math" panose="02040503050406030204" pitchFamily="18" charset="0"/>
                          </a:rPr>
                          <m:t>0.052</m:t>
                        </m:r>
                      </m:den>
                    </m:f>
                    <m:r>
                      <a:rPr lang="en-US" sz="2700" i="1">
                        <a:solidFill>
                          <a:srgbClr val="775F55"/>
                        </a:solidFill>
                        <a:latin typeface="Cambria Math" panose="02040503050406030204" pitchFamily="18" charset="0"/>
                      </a:rPr>
                      <m:t>]</m:t>
                    </m:r>
                  </m:oMath>
                </a14:m>
                <a:endParaRPr lang="en-US" sz="2700" dirty="0">
                  <a:solidFill>
                    <a:srgbClr val="775F55"/>
                  </a:solidFill>
                </a:endParaRPr>
              </a:p>
              <a:p>
                <a:pPr lvl="0">
                  <a:buClr>
                    <a:srgbClr val="94B6D2"/>
                  </a:buClr>
                </a:pPr>
                <a14:m>
                  <m:oMath xmlns:m="http://schemas.openxmlformats.org/officeDocument/2006/math">
                    <m:r>
                      <a:rPr lang="en-US" sz="2700" i="1">
                        <a:solidFill>
                          <a:srgbClr val="775F55"/>
                        </a:solidFill>
                        <a:latin typeface="Cambria Math" panose="02040503050406030204" pitchFamily="18" charset="0"/>
                      </a:rPr>
                      <m:t>=6000∗</m:t>
                    </m:r>
                    <m:d>
                      <m:dPr>
                        <m:begChr m:val="["/>
                        <m:endChr m:val="]"/>
                        <m:ctrlPr>
                          <a:rPr lang="en-US" sz="2700" i="1">
                            <a:solidFill>
                              <a:srgbClr val="775F55"/>
                            </a:solidFill>
                            <a:latin typeface="Cambria Math" panose="02040503050406030204" pitchFamily="18" charset="0"/>
                          </a:rPr>
                        </m:ctrlPr>
                      </m:dPr>
                      <m:e>
                        <m:f>
                          <m:fPr>
                            <m:ctrlPr>
                              <a:rPr lang="en-US" sz="2700" i="1">
                                <a:solidFill>
                                  <a:srgbClr val="775F55"/>
                                </a:solidFill>
                                <a:latin typeface="Cambria Math" panose="02040503050406030204" pitchFamily="18" charset="0"/>
                              </a:rPr>
                            </m:ctrlPr>
                          </m:fPr>
                          <m:num>
                            <m:sSup>
                              <m:sSupPr>
                                <m:ctrlPr>
                                  <a:rPr lang="en-US" sz="2700" i="1">
                                    <a:solidFill>
                                      <a:srgbClr val="775F55"/>
                                    </a:solidFill>
                                    <a:latin typeface="Cambria Math" panose="02040503050406030204" pitchFamily="18" charset="0"/>
                                  </a:rPr>
                                </m:ctrlPr>
                              </m:sSupPr>
                              <m:e>
                                <m:d>
                                  <m:dPr>
                                    <m:ctrlPr>
                                      <a:rPr lang="en-US" sz="2700" i="1">
                                        <a:solidFill>
                                          <a:srgbClr val="775F55"/>
                                        </a:solidFill>
                                        <a:latin typeface="Cambria Math" panose="02040503050406030204" pitchFamily="18" charset="0"/>
                                      </a:rPr>
                                    </m:ctrlPr>
                                  </m:dPr>
                                  <m:e>
                                    <m:r>
                                      <a:rPr lang="en-US" sz="2700" i="1">
                                        <a:solidFill>
                                          <a:srgbClr val="775F55"/>
                                        </a:solidFill>
                                        <a:latin typeface="Cambria Math" panose="02040503050406030204" pitchFamily="18" charset="0"/>
                                      </a:rPr>
                                      <m:t>1.004333333</m:t>
                                    </m:r>
                                  </m:e>
                                </m:d>
                              </m:e>
                              <m:sup>
                                <m:r>
                                  <a:rPr lang="en-US" sz="2700" i="1">
                                    <a:solidFill>
                                      <a:srgbClr val="775F55"/>
                                    </a:solidFill>
                                    <a:latin typeface="Cambria Math" panose="02040503050406030204" pitchFamily="18" charset="0"/>
                                  </a:rPr>
                                  <m:t>240</m:t>
                                </m:r>
                              </m:sup>
                            </m:sSup>
                            <m:r>
                              <a:rPr lang="en-US" sz="2700" i="1">
                                <a:solidFill>
                                  <a:srgbClr val="775F55"/>
                                </a:solidFill>
                                <a:latin typeface="Cambria Math" panose="02040503050406030204" pitchFamily="18" charset="0"/>
                              </a:rPr>
                              <m:t>−1</m:t>
                            </m:r>
                          </m:num>
                          <m:den>
                            <m:r>
                              <a:rPr lang="en-US" sz="2700" i="1">
                                <a:solidFill>
                                  <a:srgbClr val="775F55"/>
                                </a:solidFill>
                                <a:latin typeface="Cambria Math" panose="02040503050406030204" pitchFamily="18" charset="0"/>
                              </a:rPr>
                              <m:t>0.052</m:t>
                            </m:r>
                          </m:den>
                        </m:f>
                      </m:e>
                    </m:d>
                    <m:r>
                      <a:rPr lang="en-US" sz="2700" i="1">
                        <a:solidFill>
                          <a:srgbClr val="775F55"/>
                        </a:solidFill>
                        <a:latin typeface="Cambria Math" panose="02040503050406030204" pitchFamily="18" charset="0"/>
                      </a:rPr>
                      <m:t>=6000∗[</m:t>
                    </m:r>
                    <m:f>
                      <m:fPr>
                        <m:ctrlPr>
                          <a:rPr lang="en-US" sz="2700" i="1">
                            <a:solidFill>
                              <a:srgbClr val="775F55"/>
                            </a:solidFill>
                            <a:latin typeface="Cambria Math" panose="02040503050406030204" pitchFamily="18" charset="0"/>
                          </a:rPr>
                        </m:ctrlPr>
                      </m:fPr>
                      <m:num>
                        <m:r>
                          <a:rPr lang="en-US" sz="2700" b="0" i="1" smtClean="0">
                            <a:solidFill>
                              <a:srgbClr val="775F55"/>
                            </a:solidFill>
                            <a:latin typeface="Cambria Math" panose="02040503050406030204" pitchFamily="18" charset="0"/>
                          </a:rPr>
                          <m:t>2.822867339</m:t>
                        </m:r>
                        <m:r>
                          <a:rPr lang="en-US" sz="2700" i="1">
                            <a:solidFill>
                              <a:srgbClr val="775F55"/>
                            </a:solidFill>
                            <a:latin typeface="Cambria Math" panose="02040503050406030204" pitchFamily="18" charset="0"/>
                          </a:rPr>
                          <m:t>−1</m:t>
                        </m:r>
                      </m:num>
                      <m:den>
                        <m:r>
                          <a:rPr lang="en-US" sz="2700" i="1">
                            <a:solidFill>
                              <a:srgbClr val="775F55"/>
                            </a:solidFill>
                            <a:latin typeface="Cambria Math" panose="02040503050406030204" pitchFamily="18" charset="0"/>
                          </a:rPr>
                          <m:t>0.052</m:t>
                        </m:r>
                      </m:den>
                    </m:f>
                    <m:r>
                      <a:rPr lang="en-US" sz="2700" i="1">
                        <a:solidFill>
                          <a:srgbClr val="775F55"/>
                        </a:solidFill>
                        <a:latin typeface="Cambria Math" panose="02040503050406030204" pitchFamily="18" charset="0"/>
                      </a:rPr>
                      <m:t>]</m:t>
                    </m:r>
                  </m:oMath>
                </a14:m>
                <a:endParaRPr lang="en-US" sz="2700" dirty="0">
                  <a:solidFill>
                    <a:srgbClr val="775F55"/>
                  </a:solidFill>
                </a:endParaRPr>
              </a:p>
              <a:p>
                <a:pPr lvl="0">
                  <a:buClr>
                    <a:srgbClr val="94B6D2"/>
                  </a:buClr>
                </a:pPr>
                <a14:m>
                  <m:oMath xmlns:m="http://schemas.openxmlformats.org/officeDocument/2006/math">
                    <m:r>
                      <a:rPr lang="en-US" sz="2700" b="0" i="1" smtClean="0">
                        <a:solidFill>
                          <a:srgbClr val="775F55"/>
                        </a:solidFill>
                        <a:latin typeface="Cambria Math" panose="02040503050406030204" pitchFamily="18" charset="0"/>
                      </a:rPr>
                      <m:t>=</m:t>
                    </m:r>
                    <m:r>
                      <a:rPr lang="en-US" sz="2700" i="1">
                        <a:solidFill>
                          <a:srgbClr val="775F55"/>
                        </a:solidFill>
                        <a:latin typeface="Cambria Math" panose="02040503050406030204" pitchFamily="18" charset="0"/>
                      </a:rPr>
                      <m:t>6000∗</m:t>
                    </m:r>
                    <m:f>
                      <m:fPr>
                        <m:ctrlPr>
                          <a:rPr lang="en-US" sz="2700" i="1">
                            <a:solidFill>
                              <a:srgbClr val="775F55"/>
                            </a:solidFill>
                            <a:latin typeface="Cambria Math" panose="02040503050406030204" pitchFamily="18" charset="0"/>
                          </a:rPr>
                        </m:ctrlPr>
                      </m:fPr>
                      <m:num>
                        <m:r>
                          <a:rPr lang="en-US" sz="2700" b="0" i="1" smtClean="0">
                            <a:solidFill>
                              <a:srgbClr val="775F55"/>
                            </a:solidFill>
                            <a:latin typeface="Cambria Math" panose="02040503050406030204" pitchFamily="18" charset="0"/>
                          </a:rPr>
                          <m:t>1</m:t>
                        </m:r>
                        <m:r>
                          <a:rPr lang="en-US" sz="2700" i="1">
                            <a:solidFill>
                              <a:srgbClr val="775F55"/>
                            </a:solidFill>
                            <a:latin typeface="Cambria Math" panose="02040503050406030204" pitchFamily="18" charset="0"/>
                          </a:rPr>
                          <m:t>.822867339</m:t>
                        </m:r>
                      </m:num>
                      <m:den>
                        <m:r>
                          <a:rPr lang="en-US" sz="2700" i="1">
                            <a:solidFill>
                              <a:srgbClr val="775F55"/>
                            </a:solidFill>
                            <a:latin typeface="Cambria Math" panose="02040503050406030204" pitchFamily="18" charset="0"/>
                          </a:rPr>
                          <m:t>0.052</m:t>
                        </m:r>
                      </m:den>
                    </m:f>
                    <m:r>
                      <a:rPr lang="en-US" sz="2700" b="0" i="1" smtClean="0">
                        <a:solidFill>
                          <a:srgbClr val="775F55"/>
                        </a:solidFill>
                        <a:latin typeface="Cambria Math" panose="02040503050406030204" pitchFamily="18" charset="0"/>
                      </a:rPr>
                      <m:t>=</m:t>
                    </m:r>
                    <m:f>
                      <m:fPr>
                        <m:ctrlPr>
                          <a:rPr lang="en-US" sz="2700" i="1">
                            <a:solidFill>
                              <a:srgbClr val="775F55"/>
                            </a:solidFill>
                            <a:latin typeface="Cambria Math" panose="02040503050406030204" pitchFamily="18" charset="0"/>
                          </a:rPr>
                        </m:ctrlPr>
                      </m:fPr>
                      <m:num>
                        <m:r>
                          <a:rPr lang="en-US" sz="2700" b="0" i="1" smtClean="0">
                            <a:solidFill>
                              <a:srgbClr val="775F55"/>
                            </a:solidFill>
                            <a:latin typeface="Cambria Math" panose="02040503050406030204" pitchFamily="18" charset="0"/>
                          </a:rPr>
                          <m:t>6000∗</m:t>
                        </m:r>
                        <m:r>
                          <a:rPr lang="en-US" sz="2700" i="1">
                            <a:solidFill>
                              <a:srgbClr val="775F55"/>
                            </a:solidFill>
                            <a:latin typeface="Cambria Math" panose="02040503050406030204" pitchFamily="18" charset="0"/>
                          </a:rPr>
                          <m:t>1.822867339</m:t>
                        </m:r>
                      </m:num>
                      <m:den>
                        <m:r>
                          <a:rPr lang="en-US" sz="2700" i="1">
                            <a:solidFill>
                              <a:srgbClr val="775F55"/>
                            </a:solidFill>
                            <a:latin typeface="Cambria Math" panose="02040503050406030204" pitchFamily="18" charset="0"/>
                          </a:rPr>
                          <m:t>0.052</m:t>
                        </m:r>
                      </m:den>
                    </m:f>
                    <m:r>
                      <a:rPr lang="en-US" sz="2700" b="0" i="1" smtClean="0">
                        <a:solidFill>
                          <a:srgbClr val="775F55"/>
                        </a:solidFill>
                        <a:latin typeface="Cambria Math" panose="02040503050406030204" pitchFamily="18" charset="0"/>
                      </a:rPr>
                      <m:t>=</m:t>
                    </m:r>
                    <m:f>
                      <m:fPr>
                        <m:ctrlPr>
                          <a:rPr lang="en-US" sz="2700" i="1">
                            <a:solidFill>
                              <a:srgbClr val="775F55"/>
                            </a:solidFill>
                            <a:latin typeface="Cambria Math" panose="02040503050406030204" pitchFamily="18" charset="0"/>
                          </a:rPr>
                        </m:ctrlPr>
                      </m:fPr>
                      <m:num>
                        <m:r>
                          <a:rPr lang="en-US" sz="2700" b="0" i="1" smtClean="0">
                            <a:solidFill>
                              <a:srgbClr val="775F55"/>
                            </a:solidFill>
                            <a:latin typeface="Cambria Math" panose="02040503050406030204" pitchFamily="18" charset="0"/>
                          </a:rPr>
                          <m:t>10937.20403</m:t>
                        </m:r>
                      </m:num>
                      <m:den>
                        <m:r>
                          <a:rPr lang="en-US" sz="2700" i="1">
                            <a:solidFill>
                              <a:srgbClr val="775F55"/>
                            </a:solidFill>
                            <a:latin typeface="Cambria Math" panose="02040503050406030204" pitchFamily="18" charset="0"/>
                          </a:rPr>
                          <m:t>0.052</m:t>
                        </m:r>
                      </m:den>
                    </m:f>
                    <m:r>
                      <a:rPr lang="en-US" sz="2700" b="0" i="1" smtClean="0">
                        <a:solidFill>
                          <a:srgbClr val="775F55"/>
                        </a:solidFill>
                        <a:latin typeface="Cambria Math" panose="02040503050406030204" pitchFamily="18" charset="0"/>
                      </a:rPr>
                      <m:t>=210,330.84</m:t>
                    </m:r>
                  </m:oMath>
                </a14:m>
                <a:endParaRPr lang="en-US" sz="2700" dirty="0">
                  <a:solidFill>
                    <a:srgbClr val="775F55"/>
                  </a:solidFill>
                </a:endParaRPr>
              </a:p>
              <a:p>
                <a:pPr lvl="0">
                  <a:buClr>
                    <a:srgbClr val="94B6D2"/>
                  </a:buClr>
                </a:pPr>
                <a14:m>
                  <m:oMath xmlns:m="http://schemas.openxmlformats.org/officeDocument/2006/math">
                    <m:d>
                      <m:dPr>
                        <m:ctrlPr>
                          <a:rPr lang="en-US" b="0" i="1" smtClean="0">
                            <a:solidFill>
                              <a:srgbClr val="775F55"/>
                            </a:solidFill>
                            <a:latin typeface="Cambria Math" panose="02040503050406030204" pitchFamily="18" charset="0"/>
                          </a:rPr>
                        </m:ctrlPr>
                      </m:dPr>
                      <m:e>
                        <m:r>
                          <a:rPr lang="en-US" b="0" i="1" smtClean="0">
                            <a:solidFill>
                              <a:srgbClr val="775F55"/>
                            </a:solidFill>
                            <a:latin typeface="Cambria Math" panose="02040503050406030204" pitchFamily="18" charset="0"/>
                          </a:rPr>
                          <m:t>𝑏</m:t>
                        </m:r>
                        <m:r>
                          <a:rPr lang="en-US" b="0" i="1" smtClean="0">
                            <a:solidFill>
                              <a:srgbClr val="775F55"/>
                            </a:solidFill>
                            <a:latin typeface="Cambria Math" panose="02040503050406030204" pitchFamily="18" charset="0"/>
                          </a:rPr>
                          <m:t>.</m:t>
                        </m:r>
                      </m:e>
                    </m:d>
                    <m:r>
                      <a:rPr lang="en-US" b="0" i="1" smtClean="0">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𝐹𝑉</m:t>
                    </m:r>
                    <m:r>
                      <a:rPr lang="en-US" i="1" smtClean="0">
                        <a:solidFill>
                          <a:srgbClr val="775F55"/>
                        </a:solidFill>
                        <a:latin typeface="Cambria Math" panose="02040503050406030204" pitchFamily="18" charset="0"/>
                        <a:ea typeface="Cambria Math" panose="02040503050406030204" pitchFamily="18" charset="0"/>
                      </a:rPr>
                      <m:t>≅</m:t>
                    </m:r>
                    <m:r>
                      <a:rPr lang="en-US" b="1" i="1" smtClean="0">
                        <a:solidFill>
                          <a:srgbClr val="00B050"/>
                        </a:solidFill>
                        <a:latin typeface="Cambria Math" panose="02040503050406030204" pitchFamily="18" charset="0"/>
                        <a:ea typeface="Cambria Math" panose="02040503050406030204" pitchFamily="18" charset="0"/>
                      </a:rPr>
                      <m:t>$</m:t>
                    </m:r>
                    <m:r>
                      <a:rPr lang="en-US" b="1" i="1" smtClean="0">
                        <a:solidFill>
                          <a:srgbClr val="00B050"/>
                        </a:solidFill>
                        <a:latin typeface="Cambria Math" panose="02040503050406030204" pitchFamily="18" charset="0"/>
                        <a:ea typeface="Cambria Math" panose="02040503050406030204" pitchFamily="18" charset="0"/>
                      </a:rPr>
                      <m:t>𝟐𝟏𝟎</m:t>
                    </m:r>
                    <m:r>
                      <a:rPr lang="en-US" b="1" i="1" smtClean="0">
                        <a:solidFill>
                          <a:srgbClr val="00B050"/>
                        </a:solidFill>
                        <a:latin typeface="Cambria Math" panose="02040503050406030204" pitchFamily="18" charset="0"/>
                        <a:ea typeface="Cambria Math" panose="02040503050406030204" pitchFamily="18" charset="0"/>
                      </a:rPr>
                      <m:t>,</m:t>
                    </m:r>
                    <m:r>
                      <a:rPr lang="en-US" b="1" i="1" smtClean="0">
                        <a:solidFill>
                          <a:srgbClr val="00B050"/>
                        </a:solidFill>
                        <a:latin typeface="Cambria Math" panose="02040503050406030204" pitchFamily="18" charset="0"/>
                        <a:ea typeface="Cambria Math" panose="02040503050406030204" pitchFamily="18" charset="0"/>
                      </a:rPr>
                      <m:t>𝟑𝟑𝟏</m:t>
                    </m:r>
                  </m:oMath>
                </a14:m>
                <a:endParaRPr lang="en-US" b="1"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719071"/>
                <a:ext cx="11210524" cy="4926428"/>
              </a:xfrm>
              <a:blipFill rotWithShape="0">
                <a:blip r:embed="rId2"/>
                <a:stretch>
                  <a:fillRect l="-218" t="-866"/>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3			2</a:t>
            </a:r>
          </a:p>
        </p:txBody>
      </p:sp>
    </p:spTree>
    <p:extLst>
      <p:ext uri="{BB962C8B-B14F-4D97-AF65-F5344CB8AC3E}">
        <p14:creationId xmlns:p14="http://schemas.microsoft.com/office/powerpoint/2010/main" val="4130701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507999" y="1719071"/>
                <a:ext cx="11210524" cy="4900670"/>
              </a:xfrm>
            </p:spPr>
            <p:txBody>
              <a:bodyPr>
                <a:normAutofit lnSpcReduction="10000"/>
              </a:bodyPr>
              <a:lstStyle/>
              <a:p>
                <a:pPr lvl="0">
                  <a:buClr>
                    <a:srgbClr val="94B6D2"/>
                  </a:buClr>
                </a:pPr>
                <a:r>
                  <a:rPr lang="en-US" dirty="0">
                    <a:solidFill>
                      <a:srgbClr val="775F55"/>
                    </a:solidFill>
                  </a:rPr>
                  <a:t>(4.) </a:t>
                </a:r>
                <a:r>
                  <a:rPr lang="en-US" dirty="0" err="1">
                    <a:solidFill>
                      <a:srgbClr val="775F55"/>
                    </a:solidFill>
                  </a:rPr>
                  <a:t>Bama</a:t>
                </a:r>
                <a:r>
                  <a:rPr lang="en-US" dirty="0">
                    <a:solidFill>
                      <a:srgbClr val="775F55"/>
                    </a:solidFill>
                  </a:rPr>
                  <a:t> Auto Sales is offering a financing package consisting of a 3.5% APR compounded monthly for a term of 4 years for their used vehicles. Rebecca wants her monthly payments to be at most $400. What is the maximum amount that she should finance? Round your answers to the nearest dollar.</a:t>
                </a:r>
              </a:p>
              <a:p>
                <a:pPr lvl="0">
                  <a:buClr>
                    <a:srgbClr val="94B6D2"/>
                  </a:buClr>
                </a:pPr>
                <a:r>
                  <a:rPr lang="en-US" dirty="0">
                    <a:solidFill>
                      <a:srgbClr val="775F55"/>
                    </a:solidFill>
                  </a:rPr>
                  <a:t>Solution </a:t>
                </a:r>
              </a:p>
              <a:p>
                <a:pPr lvl="0">
                  <a:buClr>
                    <a:srgbClr val="94B6D2"/>
                  </a:buClr>
                </a:pPr>
                <a14:m>
                  <m:oMath xmlns:m="http://schemas.openxmlformats.org/officeDocument/2006/math">
                    <m:r>
                      <a:rPr lang="en-US" sz="2200" i="1" dirty="0">
                        <a:solidFill>
                          <a:srgbClr val="775F55"/>
                        </a:solidFill>
                        <a:latin typeface="Cambria Math" panose="02040503050406030204" pitchFamily="18" charset="0"/>
                      </a:rPr>
                      <m:t>𝑃𝑉</m:t>
                    </m:r>
                    <m:r>
                      <a:rPr lang="en-US" sz="2200" i="1" dirty="0">
                        <a:solidFill>
                          <a:srgbClr val="775F55"/>
                        </a:solidFill>
                        <a:latin typeface="Cambria Math" panose="02040503050406030204" pitchFamily="18" charset="0"/>
                      </a:rPr>
                      <m:t> = ?;</m:t>
                    </m:r>
                    <m:r>
                      <a:rPr lang="en-US" sz="2200" b="0" i="1" dirty="0" smtClean="0">
                        <a:solidFill>
                          <a:srgbClr val="775F55"/>
                        </a:solidFill>
                        <a:latin typeface="Cambria Math" panose="02040503050406030204" pitchFamily="18" charset="0"/>
                      </a:rPr>
                      <m:t>𝑃𝑀𝑇</m:t>
                    </m:r>
                    <m:r>
                      <a:rPr lang="en-US" sz="2200" b="0" i="1" dirty="0" smtClean="0">
                        <a:solidFill>
                          <a:srgbClr val="775F55"/>
                        </a:solidFill>
                        <a:latin typeface="Cambria Math" panose="02040503050406030204" pitchFamily="18" charset="0"/>
                      </a:rPr>
                      <m:t>=$400; </m:t>
                    </m:r>
                    <m:r>
                      <a:rPr lang="en-US" sz="2200" i="1" dirty="0">
                        <a:solidFill>
                          <a:srgbClr val="775F55"/>
                        </a:solidFill>
                        <a:latin typeface="Cambria Math" panose="02040503050406030204" pitchFamily="18" charset="0"/>
                      </a:rPr>
                      <m:t>𝑡</m:t>
                    </m:r>
                    <m:r>
                      <a:rPr lang="en-US" sz="2200" i="1" dirty="0">
                        <a:solidFill>
                          <a:srgbClr val="775F55"/>
                        </a:solidFill>
                        <a:latin typeface="Cambria Math" panose="02040503050406030204" pitchFamily="18" charset="0"/>
                      </a:rPr>
                      <m:t>=4 </m:t>
                    </m:r>
                    <m:r>
                      <a:rPr lang="en-US" sz="2200" i="1" dirty="0">
                        <a:solidFill>
                          <a:srgbClr val="775F55"/>
                        </a:solidFill>
                        <a:latin typeface="Cambria Math" panose="02040503050406030204" pitchFamily="18" charset="0"/>
                      </a:rPr>
                      <m:t>𝑦𝑒𝑎𝑟𝑠</m:t>
                    </m:r>
                    <m:r>
                      <a:rPr lang="en-US" sz="2200" i="1" dirty="0">
                        <a:solidFill>
                          <a:srgbClr val="775F55"/>
                        </a:solidFill>
                        <a:latin typeface="Cambria Math" panose="02040503050406030204" pitchFamily="18" charset="0"/>
                      </a:rPr>
                      <m:t>;</m:t>
                    </m:r>
                    <m:r>
                      <a:rPr lang="en-US" sz="2200" i="1" dirty="0">
                        <a:solidFill>
                          <a:srgbClr val="775F55"/>
                        </a:solidFill>
                        <a:latin typeface="Cambria Math" panose="02040503050406030204" pitchFamily="18" charset="0"/>
                      </a:rPr>
                      <m:t>𝑟</m:t>
                    </m:r>
                    <m:r>
                      <a:rPr lang="en-US" sz="2200" i="1" dirty="0">
                        <a:solidFill>
                          <a:srgbClr val="775F55"/>
                        </a:solidFill>
                        <a:latin typeface="Cambria Math" panose="02040503050406030204" pitchFamily="18" charset="0"/>
                      </a:rPr>
                      <m:t>=3.5% = 0.035; </m:t>
                    </m:r>
                    <m:r>
                      <a:rPr lang="en-US" sz="2200" i="1" dirty="0">
                        <a:solidFill>
                          <a:srgbClr val="775F55"/>
                        </a:solidFill>
                        <a:latin typeface="Cambria Math" panose="02040503050406030204" pitchFamily="18" charset="0"/>
                      </a:rPr>
                      <m:t>𝑚</m:t>
                    </m:r>
                    <m:r>
                      <a:rPr lang="en-US" sz="2200" i="1" dirty="0">
                        <a:solidFill>
                          <a:srgbClr val="775F55"/>
                        </a:solidFill>
                        <a:latin typeface="Cambria Math" panose="02040503050406030204" pitchFamily="18" charset="0"/>
                      </a:rPr>
                      <m:t> = 12</m:t>
                    </m:r>
                  </m:oMath>
                </a14:m>
                <a:endParaRPr lang="en-US" sz="2200"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m:t>
                    </m:r>
                    <m:r>
                      <a:rPr lang="en-US" sz="2800" b="0" i="1" smtClean="0">
                        <a:solidFill>
                          <a:srgbClr val="775F55"/>
                        </a:solidFill>
                        <a:latin typeface="Cambria Math" panose="02040503050406030204" pitchFamily="18" charset="0"/>
                      </a:rPr>
                      <m:t>𝑉</m:t>
                    </m:r>
                    <m:r>
                      <a:rPr lang="en-US" sz="2800" i="1">
                        <a:solidFill>
                          <a:srgbClr val="775F55"/>
                        </a:solidFill>
                        <a:latin typeface="Cambria Math" panose="02040503050406030204" pitchFamily="18" charset="0"/>
                      </a:rPr>
                      <m:t>=</m:t>
                    </m:r>
                    <m:f>
                      <m:fPr>
                        <m:ctrlPr>
                          <a:rPr lang="en-US" sz="2800" i="1" smtClean="0">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𝑚</m:t>
                        </m:r>
                        <m:r>
                          <a:rPr lang="en-US" sz="2800" b="0" i="1" smtClean="0">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𝑃𝑀𝑇</m:t>
                        </m:r>
                      </m:num>
                      <m:den>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r>
                          <m:rPr>
                            <m:nor/>
                          </m:rPr>
                          <a:rPr lang="en-US" dirty="0">
                            <a:solidFill>
                              <a:srgbClr val="775F55"/>
                            </a:solidFill>
                          </a:rPr>
                          <m:t> </m:t>
                        </m:r>
                      </m:den>
                    </m:f>
                  </m:oMath>
                </a14:m>
                <a:endParaRPr lang="en-US" dirty="0">
                  <a:solidFill>
                    <a:srgbClr val="775F55"/>
                  </a:solidFill>
                </a:endParaRP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507999" y="1719071"/>
                <a:ext cx="11210524" cy="4900670"/>
              </a:xfrm>
              <a:blipFill rotWithShape="0">
                <a:blip r:embed="rId2"/>
                <a:stretch>
                  <a:fillRect l="-218" t="-1617"/>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Question 4</a:t>
            </a:r>
          </a:p>
        </p:txBody>
      </p:sp>
    </p:spTree>
    <p:extLst>
      <p:ext uri="{BB962C8B-B14F-4D97-AF65-F5344CB8AC3E}">
        <p14:creationId xmlns:p14="http://schemas.microsoft.com/office/powerpoint/2010/main" val="266806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p:cNvSpPr>
                <a:spLocks noGrp="1"/>
              </p:cNvSpPr>
              <p:nvPr>
                <p:ph idx="1"/>
              </p:nvPr>
            </p:nvSpPr>
            <p:spPr>
              <a:xfrm>
                <a:off x="507999" y="1719071"/>
                <a:ext cx="11210524" cy="4900670"/>
              </a:xfrm>
            </p:spPr>
            <p:txBody>
              <a:bodyPr>
                <a:normAutofit fontScale="92500"/>
              </a:bodyPr>
              <a:lstStyle/>
              <a:p>
                <a:pPr lvl="0">
                  <a:buClr>
                    <a:srgbClr val="94B6D2"/>
                  </a:buClr>
                </a:pPr>
                <a14:m>
                  <m:oMath xmlns:m="http://schemas.openxmlformats.org/officeDocument/2006/math">
                    <m:r>
                      <a:rPr lang="en-US" sz="3200" i="1" smtClean="0">
                        <a:solidFill>
                          <a:srgbClr val="775F55"/>
                        </a:solidFill>
                        <a:latin typeface="Cambria Math" panose="02040503050406030204" pitchFamily="18" charset="0"/>
                      </a:rPr>
                      <m:t>𝑃</m:t>
                    </m:r>
                    <m:r>
                      <a:rPr lang="en-US" sz="3200" b="0" i="1" smtClean="0">
                        <a:solidFill>
                          <a:srgbClr val="775F55"/>
                        </a:solidFill>
                        <a:latin typeface="Cambria Math" panose="02040503050406030204" pitchFamily="18" charset="0"/>
                      </a:rPr>
                      <m:t>𝑉</m:t>
                    </m:r>
                    <m:r>
                      <a:rPr lang="en-US" sz="3200" i="1">
                        <a:solidFill>
                          <a:srgbClr val="775F55"/>
                        </a:solidFill>
                        <a:latin typeface="Cambria Math" panose="02040503050406030204" pitchFamily="18" charset="0"/>
                      </a:rPr>
                      <m:t>=</m:t>
                    </m:r>
                    <m:f>
                      <m:fPr>
                        <m:ctrlPr>
                          <a:rPr lang="en-US" sz="3200" i="1" smtClean="0">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𝑚</m:t>
                        </m:r>
                        <m:r>
                          <a:rPr lang="en-US" sz="3200" b="0" i="1" smtClean="0">
                            <a:solidFill>
                              <a:srgbClr val="775F55"/>
                            </a:solidFill>
                            <a:latin typeface="Cambria Math" panose="02040503050406030204" pitchFamily="18" charset="0"/>
                          </a:rPr>
                          <m:t>∗</m:t>
                        </m:r>
                        <m:r>
                          <a:rPr lang="en-US" sz="3200" b="0" i="1" smtClean="0">
                            <a:solidFill>
                              <a:srgbClr val="775F55"/>
                            </a:solidFill>
                            <a:latin typeface="Cambria Math" panose="02040503050406030204" pitchFamily="18" charset="0"/>
                          </a:rPr>
                          <m:t>𝑃𝑀𝑇</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𝑟</m:t>
                            </m:r>
                          </m:num>
                          <m:den>
                            <m:r>
                              <a:rPr lang="en-US" sz="3200" i="1">
                                <a:solidFill>
                                  <a:srgbClr val="775F55"/>
                                </a:solidFill>
                                <a:latin typeface="Cambria Math" panose="02040503050406030204" pitchFamily="18" charset="0"/>
                              </a:rPr>
                              <m:t>1−</m:t>
                            </m:r>
                            <m:sSup>
                              <m:sSupPr>
                                <m:ctrlPr>
                                  <a:rPr lang="en-US" sz="3200" i="1">
                                    <a:solidFill>
                                      <a:srgbClr val="775F55"/>
                                    </a:solidFill>
                                    <a:latin typeface="Cambria Math" panose="02040503050406030204" pitchFamily="18" charset="0"/>
                                  </a:rPr>
                                </m:ctrlPr>
                              </m:sSupPr>
                              <m:e>
                                <m:d>
                                  <m:dPr>
                                    <m:ctrlPr>
                                      <a:rPr lang="en-US" sz="3200" i="1">
                                        <a:solidFill>
                                          <a:srgbClr val="775F55"/>
                                        </a:solidFill>
                                        <a:latin typeface="Cambria Math" panose="02040503050406030204" pitchFamily="18" charset="0"/>
                                      </a:rPr>
                                    </m:ctrlPr>
                                  </m:dPr>
                                  <m:e>
                                    <m:r>
                                      <a:rPr lang="en-US" sz="3200" i="1">
                                        <a:solidFill>
                                          <a:srgbClr val="775F55"/>
                                        </a:solidFill>
                                        <a:latin typeface="Cambria Math" panose="02040503050406030204" pitchFamily="18" charset="0"/>
                                      </a:rPr>
                                      <m:t>1+</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𝑟</m:t>
                                        </m:r>
                                      </m:num>
                                      <m:den>
                                        <m:r>
                                          <a:rPr lang="en-US" sz="3200" i="1">
                                            <a:solidFill>
                                              <a:srgbClr val="775F55"/>
                                            </a:solidFill>
                                            <a:latin typeface="Cambria Math" panose="02040503050406030204" pitchFamily="18" charset="0"/>
                                          </a:rPr>
                                          <m:t>𝑚</m:t>
                                        </m:r>
                                      </m:den>
                                    </m:f>
                                  </m:e>
                                </m:d>
                              </m:e>
                              <m:sup>
                                <m:r>
                                  <a:rPr lang="en-US" sz="3200" i="1">
                                    <a:solidFill>
                                      <a:srgbClr val="775F55"/>
                                    </a:solidFill>
                                    <a:latin typeface="Cambria Math" panose="02040503050406030204" pitchFamily="18" charset="0"/>
                                  </a:rPr>
                                  <m:t>−</m:t>
                                </m:r>
                                <m:r>
                                  <a:rPr lang="en-US" sz="3200" i="1">
                                    <a:solidFill>
                                      <a:srgbClr val="775F55"/>
                                    </a:solidFill>
                                    <a:latin typeface="Cambria Math" panose="02040503050406030204" pitchFamily="18" charset="0"/>
                                  </a:rPr>
                                  <m:t>𝑚𝑡</m:t>
                                </m:r>
                              </m:sup>
                            </m:sSup>
                          </m:den>
                        </m:f>
                        <m:r>
                          <a:rPr lang="en-US" sz="3200" i="1">
                            <a:solidFill>
                              <a:srgbClr val="775F55"/>
                            </a:solidFill>
                            <a:latin typeface="Cambria Math" panose="02040503050406030204" pitchFamily="18" charset="0"/>
                          </a:rPr>
                          <m:t>]</m:t>
                        </m:r>
                        <m:r>
                          <m:rPr>
                            <m:nor/>
                          </m:rPr>
                          <a:rPr lang="en-US" sz="3200" dirty="0">
                            <a:solidFill>
                              <a:srgbClr val="775F55"/>
                            </a:solidFill>
                          </a:rPr>
                          <m:t> </m:t>
                        </m:r>
                      </m:den>
                    </m:f>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12</m:t>
                        </m:r>
                        <m:r>
                          <a:rPr lang="en-US" sz="3200" i="1">
                            <a:solidFill>
                              <a:srgbClr val="775F55"/>
                            </a:solidFill>
                            <a:latin typeface="Cambria Math" panose="02040503050406030204" pitchFamily="18" charset="0"/>
                          </a:rPr>
                          <m:t>∗</m:t>
                        </m:r>
                        <m:r>
                          <a:rPr lang="en-US" sz="3200" b="0" i="1" smtClean="0">
                            <a:solidFill>
                              <a:srgbClr val="775F55"/>
                            </a:solidFill>
                            <a:latin typeface="Cambria Math" panose="02040503050406030204" pitchFamily="18" charset="0"/>
                          </a:rPr>
                          <m:t>400</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0.035</m:t>
                            </m:r>
                          </m:num>
                          <m:den>
                            <m:r>
                              <a:rPr lang="en-US" sz="3200" i="1">
                                <a:solidFill>
                                  <a:srgbClr val="775F55"/>
                                </a:solidFill>
                                <a:latin typeface="Cambria Math" panose="02040503050406030204" pitchFamily="18" charset="0"/>
                              </a:rPr>
                              <m:t>1−</m:t>
                            </m:r>
                            <m:sSup>
                              <m:sSupPr>
                                <m:ctrlPr>
                                  <a:rPr lang="en-US" sz="3200" i="1">
                                    <a:solidFill>
                                      <a:srgbClr val="775F55"/>
                                    </a:solidFill>
                                    <a:latin typeface="Cambria Math" panose="02040503050406030204" pitchFamily="18" charset="0"/>
                                  </a:rPr>
                                </m:ctrlPr>
                              </m:sSupPr>
                              <m:e>
                                <m:d>
                                  <m:dPr>
                                    <m:ctrlPr>
                                      <a:rPr lang="en-US" sz="3200" i="1">
                                        <a:solidFill>
                                          <a:srgbClr val="775F55"/>
                                        </a:solidFill>
                                        <a:latin typeface="Cambria Math" panose="02040503050406030204" pitchFamily="18" charset="0"/>
                                      </a:rPr>
                                    </m:ctrlPr>
                                  </m:dPr>
                                  <m:e>
                                    <m:r>
                                      <a:rPr lang="en-US" sz="3200" i="1">
                                        <a:solidFill>
                                          <a:srgbClr val="775F55"/>
                                        </a:solidFill>
                                        <a:latin typeface="Cambria Math" panose="02040503050406030204" pitchFamily="18" charset="0"/>
                                      </a:rPr>
                                      <m:t>1+</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0.035</m:t>
                                        </m:r>
                                      </m:num>
                                      <m:den>
                                        <m:r>
                                          <a:rPr lang="en-US" sz="3200" b="0" i="1" smtClean="0">
                                            <a:solidFill>
                                              <a:srgbClr val="775F55"/>
                                            </a:solidFill>
                                            <a:latin typeface="Cambria Math" panose="02040503050406030204" pitchFamily="18" charset="0"/>
                                          </a:rPr>
                                          <m:t>12</m:t>
                                        </m:r>
                                      </m:den>
                                    </m:f>
                                  </m:e>
                                </m:d>
                              </m:e>
                              <m:sup>
                                <m:r>
                                  <a:rPr lang="en-US" sz="3200" i="1">
                                    <a:solidFill>
                                      <a:srgbClr val="775F55"/>
                                    </a:solidFill>
                                    <a:latin typeface="Cambria Math" panose="02040503050406030204" pitchFamily="18" charset="0"/>
                                  </a:rPr>
                                  <m:t>−</m:t>
                                </m:r>
                                <m:r>
                                  <a:rPr lang="en-US" sz="3200" b="0" i="1" smtClean="0">
                                    <a:solidFill>
                                      <a:srgbClr val="775F55"/>
                                    </a:solidFill>
                                    <a:latin typeface="Cambria Math" panose="02040503050406030204" pitchFamily="18" charset="0"/>
                                  </a:rPr>
                                  <m:t>12∗4</m:t>
                                </m:r>
                              </m:sup>
                            </m:sSup>
                          </m:den>
                        </m:f>
                        <m:r>
                          <a:rPr lang="en-US" sz="3200" i="1">
                            <a:solidFill>
                              <a:srgbClr val="775F55"/>
                            </a:solidFill>
                            <a:latin typeface="Cambria Math" panose="02040503050406030204" pitchFamily="18" charset="0"/>
                          </a:rPr>
                          <m:t>]</m:t>
                        </m:r>
                        <m:r>
                          <m:rPr>
                            <m:nor/>
                          </m:rPr>
                          <a:rPr lang="en-US" sz="3200" dirty="0">
                            <a:solidFill>
                              <a:srgbClr val="775F55"/>
                            </a:solidFill>
                          </a:rPr>
                          <m:t> </m:t>
                        </m:r>
                      </m:den>
                    </m:f>
                    <m:r>
                      <a:rPr lang="en-US" sz="3200" b="0" i="1" dirty="0" smtClean="0">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4800</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0.035</m:t>
                            </m:r>
                          </m:num>
                          <m:den>
                            <m:r>
                              <a:rPr lang="en-US" sz="3200" i="1">
                                <a:solidFill>
                                  <a:srgbClr val="775F55"/>
                                </a:solidFill>
                                <a:latin typeface="Cambria Math" panose="02040503050406030204" pitchFamily="18" charset="0"/>
                              </a:rPr>
                              <m:t>1−</m:t>
                            </m:r>
                            <m:sSup>
                              <m:sSupPr>
                                <m:ctrlPr>
                                  <a:rPr lang="en-US" sz="3200" i="1">
                                    <a:solidFill>
                                      <a:srgbClr val="775F55"/>
                                    </a:solidFill>
                                    <a:latin typeface="Cambria Math" panose="02040503050406030204" pitchFamily="18" charset="0"/>
                                  </a:rPr>
                                </m:ctrlPr>
                              </m:sSupPr>
                              <m:e>
                                <m:d>
                                  <m:dPr>
                                    <m:ctrlPr>
                                      <a:rPr lang="en-US" sz="3200" i="1">
                                        <a:solidFill>
                                          <a:srgbClr val="775F55"/>
                                        </a:solidFill>
                                        <a:latin typeface="Cambria Math" panose="02040503050406030204" pitchFamily="18" charset="0"/>
                                      </a:rPr>
                                    </m:ctrlPr>
                                  </m:dPr>
                                  <m:e>
                                    <m:r>
                                      <a:rPr lang="en-US" sz="3200" i="1">
                                        <a:solidFill>
                                          <a:srgbClr val="775F55"/>
                                        </a:solidFill>
                                        <a:latin typeface="Cambria Math" panose="02040503050406030204" pitchFamily="18" charset="0"/>
                                      </a:rPr>
                                      <m:t>1+</m:t>
                                    </m:r>
                                    <m:r>
                                      <a:rPr lang="en-US" sz="3200" b="0" i="1" smtClean="0">
                                        <a:solidFill>
                                          <a:srgbClr val="775F55"/>
                                        </a:solidFill>
                                        <a:latin typeface="Cambria Math" panose="02040503050406030204" pitchFamily="18" charset="0"/>
                                      </a:rPr>
                                      <m:t>0.002916667</m:t>
                                    </m:r>
                                  </m:e>
                                </m:d>
                              </m:e>
                              <m:sup>
                                <m:r>
                                  <a:rPr lang="en-US" sz="3200" i="1">
                                    <a:solidFill>
                                      <a:srgbClr val="775F55"/>
                                    </a:solidFill>
                                    <a:latin typeface="Cambria Math" panose="02040503050406030204" pitchFamily="18" charset="0"/>
                                  </a:rPr>
                                  <m:t>−</m:t>
                                </m:r>
                                <m:r>
                                  <a:rPr lang="en-US" sz="3200" b="0" i="1" smtClean="0">
                                    <a:solidFill>
                                      <a:srgbClr val="775F55"/>
                                    </a:solidFill>
                                    <a:latin typeface="Cambria Math" panose="02040503050406030204" pitchFamily="18" charset="0"/>
                                  </a:rPr>
                                  <m:t>48</m:t>
                                </m:r>
                              </m:sup>
                            </m:sSup>
                          </m:den>
                        </m:f>
                        <m:r>
                          <a:rPr lang="en-US" sz="3200" i="1">
                            <a:solidFill>
                              <a:srgbClr val="775F55"/>
                            </a:solidFill>
                            <a:latin typeface="Cambria Math" panose="02040503050406030204" pitchFamily="18" charset="0"/>
                          </a:rPr>
                          <m:t>]</m:t>
                        </m:r>
                        <m:r>
                          <m:rPr>
                            <m:nor/>
                          </m:rPr>
                          <a:rPr lang="en-US" sz="3200" dirty="0">
                            <a:solidFill>
                              <a:srgbClr val="775F55"/>
                            </a:solidFill>
                          </a:rPr>
                          <m:t> </m:t>
                        </m:r>
                      </m:den>
                    </m:f>
                  </m:oMath>
                </a14:m>
                <a:endParaRPr lang="en-US" sz="3200" dirty="0">
                  <a:solidFill>
                    <a:srgbClr val="775F55"/>
                  </a:solidFill>
                </a:endParaRPr>
              </a:p>
              <a:p>
                <a:pPr lvl="0">
                  <a:buClr>
                    <a:srgbClr val="94B6D2"/>
                  </a:buClr>
                </a:pPr>
                <a14:m>
                  <m:oMath xmlns:m="http://schemas.openxmlformats.org/officeDocument/2006/math">
                    <m:r>
                      <a:rPr lang="en-US" sz="3200" i="1" dirty="0">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4800</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0.035</m:t>
                            </m:r>
                          </m:num>
                          <m:den>
                            <m:r>
                              <a:rPr lang="en-US" sz="3200" i="1">
                                <a:solidFill>
                                  <a:srgbClr val="775F55"/>
                                </a:solidFill>
                                <a:latin typeface="Cambria Math" panose="02040503050406030204" pitchFamily="18" charset="0"/>
                              </a:rPr>
                              <m:t>1−</m:t>
                            </m:r>
                            <m:sSup>
                              <m:sSupPr>
                                <m:ctrlPr>
                                  <a:rPr lang="en-US" sz="3200" i="1">
                                    <a:solidFill>
                                      <a:srgbClr val="775F55"/>
                                    </a:solidFill>
                                    <a:latin typeface="Cambria Math" panose="02040503050406030204" pitchFamily="18" charset="0"/>
                                  </a:rPr>
                                </m:ctrlPr>
                              </m:sSupPr>
                              <m:e>
                                <m:d>
                                  <m:dPr>
                                    <m:ctrlPr>
                                      <a:rPr lang="en-US" sz="3200" i="1">
                                        <a:solidFill>
                                          <a:srgbClr val="775F55"/>
                                        </a:solidFill>
                                        <a:latin typeface="Cambria Math" panose="02040503050406030204" pitchFamily="18" charset="0"/>
                                      </a:rPr>
                                    </m:ctrlPr>
                                  </m:dPr>
                                  <m:e>
                                    <m:r>
                                      <a:rPr lang="en-US" sz="3200" i="1">
                                        <a:solidFill>
                                          <a:srgbClr val="775F55"/>
                                        </a:solidFill>
                                        <a:latin typeface="Cambria Math" panose="02040503050406030204" pitchFamily="18" charset="0"/>
                                      </a:rPr>
                                      <m:t>1.00291666</m:t>
                                    </m:r>
                                    <m:r>
                                      <a:rPr lang="en-US" sz="3200" b="0" i="1" smtClean="0">
                                        <a:solidFill>
                                          <a:srgbClr val="775F55"/>
                                        </a:solidFill>
                                        <a:latin typeface="Cambria Math" panose="02040503050406030204" pitchFamily="18" charset="0"/>
                                      </a:rPr>
                                      <m:t>7</m:t>
                                    </m:r>
                                  </m:e>
                                </m:d>
                              </m:e>
                              <m:sup>
                                <m:r>
                                  <a:rPr lang="en-US" sz="3200" i="1">
                                    <a:solidFill>
                                      <a:srgbClr val="775F55"/>
                                    </a:solidFill>
                                    <a:latin typeface="Cambria Math" panose="02040503050406030204" pitchFamily="18" charset="0"/>
                                  </a:rPr>
                                  <m:t>−48</m:t>
                                </m:r>
                              </m:sup>
                            </m:sSup>
                          </m:den>
                        </m:f>
                        <m:r>
                          <a:rPr lang="en-US" sz="3200" i="1">
                            <a:solidFill>
                              <a:srgbClr val="775F55"/>
                            </a:solidFill>
                            <a:latin typeface="Cambria Math" panose="02040503050406030204" pitchFamily="18" charset="0"/>
                          </a:rPr>
                          <m:t>]</m:t>
                        </m:r>
                        <m:r>
                          <m:rPr>
                            <m:nor/>
                          </m:rPr>
                          <a:rPr lang="en-US" sz="3200" dirty="0">
                            <a:solidFill>
                              <a:srgbClr val="775F55"/>
                            </a:solidFill>
                          </a:rPr>
                          <m:t> </m:t>
                        </m:r>
                      </m:den>
                    </m:f>
                    <m:r>
                      <a:rPr lang="en-US" sz="3200" i="1" dirty="0">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4800</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0.035</m:t>
                            </m:r>
                          </m:num>
                          <m:den>
                            <m:r>
                              <a:rPr lang="en-US" sz="3200" i="1">
                                <a:solidFill>
                                  <a:srgbClr val="775F55"/>
                                </a:solidFill>
                                <a:latin typeface="Cambria Math" panose="02040503050406030204" pitchFamily="18" charset="0"/>
                              </a:rPr>
                              <m:t>1−</m:t>
                            </m:r>
                            <m:r>
                              <a:rPr lang="en-US" sz="3200" b="0" i="1" smtClean="0">
                                <a:solidFill>
                                  <a:srgbClr val="775F55"/>
                                </a:solidFill>
                                <a:latin typeface="Cambria Math" panose="02040503050406030204" pitchFamily="18" charset="0"/>
                              </a:rPr>
                              <m:t>0.869535403</m:t>
                            </m:r>
                          </m:den>
                        </m:f>
                        <m:r>
                          <a:rPr lang="en-US" sz="3200" i="1">
                            <a:solidFill>
                              <a:srgbClr val="775F55"/>
                            </a:solidFill>
                            <a:latin typeface="Cambria Math" panose="02040503050406030204" pitchFamily="18" charset="0"/>
                          </a:rPr>
                          <m:t>]</m:t>
                        </m:r>
                        <m:r>
                          <m:rPr>
                            <m:nor/>
                          </m:rPr>
                          <a:rPr lang="en-US" sz="3200" dirty="0">
                            <a:solidFill>
                              <a:srgbClr val="775F55"/>
                            </a:solidFill>
                          </a:rPr>
                          <m:t> </m:t>
                        </m:r>
                      </m:den>
                    </m:f>
                    <m:r>
                      <a:rPr lang="en-US" sz="3200" b="0" i="1" dirty="0" smtClean="0">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4800</m:t>
                        </m:r>
                      </m:num>
                      <m:den>
                        <m:r>
                          <a:rPr lang="en-US" sz="3200" i="1">
                            <a:solidFill>
                              <a:srgbClr val="775F55"/>
                            </a:solidFill>
                            <a:latin typeface="Cambria Math" panose="02040503050406030204" pitchFamily="18" charset="0"/>
                          </a:rPr>
                          <m:t>[</m:t>
                        </m:r>
                        <m:f>
                          <m:fPr>
                            <m:ctrlPr>
                              <a:rPr lang="en-US" sz="3200" i="1">
                                <a:solidFill>
                                  <a:srgbClr val="775F55"/>
                                </a:solidFill>
                                <a:latin typeface="Cambria Math" panose="02040503050406030204" pitchFamily="18" charset="0"/>
                              </a:rPr>
                            </m:ctrlPr>
                          </m:fPr>
                          <m:num>
                            <m:r>
                              <a:rPr lang="en-US" sz="3200" i="1">
                                <a:solidFill>
                                  <a:srgbClr val="775F55"/>
                                </a:solidFill>
                                <a:latin typeface="Cambria Math" panose="02040503050406030204" pitchFamily="18" charset="0"/>
                              </a:rPr>
                              <m:t>0.035</m:t>
                            </m:r>
                          </m:num>
                          <m:den>
                            <m:r>
                              <a:rPr lang="en-US" sz="3200" b="0" i="1" smtClean="0">
                                <a:solidFill>
                                  <a:srgbClr val="775F55"/>
                                </a:solidFill>
                                <a:latin typeface="Cambria Math" panose="02040503050406030204" pitchFamily="18" charset="0"/>
                              </a:rPr>
                              <m:t>0.130464596</m:t>
                            </m:r>
                          </m:den>
                        </m:f>
                        <m:r>
                          <a:rPr lang="en-US" sz="3200" i="1">
                            <a:solidFill>
                              <a:srgbClr val="775F55"/>
                            </a:solidFill>
                            <a:latin typeface="Cambria Math" panose="02040503050406030204" pitchFamily="18" charset="0"/>
                          </a:rPr>
                          <m:t>]</m:t>
                        </m:r>
                        <m:r>
                          <m:rPr>
                            <m:nor/>
                          </m:rPr>
                          <a:rPr lang="en-US" sz="3200" dirty="0">
                            <a:solidFill>
                              <a:srgbClr val="775F55"/>
                            </a:solidFill>
                          </a:rPr>
                          <m:t> </m:t>
                        </m:r>
                      </m:den>
                    </m:f>
                  </m:oMath>
                </a14:m>
                <a:endParaRPr lang="en-US" sz="3200" dirty="0">
                  <a:solidFill>
                    <a:srgbClr val="775F55"/>
                  </a:solidFill>
                </a:endParaRPr>
              </a:p>
              <a:p>
                <a:pPr lvl="0">
                  <a:buClr>
                    <a:srgbClr val="94B6D2"/>
                  </a:buClr>
                </a:pPr>
                <a14:m>
                  <m:oMath xmlns:m="http://schemas.openxmlformats.org/officeDocument/2006/math">
                    <m:r>
                      <a:rPr lang="en-US" sz="3200" b="0" i="1" smtClean="0">
                        <a:solidFill>
                          <a:srgbClr val="775F55"/>
                        </a:solidFill>
                        <a:latin typeface="Cambria Math" panose="02040503050406030204" pitchFamily="18" charset="0"/>
                      </a:rPr>
                      <m:t>=</m:t>
                    </m:r>
                    <m:f>
                      <m:fPr>
                        <m:ctrlPr>
                          <a:rPr lang="en-US" sz="3200" b="0" i="1" smtClean="0">
                            <a:solidFill>
                              <a:srgbClr val="775F55"/>
                            </a:solidFill>
                            <a:latin typeface="Cambria Math" panose="02040503050406030204" pitchFamily="18" charset="0"/>
                          </a:rPr>
                        </m:ctrlPr>
                      </m:fPr>
                      <m:num>
                        <m:r>
                          <a:rPr lang="en-US" sz="3200" b="0" i="1" smtClean="0">
                            <a:solidFill>
                              <a:srgbClr val="775F55"/>
                            </a:solidFill>
                            <a:latin typeface="Cambria Math" panose="02040503050406030204" pitchFamily="18" charset="0"/>
                          </a:rPr>
                          <m:t>4800</m:t>
                        </m:r>
                      </m:num>
                      <m:den>
                        <m:r>
                          <a:rPr lang="en-US" sz="3200" b="0" i="1" smtClean="0">
                            <a:solidFill>
                              <a:srgbClr val="775F55"/>
                            </a:solidFill>
                            <a:latin typeface="Cambria Math" panose="02040503050406030204" pitchFamily="18" charset="0"/>
                          </a:rPr>
                          <m:t>1</m:t>
                        </m:r>
                      </m:den>
                    </m:f>
                    <m:r>
                      <a:rPr lang="en-US" sz="3200" b="0" i="1" smtClean="0">
                        <a:solidFill>
                          <a:srgbClr val="775F55"/>
                        </a:solidFill>
                        <a:latin typeface="Cambria Math" panose="02040503050406030204" pitchFamily="18" charset="0"/>
                        <a:ea typeface="Cambria Math" panose="02040503050406030204" pitchFamily="18" charset="0"/>
                      </a:rPr>
                      <m:t>÷</m:t>
                    </m:r>
                    <m:f>
                      <m:fPr>
                        <m:ctrlPr>
                          <a:rPr lang="en-US" sz="3200" b="0" i="1" smtClean="0">
                            <a:solidFill>
                              <a:srgbClr val="775F55"/>
                            </a:solidFill>
                            <a:latin typeface="Cambria Math" panose="02040503050406030204" pitchFamily="18" charset="0"/>
                            <a:ea typeface="Cambria Math" panose="02040503050406030204" pitchFamily="18" charset="0"/>
                          </a:rPr>
                        </m:ctrlPr>
                      </m:fPr>
                      <m:num>
                        <m:r>
                          <a:rPr lang="en-US" sz="3200" b="0" i="1" smtClean="0">
                            <a:solidFill>
                              <a:srgbClr val="775F55"/>
                            </a:solidFill>
                            <a:latin typeface="Cambria Math" panose="02040503050406030204" pitchFamily="18" charset="0"/>
                            <a:ea typeface="Cambria Math" panose="02040503050406030204" pitchFamily="18" charset="0"/>
                          </a:rPr>
                          <m:t>0.035</m:t>
                        </m:r>
                      </m:num>
                      <m:den>
                        <m:r>
                          <a:rPr lang="en-US" sz="3200" b="0" i="1" smtClean="0">
                            <a:solidFill>
                              <a:srgbClr val="775F55"/>
                            </a:solidFill>
                            <a:latin typeface="Cambria Math" panose="02040503050406030204" pitchFamily="18" charset="0"/>
                            <a:ea typeface="Cambria Math" panose="02040503050406030204" pitchFamily="18" charset="0"/>
                          </a:rPr>
                          <m:t>0.130464596</m:t>
                        </m:r>
                      </m:den>
                    </m:f>
                  </m:oMath>
                </a14:m>
                <a:endParaRPr lang="en-US" sz="3200" dirty="0">
                  <a:solidFill>
                    <a:srgbClr val="775F55"/>
                  </a:solidFill>
                </a:endParaRPr>
              </a:p>
              <a:p>
                <a:pPr lvl="0">
                  <a:buClr>
                    <a:srgbClr val="94B6D2"/>
                  </a:buClr>
                </a:pPr>
                <a14:m>
                  <m:oMath xmlns:m="http://schemas.openxmlformats.org/officeDocument/2006/math">
                    <m:r>
                      <a:rPr lang="en-US" sz="3000" i="1">
                        <a:solidFill>
                          <a:srgbClr val="775F55"/>
                        </a:solidFill>
                        <a:latin typeface="Cambria Math" panose="02040503050406030204" pitchFamily="18" charset="0"/>
                      </a:rPr>
                      <m:t>=</m:t>
                    </m:r>
                    <m:f>
                      <m:fPr>
                        <m:ctrlPr>
                          <a:rPr lang="en-US" sz="3000" i="1">
                            <a:solidFill>
                              <a:srgbClr val="775F55"/>
                            </a:solidFill>
                            <a:latin typeface="Cambria Math" panose="02040503050406030204" pitchFamily="18" charset="0"/>
                          </a:rPr>
                        </m:ctrlPr>
                      </m:fPr>
                      <m:num>
                        <m:r>
                          <a:rPr lang="en-US" sz="3000" i="1">
                            <a:solidFill>
                              <a:srgbClr val="775F55"/>
                            </a:solidFill>
                            <a:latin typeface="Cambria Math" panose="02040503050406030204" pitchFamily="18" charset="0"/>
                          </a:rPr>
                          <m:t>4800</m:t>
                        </m:r>
                      </m:num>
                      <m:den>
                        <m:r>
                          <a:rPr lang="en-US" sz="3000" i="1">
                            <a:solidFill>
                              <a:srgbClr val="775F55"/>
                            </a:solidFill>
                            <a:latin typeface="Cambria Math" panose="02040503050406030204" pitchFamily="18" charset="0"/>
                          </a:rPr>
                          <m:t>1</m:t>
                        </m:r>
                      </m:den>
                    </m:f>
                    <m:r>
                      <a:rPr lang="en-US" sz="3000" i="1" smtClean="0">
                        <a:solidFill>
                          <a:srgbClr val="775F55"/>
                        </a:solidFill>
                        <a:latin typeface="Cambria Math" panose="02040503050406030204" pitchFamily="18" charset="0"/>
                        <a:ea typeface="Cambria Math" panose="02040503050406030204" pitchFamily="18" charset="0"/>
                      </a:rPr>
                      <m:t>×</m:t>
                    </m:r>
                    <m:f>
                      <m:fPr>
                        <m:ctrlPr>
                          <a:rPr lang="en-US" sz="3000" i="1">
                            <a:solidFill>
                              <a:srgbClr val="775F55"/>
                            </a:solidFill>
                            <a:latin typeface="Cambria Math" panose="02040503050406030204" pitchFamily="18" charset="0"/>
                            <a:ea typeface="Cambria Math" panose="02040503050406030204" pitchFamily="18" charset="0"/>
                          </a:rPr>
                        </m:ctrlPr>
                      </m:fPr>
                      <m:num>
                        <m:r>
                          <a:rPr lang="en-US" sz="3000" i="1">
                            <a:solidFill>
                              <a:srgbClr val="775F55"/>
                            </a:solidFill>
                            <a:latin typeface="Cambria Math" panose="02040503050406030204" pitchFamily="18" charset="0"/>
                            <a:ea typeface="Cambria Math" panose="02040503050406030204" pitchFamily="18" charset="0"/>
                          </a:rPr>
                          <m:t>0.</m:t>
                        </m:r>
                        <m:r>
                          <a:rPr lang="en-US" sz="3000" b="0" i="1" smtClean="0">
                            <a:solidFill>
                              <a:srgbClr val="775F55"/>
                            </a:solidFill>
                            <a:latin typeface="Cambria Math" panose="02040503050406030204" pitchFamily="18" charset="0"/>
                            <a:ea typeface="Cambria Math" panose="02040503050406030204" pitchFamily="18" charset="0"/>
                          </a:rPr>
                          <m:t>130464596</m:t>
                        </m:r>
                      </m:num>
                      <m:den>
                        <m:r>
                          <a:rPr lang="en-US" sz="3000" i="1">
                            <a:solidFill>
                              <a:srgbClr val="775F55"/>
                            </a:solidFill>
                            <a:latin typeface="Cambria Math" panose="02040503050406030204" pitchFamily="18" charset="0"/>
                            <a:ea typeface="Cambria Math" panose="02040503050406030204" pitchFamily="18" charset="0"/>
                          </a:rPr>
                          <m:t>0.</m:t>
                        </m:r>
                        <m:r>
                          <a:rPr lang="en-US" sz="3000" b="0" i="1" smtClean="0">
                            <a:solidFill>
                              <a:srgbClr val="775F55"/>
                            </a:solidFill>
                            <a:latin typeface="Cambria Math" panose="02040503050406030204" pitchFamily="18" charset="0"/>
                            <a:ea typeface="Cambria Math" panose="02040503050406030204" pitchFamily="18" charset="0"/>
                          </a:rPr>
                          <m:t>035</m:t>
                        </m:r>
                      </m:den>
                    </m:f>
                    <m:r>
                      <a:rPr lang="en-US" sz="3000" i="1">
                        <a:solidFill>
                          <a:srgbClr val="775F55"/>
                        </a:solidFill>
                        <a:latin typeface="Cambria Math" panose="02040503050406030204" pitchFamily="18" charset="0"/>
                      </a:rPr>
                      <m:t>=</m:t>
                    </m:r>
                    <m:f>
                      <m:fPr>
                        <m:ctrlPr>
                          <a:rPr lang="en-US" sz="3000" i="1">
                            <a:solidFill>
                              <a:srgbClr val="775F55"/>
                            </a:solidFill>
                            <a:latin typeface="Cambria Math" panose="02040503050406030204" pitchFamily="18" charset="0"/>
                          </a:rPr>
                        </m:ctrlPr>
                      </m:fPr>
                      <m:num>
                        <m:r>
                          <a:rPr lang="en-US" sz="3000" i="1">
                            <a:solidFill>
                              <a:srgbClr val="775F55"/>
                            </a:solidFill>
                            <a:latin typeface="Cambria Math" panose="02040503050406030204" pitchFamily="18" charset="0"/>
                          </a:rPr>
                          <m:t>4800</m:t>
                        </m:r>
                        <m:r>
                          <a:rPr lang="en-US" sz="3000" b="0" i="1" smtClean="0">
                            <a:solidFill>
                              <a:srgbClr val="775F55"/>
                            </a:solidFill>
                            <a:latin typeface="Cambria Math" panose="02040503050406030204" pitchFamily="18" charset="0"/>
                          </a:rPr>
                          <m:t>∗</m:t>
                        </m:r>
                        <m:r>
                          <a:rPr lang="en-US" sz="3000" i="1">
                            <a:solidFill>
                              <a:srgbClr val="775F55"/>
                            </a:solidFill>
                            <a:latin typeface="Cambria Math" panose="02040503050406030204" pitchFamily="18" charset="0"/>
                            <a:ea typeface="Cambria Math" panose="02040503050406030204" pitchFamily="18" charset="0"/>
                          </a:rPr>
                          <m:t>0.130464596</m:t>
                        </m:r>
                      </m:num>
                      <m:den>
                        <m:r>
                          <a:rPr lang="en-US" sz="3000" i="1">
                            <a:solidFill>
                              <a:srgbClr val="775F55"/>
                            </a:solidFill>
                            <a:latin typeface="Cambria Math" panose="02040503050406030204" pitchFamily="18" charset="0"/>
                          </a:rPr>
                          <m:t>1</m:t>
                        </m:r>
                        <m:r>
                          <a:rPr lang="en-US" sz="3000" b="0" i="1" smtClean="0">
                            <a:solidFill>
                              <a:srgbClr val="775F55"/>
                            </a:solidFill>
                            <a:latin typeface="Cambria Math" panose="02040503050406030204" pitchFamily="18" charset="0"/>
                          </a:rPr>
                          <m:t>∗0.035</m:t>
                        </m:r>
                      </m:den>
                    </m:f>
                    <m:r>
                      <a:rPr lang="en-US" sz="3000" b="0" i="1" smtClean="0">
                        <a:solidFill>
                          <a:srgbClr val="775F55"/>
                        </a:solidFill>
                        <a:latin typeface="Cambria Math" panose="02040503050406030204" pitchFamily="18" charset="0"/>
                      </a:rPr>
                      <m:t>=</m:t>
                    </m:r>
                    <m:f>
                      <m:fPr>
                        <m:ctrlPr>
                          <a:rPr lang="en-US" sz="3000" i="1">
                            <a:solidFill>
                              <a:srgbClr val="775F55"/>
                            </a:solidFill>
                            <a:latin typeface="Cambria Math" panose="02040503050406030204" pitchFamily="18" charset="0"/>
                          </a:rPr>
                        </m:ctrlPr>
                      </m:fPr>
                      <m:num>
                        <m:r>
                          <a:rPr lang="en-US" sz="3000" b="0" i="1" smtClean="0">
                            <a:solidFill>
                              <a:srgbClr val="775F55"/>
                            </a:solidFill>
                            <a:latin typeface="Cambria Math" panose="02040503050406030204" pitchFamily="18" charset="0"/>
                          </a:rPr>
                          <m:t>626.2300608</m:t>
                        </m:r>
                      </m:num>
                      <m:den>
                        <m:r>
                          <a:rPr lang="en-US" sz="3000" i="1">
                            <a:solidFill>
                              <a:srgbClr val="775F55"/>
                            </a:solidFill>
                            <a:latin typeface="Cambria Math" panose="02040503050406030204" pitchFamily="18" charset="0"/>
                          </a:rPr>
                          <m:t>0.035</m:t>
                        </m:r>
                      </m:den>
                    </m:f>
                    <m:r>
                      <a:rPr lang="en-US" sz="3000" b="0" i="0" smtClean="0">
                        <a:solidFill>
                          <a:srgbClr val="775F55"/>
                        </a:solidFill>
                        <a:latin typeface="Cambria Math" panose="02040503050406030204" pitchFamily="18" charset="0"/>
                      </a:rPr>
                      <m:t>=$17892.29</m:t>
                    </m:r>
                  </m:oMath>
                </a14:m>
                <a:endParaRPr lang="en-US" sz="3000" dirty="0">
                  <a:solidFill>
                    <a:srgbClr val="775F55"/>
                  </a:solidFill>
                </a:endParaRPr>
              </a:p>
              <a:p>
                <a:pPr lvl="0">
                  <a:buClr>
                    <a:srgbClr val="94B6D2"/>
                  </a:buClr>
                </a:pPr>
                <a14:m>
                  <m:oMath xmlns:m="http://schemas.openxmlformats.org/officeDocument/2006/math">
                    <m:r>
                      <a:rPr lang="en-US" sz="3200" b="0" i="1" smtClean="0">
                        <a:solidFill>
                          <a:srgbClr val="775F55"/>
                        </a:solidFill>
                        <a:latin typeface="Cambria Math" panose="02040503050406030204" pitchFamily="18" charset="0"/>
                      </a:rPr>
                      <m:t>𝑃𝑉</m:t>
                    </m:r>
                    <m:r>
                      <a:rPr lang="en-US" sz="3200" b="0" i="1" smtClean="0">
                        <a:solidFill>
                          <a:srgbClr val="775F55"/>
                        </a:solidFill>
                        <a:latin typeface="Cambria Math" panose="02040503050406030204" pitchFamily="18" charset="0"/>
                        <a:ea typeface="Cambria Math" panose="02040503050406030204" pitchFamily="18" charset="0"/>
                      </a:rPr>
                      <m:t>≅</m:t>
                    </m:r>
                    <m:r>
                      <a:rPr lang="en-US" sz="3200" b="1" i="1" smtClean="0">
                        <a:solidFill>
                          <a:srgbClr val="00B050"/>
                        </a:solidFill>
                        <a:latin typeface="Cambria Math" panose="02040503050406030204" pitchFamily="18" charset="0"/>
                        <a:ea typeface="Cambria Math" panose="02040503050406030204" pitchFamily="18" charset="0"/>
                      </a:rPr>
                      <m:t>$</m:t>
                    </m:r>
                    <m:r>
                      <a:rPr lang="en-US" sz="3200" b="1" i="1" smtClean="0">
                        <a:solidFill>
                          <a:srgbClr val="00B050"/>
                        </a:solidFill>
                        <a:latin typeface="Cambria Math" panose="02040503050406030204" pitchFamily="18" charset="0"/>
                        <a:ea typeface="Cambria Math" panose="02040503050406030204" pitchFamily="18" charset="0"/>
                      </a:rPr>
                      <m:t>𝟏𝟕𝟖𝟗𝟐</m:t>
                    </m:r>
                  </m:oMath>
                </a14:m>
                <a:endParaRPr lang="en-US" sz="3200" b="1" dirty="0">
                  <a:solidFill>
                    <a:srgbClr val="775F55"/>
                  </a:solidFill>
                </a:endParaRPr>
              </a:p>
              <a:p>
                <a:pPr lvl="0">
                  <a:buClr>
                    <a:srgbClr val="94B6D2"/>
                  </a:buClr>
                </a:pPr>
                <a:r>
                  <a:rPr lang="en-US" sz="2600" dirty="0">
                    <a:solidFill>
                      <a:srgbClr val="775F55"/>
                    </a:solidFill>
                  </a:rPr>
                  <a:t>The maximum amount that Rebecca should finance is $17892</a:t>
                </a:r>
              </a:p>
            </p:txBody>
          </p:sp>
        </mc:Choice>
        <mc:Fallback xmlns="">
          <p:sp>
            <p:nvSpPr>
              <p:cNvPr id="2" name="Content Placeholder 1"/>
              <p:cNvSpPr>
                <a:spLocks noGrp="1" noRot="1" noChangeAspect="1" noMove="1" noResize="1" noEditPoints="1" noAdjustHandles="1" noChangeArrowheads="1" noChangeShapeType="1" noTextEdit="1"/>
              </p:cNvSpPr>
              <p:nvPr>
                <p:ph idx="1"/>
              </p:nvPr>
            </p:nvSpPr>
            <p:spPr>
              <a:xfrm>
                <a:off x="507999" y="1719071"/>
                <a:ext cx="11210524" cy="4900670"/>
              </a:xfrm>
              <a:blipFill rotWithShape="0">
                <a:blip r:embed="rId2"/>
                <a:stretch>
                  <a:fillRect l="-218" b="-622"/>
                </a:stretch>
              </a:blipFill>
            </p:spPr>
            <p:txBody>
              <a:bodyPr/>
              <a:lstStyle/>
              <a:p>
                <a:r>
                  <a:rPr lang="en-US">
                    <a:noFill/>
                  </a:rPr>
                  <a:t> </a:t>
                </a:r>
              </a:p>
            </p:txBody>
          </p:sp>
        </mc:Fallback>
      </mc:AlternateContent>
      <p:sp>
        <p:nvSpPr>
          <p:cNvPr id="3" name="Title 2"/>
          <p:cNvSpPr>
            <a:spLocks noGrp="1"/>
          </p:cNvSpPr>
          <p:nvPr>
            <p:ph type="title"/>
          </p:nvPr>
        </p:nvSpPr>
        <p:spPr/>
        <p:txBody>
          <a:bodyPr/>
          <a:lstStyle/>
          <a:p>
            <a:r>
              <a:rPr lang="en-US" dirty="0"/>
              <a:t>Solution to Question 4			1</a:t>
            </a:r>
          </a:p>
        </p:txBody>
      </p:sp>
    </p:spTree>
    <p:extLst>
      <p:ext uri="{BB962C8B-B14F-4D97-AF65-F5344CB8AC3E}">
        <p14:creationId xmlns:p14="http://schemas.microsoft.com/office/powerpoint/2010/main" val="399083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7999" y="1719070"/>
            <a:ext cx="11210524" cy="4913550"/>
          </a:xfrm>
        </p:spPr>
        <p:txBody>
          <a:bodyPr>
            <a:normAutofit lnSpcReduction="10000"/>
          </a:bodyPr>
          <a:lstStyle/>
          <a:p>
            <a:r>
              <a:rPr lang="en-US" dirty="0"/>
              <a:t>(5.) Ave Maria Cars is offering two incentives for first time buyers willing to buy new cars. Jude has saved $8,000 for a down payment on a truck that costs $56,000 including taxes and license fees.</a:t>
            </a:r>
          </a:p>
          <a:p>
            <a:r>
              <a:rPr lang="en-US" dirty="0"/>
              <a:t> The first incentive is a 4-year loan financed at 12.5% including a rebate of $10,000.</a:t>
            </a:r>
          </a:p>
          <a:p>
            <a:r>
              <a:rPr lang="en-US" dirty="0"/>
              <a:t>The second incentive has free financing / no interest for 4 years, but has no cash rebate.</a:t>
            </a:r>
          </a:p>
          <a:p>
            <a:endParaRPr lang="en-US" dirty="0"/>
          </a:p>
          <a:p>
            <a:r>
              <a:rPr lang="en-US" dirty="0"/>
              <a:t> Calculate the monthly payments. Which incentive should he choose? </a:t>
            </a:r>
          </a:p>
          <a:p>
            <a:r>
              <a:rPr lang="en-US" dirty="0"/>
              <a:t>How much savings would he have when comparing the two incentives over the period of the loan? </a:t>
            </a:r>
          </a:p>
          <a:p>
            <a:r>
              <a:rPr lang="en-US" dirty="0"/>
              <a:t>Calculate the total interests for each incentive.</a:t>
            </a:r>
          </a:p>
          <a:p>
            <a:r>
              <a:rPr lang="en-US" dirty="0"/>
              <a:t>Round all answers to the nearest dollar and use in your calculations.</a:t>
            </a:r>
          </a:p>
        </p:txBody>
      </p:sp>
      <p:sp>
        <p:nvSpPr>
          <p:cNvPr id="4" name="Title 3"/>
          <p:cNvSpPr>
            <a:spLocks noGrp="1"/>
          </p:cNvSpPr>
          <p:nvPr>
            <p:ph type="title"/>
          </p:nvPr>
        </p:nvSpPr>
        <p:spPr/>
        <p:txBody>
          <a:bodyPr/>
          <a:lstStyle/>
          <a:p>
            <a:r>
              <a:rPr lang="en-US" dirty="0"/>
              <a:t>Question 5</a:t>
            </a:r>
          </a:p>
        </p:txBody>
      </p:sp>
    </p:spTree>
    <p:extLst>
      <p:ext uri="{BB962C8B-B14F-4D97-AF65-F5344CB8AC3E}">
        <p14:creationId xmlns:p14="http://schemas.microsoft.com/office/powerpoint/2010/main" val="160949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r>
                  <a:rPr lang="en-US" b="1" u="sng" dirty="0">
                    <a:latin typeface="Cambria Math" panose="02040503050406030204" pitchFamily="18" charset="0"/>
                  </a:rPr>
                  <a:t>1</a:t>
                </a:r>
                <a:r>
                  <a:rPr lang="en-US" b="1" u="sng" baseline="30000" dirty="0">
                    <a:latin typeface="Cambria Math" panose="02040503050406030204" pitchFamily="18" charset="0"/>
                  </a:rPr>
                  <a:t>st</a:t>
                </a:r>
                <a:r>
                  <a:rPr lang="en-US" b="1" u="sng" dirty="0">
                    <a:latin typeface="Cambria Math" panose="02040503050406030204" pitchFamily="18" charset="0"/>
                  </a:rPr>
                  <a:t> Incentive</a:t>
                </a:r>
              </a:p>
              <a:p>
                <a:r>
                  <a:rPr lang="en-US" dirty="0">
                    <a:latin typeface="Cambria Math" panose="02040503050406030204" pitchFamily="18" charset="0"/>
                  </a:rPr>
                  <a:t>Down Payment = DP = $8000</a:t>
                </a:r>
              </a:p>
              <a:p>
                <a:r>
                  <a:rPr lang="en-US" dirty="0">
                    <a:latin typeface="Cambria Math" panose="02040503050406030204" pitchFamily="18" charset="0"/>
                  </a:rPr>
                  <a:t>Rebate = R = $10000</a:t>
                </a:r>
              </a:p>
              <a:p>
                <a14:m>
                  <m:oMath xmlns:m="http://schemas.openxmlformats.org/officeDocument/2006/math">
                    <m:r>
                      <a:rPr lang="en-US" i="1" dirty="0" smtClean="0">
                        <a:latin typeface="Cambria Math" panose="02040503050406030204" pitchFamily="18" charset="0"/>
                      </a:rPr>
                      <m:t>𝑃𝑉</m:t>
                    </m:r>
                    <m:r>
                      <a:rPr lang="en-US" i="1" dirty="0" smtClean="0">
                        <a:latin typeface="Cambria Math" panose="02040503050406030204" pitchFamily="18" charset="0"/>
                      </a:rPr>
                      <m:t> = $56000−$8000−$10000=$38000; </m:t>
                    </m:r>
                    <m:r>
                      <a:rPr lang="en-US" i="1" dirty="0" smtClean="0">
                        <a:latin typeface="Cambria Math" panose="02040503050406030204" pitchFamily="18" charset="0"/>
                      </a:rPr>
                      <m:t>𝑡</m:t>
                    </m:r>
                    <m:r>
                      <a:rPr lang="en-US" b="0" i="1" dirty="0" smtClean="0">
                        <a:latin typeface="Cambria Math" panose="02040503050406030204" pitchFamily="18" charset="0"/>
                      </a:rPr>
                      <m:t>=4 </m:t>
                    </m:r>
                    <m:r>
                      <a:rPr lang="en-US" b="0" i="1" dirty="0" smtClean="0">
                        <a:latin typeface="Cambria Math" panose="02040503050406030204" pitchFamily="18" charset="0"/>
                      </a:rPr>
                      <m:t>𝑦𝑒𝑎𝑟𝑠</m:t>
                    </m:r>
                    <m:r>
                      <a:rPr lang="en-US" i="1" dirty="0" smtClean="0">
                        <a:latin typeface="Cambria Math" panose="02040503050406030204" pitchFamily="18" charset="0"/>
                      </a:rPr>
                      <m:t>;</m:t>
                    </m:r>
                    <m:r>
                      <a:rPr lang="en-US" b="0" i="1" dirty="0" smtClean="0">
                        <a:latin typeface="Cambria Math" panose="02040503050406030204" pitchFamily="18" charset="0"/>
                      </a:rPr>
                      <m:t>𝑟</m:t>
                    </m:r>
                    <m:r>
                      <a:rPr lang="en-US" i="1" dirty="0" smtClean="0">
                        <a:latin typeface="Cambria Math" panose="02040503050406030204" pitchFamily="18" charset="0"/>
                      </a:rPr>
                      <m:t>=</m:t>
                    </m:r>
                    <m:r>
                      <a:rPr lang="en-US" b="0" i="1" dirty="0" smtClean="0">
                        <a:latin typeface="Cambria Math" panose="02040503050406030204" pitchFamily="18" charset="0"/>
                      </a:rPr>
                      <m:t>12.5</m:t>
                    </m:r>
                    <m:r>
                      <a:rPr lang="en-US" i="1" dirty="0" smtClean="0">
                        <a:latin typeface="Cambria Math" panose="02040503050406030204" pitchFamily="18" charset="0"/>
                      </a:rPr>
                      <m:t>% = 0.</m:t>
                    </m:r>
                    <m:r>
                      <a:rPr lang="en-US" b="0" i="1" dirty="0" smtClean="0">
                        <a:latin typeface="Cambria Math" panose="02040503050406030204" pitchFamily="18" charset="0"/>
                      </a:rPr>
                      <m:t>125</m:t>
                    </m:r>
                    <m:r>
                      <a:rPr lang="en-US" i="1" dirty="0" smtClean="0">
                        <a:latin typeface="Cambria Math" panose="02040503050406030204" pitchFamily="18" charset="0"/>
                      </a:rPr>
                      <m:t>; </m:t>
                    </m:r>
                    <m:r>
                      <a:rPr lang="en-US" i="1" dirty="0" smtClean="0">
                        <a:latin typeface="Cambria Math" panose="02040503050406030204" pitchFamily="18" charset="0"/>
                      </a:rPr>
                      <m:t>𝑚</m:t>
                    </m:r>
                    <m:r>
                      <a:rPr lang="en-US" i="1" dirty="0" smtClean="0">
                        <a:latin typeface="Cambria Math" panose="02040503050406030204" pitchFamily="18" charset="0"/>
                      </a:rPr>
                      <m:t> = 12</m:t>
                    </m:r>
                  </m:oMath>
                </a14:m>
                <a:endParaRPr lang="en-US" dirty="0"/>
              </a:p>
              <a:p>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38000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d>
                      <m:dPr>
                        <m:begChr m:val="["/>
                        <m:endChr m:val="]"/>
                        <m:ctrlPr>
                          <a:rPr lang="en-US" sz="2800" i="1">
                            <a:solidFill>
                              <a:srgbClr val="775F55"/>
                            </a:solidFill>
                            <a:latin typeface="Cambria Math" panose="02040503050406030204" pitchFamily="18" charset="0"/>
                          </a:rPr>
                        </m:ctrlPr>
                      </m:dPr>
                      <m:e>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m:t>
                            </m:r>
                            <m:r>
                              <a:rPr lang="en-US" sz="2800" b="0" i="1" smtClean="0">
                                <a:solidFill>
                                  <a:srgbClr val="775F55"/>
                                </a:solidFill>
                                <a:latin typeface="Cambria Math" panose="02040503050406030204" pitchFamily="18" charset="0"/>
                              </a:rPr>
                              <m:t>125</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m:t>
                                        </m:r>
                                        <m:r>
                                          <a:rPr lang="en-US" sz="2800" b="0" i="1" smtClean="0">
                                            <a:solidFill>
                                              <a:srgbClr val="775F55"/>
                                            </a:solidFill>
                                            <a:latin typeface="Cambria Math" panose="02040503050406030204" pitchFamily="18" charset="0"/>
                                          </a:rPr>
                                          <m:t>125</m:t>
                                        </m:r>
                                      </m:num>
                                      <m:den>
                                        <m:r>
                                          <a:rPr lang="en-US" sz="2800" i="1">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4</m:t>
                                </m:r>
                              </m:sup>
                            </m:sSup>
                          </m:den>
                        </m:f>
                      </m:e>
                    </m:d>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38000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0.125</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0.010416666</m:t>
                                </m:r>
                              </m:e>
                            </m:d>
                          </m:e>
                          <m:sup>
                            <m:r>
                              <a:rPr lang="en-US" sz="2800" i="1">
                                <a:solidFill>
                                  <a:srgbClr val="775F55"/>
                                </a:solidFill>
                                <a:latin typeface="Cambria Math" panose="02040503050406030204" pitchFamily="18" charset="0"/>
                              </a:rPr>
                              <m:t>−4</m:t>
                            </m:r>
                            <m:r>
                              <a:rPr lang="en-US" sz="2800" b="0" i="1" smtClean="0">
                                <a:solidFill>
                                  <a:srgbClr val="775F55"/>
                                </a:solidFill>
                                <a:latin typeface="Cambria Math" panose="02040503050406030204" pitchFamily="18" charset="0"/>
                              </a:rPr>
                              <m:t>8</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38000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d>
                      <m:dPr>
                        <m:begChr m:val="["/>
                        <m:endChr m:val="]"/>
                        <m:ctrlPr>
                          <a:rPr lang="en-US" sz="2800" i="1">
                            <a:solidFill>
                              <a:srgbClr val="775F55"/>
                            </a:solidFill>
                            <a:latin typeface="Cambria Math" panose="02040503050406030204" pitchFamily="18" charset="0"/>
                          </a:rPr>
                        </m:ctrlPr>
                      </m:dPr>
                      <m:e>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0.125</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1.01041666</m:t>
                                    </m:r>
                                    <m:r>
                                      <a:rPr lang="en-US" sz="2800" b="0" i="1" smtClean="0">
                                        <a:solidFill>
                                          <a:srgbClr val="775F55"/>
                                        </a:solidFill>
                                        <a:latin typeface="Cambria Math" panose="02040503050406030204" pitchFamily="18" charset="0"/>
                                      </a:rPr>
                                      <m:t>7</m:t>
                                    </m:r>
                                  </m:e>
                                </m:d>
                              </m:e>
                              <m:sup>
                                <m:r>
                                  <a:rPr lang="en-US" sz="2800" i="1">
                                    <a:solidFill>
                                      <a:srgbClr val="775F55"/>
                                    </a:solidFill>
                                    <a:latin typeface="Cambria Math" panose="02040503050406030204" pitchFamily="18" charset="0"/>
                                  </a:rPr>
                                  <m:t>−48</m:t>
                                </m:r>
                              </m:sup>
                            </m:sSup>
                          </m:den>
                        </m:f>
                      </m:e>
                    </m:d>
                    <m:r>
                      <a:rPr lang="en-US" sz="2800" b="0" i="1" smtClean="0">
                        <a:solidFill>
                          <a:srgbClr val="775F55"/>
                        </a:solidFill>
                        <a:latin typeface="Cambria Math" panose="02040503050406030204" pitchFamily="18" charset="0"/>
                      </a:rPr>
                      <m:t>=</m:t>
                    </m:r>
                    <m:f>
                      <m:fPr>
                        <m:ctrlPr>
                          <a:rPr lang="en-US" sz="2600" i="1">
                            <a:solidFill>
                              <a:srgbClr val="775F55"/>
                            </a:solidFill>
                            <a:latin typeface="Cambria Math" panose="02040503050406030204" pitchFamily="18" charset="0"/>
                          </a:rPr>
                        </m:ctrlPr>
                      </m:fPr>
                      <m:num>
                        <m:r>
                          <a:rPr lang="en-US" sz="2600" i="1">
                            <a:solidFill>
                              <a:srgbClr val="775F55"/>
                            </a:solidFill>
                            <a:latin typeface="Cambria Math" panose="02040503050406030204" pitchFamily="18" charset="0"/>
                          </a:rPr>
                          <m:t>38000</m:t>
                        </m:r>
                      </m:num>
                      <m:den>
                        <m:r>
                          <a:rPr lang="en-US" sz="2600" i="1">
                            <a:solidFill>
                              <a:srgbClr val="775F55"/>
                            </a:solidFill>
                            <a:latin typeface="Cambria Math" panose="02040503050406030204" pitchFamily="18" charset="0"/>
                          </a:rPr>
                          <m:t>12</m:t>
                        </m:r>
                      </m:den>
                    </m:f>
                    <m:r>
                      <a:rPr lang="en-US" sz="2600" i="1">
                        <a:solidFill>
                          <a:srgbClr val="775F55"/>
                        </a:solidFill>
                        <a:latin typeface="Cambria Math" panose="02040503050406030204" pitchFamily="18" charset="0"/>
                      </a:rPr>
                      <m:t>∗[</m:t>
                    </m:r>
                    <m:f>
                      <m:fPr>
                        <m:ctrlPr>
                          <a:rPr lang="en-US" sz="2600" i="1">
                            <a:solidFill>
                              <a:srgbClr val="775F55"/>
                            </a:solidFill>
                            <a:latin typeface="Cambria Math" panose="02040503050406030204" pitchFamily="18" charset="0"/>
                          </a:rPr>
                        </m:ctrlPr>
                      </m:fPr>
                      <m:num>
                        <m:r>
                          <a:rPr lang="en-US" sz="2600" i="1">
                            <a:solidFill>
                              <a:srgbClr val="775F55"/>
                            </a:solidFill>
                            <a:latin typeface="Cambria Math" panose="02040503050406030204" pitchFamily="18" charset="0"/>
                          </a:rPr>
                          <m:t>0.125</m:t>
                        </m:r>
                      </m:num>
                      <m:den>
                        <m:r>
                          <a:rPr lang="en-US" sz="2600" i="1">
                            <a:solidFill>
                              <a:srgbClr val="775F55"/>
                            </a:solidFill>
                            <a:latin typeface="Cambria Math" panose="02040503050406030204" pitchFamily="18" charset="0"/>
                          </a:rPr>
                          <m:t>1−</m:t>
                        </m:r>
                        <m:r>
                          <a:rPr lang="en-US" sz="2600" i="1" smtClean="0">
                            <a:solidFill>
                              <a:srgbClr val="775F55"/>
                            </a:solidFill>
                            <a:latin typeface="Cambria Math" panose="02040503050406030204" pitchFamily="18" charset="0"/>
                          </a:rPr>
                          <m:t>0</m:t>
                        </m:r>
                        <m:r>
                          <a:rPr lang="en-US" sz="2600" b="0" i="1" smtClean="0">
                            <a:solidFill>
                              <a:srgbClr val="775F55"/>
                            </a:solidFill>
                            <a:latin typeface="Cambria Math" panose="02040503050406030204" pitchFamily="18" charset="0"/>
                          </a:rPr>
                          <m:t>.608101313</m:t>
                        </m:r>
                      </m:den>
                    </m:f>
                    <m:r>
                      <a:rPr lang="en-US" sz="2600" i="1">
                        <a:solidFill>
                          <a:srgbClr val="775F55"/>
                        </a:solidFill>
                        <a:latin typeface="Cambria Math" panose="02040503050406030204" pitchFamily="18" charset="0"/>
                      </a:rPr>
                      <m:t>]</m:t>
                    </m:r>
                  </m:oMath>
                </a14:m>
                <a:endParaRPr lang="en-US" sz="2200" dirty="0">
                  <a:solidFill>
                    <a:srgbClr val="775F55"/>
                  </a:solidFill>
                </a:endParaRPr>
              </a:p>
              <a:p>
                <a:pPr lvl="0">
                  <a:buClr>
                    <a:srgbClr val="94B6D2"/>
                  </a:buClr>
                </a:pPr>
                <a:endParaRPr lang="en-US" dirty="0">
                  <a:solidFill>
                    <a:srgbClr val="775F55"/>
                  </a:solidFill>
                </a:endParaRPr>
              </a:p>
              <a:p>
                <a:pPr lvl="0">
                  <a:buClr>
                    <a:srgbClr val="94B6D2"/>
                  </a:buClr>
                </a:pPr>
                <a:endParaRPr lang="en-US" dirty="0">
                  <a:solidFill>
                    <a:srgbClr val="775F55"/>
                  </a:solidFill>
                </a:endParaRP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5			1</a:t>
            </a:r>
          </a:p>
        </p:txBody>
      </p:sp>
    </p:spTree>
    <p:extLst>
      <p:ext uri="{BB962C8B-B14F-4D97-AF65-F5344CB8AC3E}">
        <p14:creationId xmlns:p14="http://schemas.microsoft.com/office/powerpoint/2010/main" val="2835910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r>
                  <a:rPr lang="en-US" b="1" u="sng" dirty="0">
                    <a:latin typeface="Cambria Math" panose="02040503050406030204" pitchFamily="18" charset="0"/>
                  </a:rPr>
                  <a:t>1</a:t>
                </a:r>
                <a:r>
                  <a:rPr lang="en-US" b="1" u="sng" baseline="30000" dirty="0">
                    <a:latin typeface="Cambria Math" panose="02040503050406030204" pitchFamily="18" charset="0"/>
                  </a:rPr>
                  <a:t>st</a:t>
                </a:r>
                <a:r>
                  <a:rPr lang="en-US" b="1" u="sng" dirty="0">
                    <a:latin typeface="Cambria Math" panose="02040503050406030204" pitchFamily="18" charset="0"/>
                  </a:rPr>
                  <a:t> Incentive</a:t>
                </a: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600" i="1">
                            <a:solidFill>
                              <a:srgbClr val="775F55"/>
                            </a:solidFill>
                            <a:latin typeface="Cambria Math" panose="02040503050406030204" pitchFamily="18" charset="0"/>
                          </a:rPr>
                        </m:ctrlPr>
                      </m:fPr>
                      <m:num>
                        <m:r>
                          <a:rPr lang="en-US" sz="2600" i="1">
                            <a:solidFill>
                              <a:srgbClr val="775F55"/>
                            </a:solidFill>
                            <a:latin typeface="Cambria Math" panose="02040503050406030204" pitchFamily="18" charset="0"/>
                          </a:rPr>
                          <m:t>38000</m:t>
                        </m:r>
                      </m:num>
                      <m:den>
                        <m:r>
                          <a:rPr lang="en-US" sz="2600" i="1">
                            <a:solidFill>
                              <a:srgbClr val="775F55"/>
                            </a:solidFill>
                            <a:latin typeface="Cambria Math" panose="02040503050406030204" pitchFamily="18" charset="0"/>
                          </a:rPr>
                          <m:t>12</m:t>
                        </m:r>
                      </m:den>
                    </m:f>
                    <m:r>
                      <a:rPr lang="en-US" sz="2600" i="1">
                        <a:solidFill>
                          <a:srgbClr val="775F55"/>
                        </a:solidFill>
                        <a:latin typeface="Cambria Math" panose="02040503050406030204" pitchFamily="18" charset="0"/>
                      </a:rPr>
                      <m:t>∗</m:t>
                    </m:r>
                    <m:d>
                      <m:dPr>
                        <m:begChr m:val="["/>
                        <m:endChr m:val="]"/>
                        <m:ctrlPr>
                          <a:rPr lang="en-US" sz="2600" i="1">
                            <a:solidFill>
                              <a:srgbClr val="775F55"/>
                            </a:solidFill>
                            <a:latin typeface="Cambria Math" panose="02040503050406030204" pitchFamily="18" charset="0"/>
                          </a:rPr>
                        </m:ctrlPr>
                      </m:dPr>
                      <m:e>
                        <m:f>
                          <m:fPr>
                            <m:ctrlPr>
                              <a:rPr lang="en-US" sz="2600" i="1">
                                <a:solidFill>
                                  <a:srgbClr val="775F55"/>
                                </a:solidFill>
                                <a:latin typeface="Cambria Math" panose="02040503050406030204" pitchFamily="18" charset="0"/>
                              </a:rPr>
                            </m:ctrlPr>
                          </m:fPr>
                          <m:num>
                            <m:r>
                              <a:rPr lang="en-US" sz="2600" i="1">
                                <a:solidFill>
                                  <a:srgbClr val="775F55"/>
                                </a:solidFill>
                                <a:latin typeface="Cambria Math" panose="02040503050406030204" pitchFamily="18" charset="0"/>
                              </a:rPr>
                              <m:t>0.125</m:t>
                            </m:r>
                          </m:num>
                          <m:den>
                            <m:r>
                              <a:rPr lang="en-US" sz="2600" b="0" i="1" smtClean="0">
                                <a:solidFill>
                                  <a:srgbClr val="775F55"/>
                                </a:solidFill>
                                <a:latin typeface="Cambria Math" panose="02040503050406030204" pitchFamily="18" charset="0"/>
                              </a:rPr>
                              <m:t>0.391898687</m:t>
                            </m:r>
                          </m:den>
                        </m:f>
                      </m:e>
                    </m:d>
                    <m:r>
                      <a:rPr lang="en-US" sz="2600" b="0" i="1" smtClean="0">
                        <a:solidFill>
                          <a:srgbClr val="775F55"/>
                        </a:solidFill>
                        <a:latin typeface="Cambria Math" panose="02040503050406030204" pitchFamily="18" charset="0"/>
                      </a:rPr>
                      <m:t>=</m:t>
                    </m:r>
                    <m:f>
                      <m:fPr>
                        <m:ctrlPr>
                          <a:rPr lang="en-US" sz="2600" i="1">
                            <a:solidFill>
                              <a:srgbClr val="775F55"/>
                            </a:solidFill>
                            <a:latin typeface="Cambria Math" panose="02040503050406030204" pitchFamily="18" charset="0"/>
                          </a:rPr>
                        </m:ctrlPr>
                      </m:fPr>
                      <m:num>
                        <m:r>
                          <a:rPr lang="en-US" sz="2600" i="1">
                            <a:solidFill>
                              <a:srgbClr val="775F55"/>
                            </a:solidFill>
                            <a:latin typeface="Cambria Math" panose="02040503050406030204" pitchFamily="18" charset="0"/>
                          </a:rPr>
                          <m:t>38000</m:t>
                        </m:r>
                        <m:r>
                          <a:rPr lang="en-US" sz="2600" b="0" i="1" smtClean="0">
                            <a:solidFill>
                              <a:srgbClr val="775F55"/>
                            </a:solidFill>
                            <a:latin typeface="Cambria Math" panose="02040503050406030204" pitchFamily="18" charset="0"/>
                          </a:rPr>
                          <m:t>∗0.125</m:t>
                        </m:r>
                      </m:num>
                      <m:den>
                        <m:r>
                          <a:rPr lang="en-US" sz="2600" i="1">
                            <a:solidFill>
                              <a:srgbClr val="775F55"/>
                            </a:solidFill>
                            <a:latin typeface="Cambria Math" panose="02040503050406030204" pitchFamily="18" charset="0"/>
                          </a:rPr>
                          <m:t>12</m:t>
                        </m:r>
                        <m:r>
                          <a:rPr lang="en-US" sz="2600" b="0" i="1" smtClean="0">
                            <a:solidFill>
                              <a:srgbClr val="775F55"/>
                            </a:solidFill>
                            <a:latin typeface="Cambria Math" panose="02040503050406030204" pitchFamily="18" charset="0"/>
                          </a:rPr>
                          <m:t>∗0.391898687</m:t>
                        </m:r>
                      </m:den>
                    </m:f>
                    <m:r>
                      <a:rPr lang="en-US" sz="2600" b="0" i="1" smtClean="0">
                        <a:solidFill>
                          <a:srgbClr val="775F55"/>
                        </a:solidFill>
                        <a:latin typeface="Cambria Math" panose="02040503050406030204" pitchFamily="18" charset="0"/>
                      </a:rPr>
                      <m:t>=</m:t>
                    </m:r>
                    <m:f>
                      <m:fPr>
                        <m:ctrlPr>
                          <a:rPr lang="en-US" sz="2600" i="1">
                            <a:solidFill>
                              <a:srgbClr val="775F55"/>
                            </a:solidFill>
                            <a:latin typeface="Cambria Math" panose="02040503050406030204" pitchFamily="18" charset="0"/>
                          </a:rPr>
                        </m:ctrlPr>
                      </m:fPr>
                      <m:num>
                        <m:r>
                          <a:rPr lang="en-US" sz="2600" b="0" i="1" smtClean="0">
                            <a:solidFill>
                              <a:srgbClr val="775F55"/>
                            </a:solidFill>
                            <a:latin typeface="Cambria Math" panose="02040503050406030204" pitchFamily="18" charset="0"/>
                          </a:rPr>
                          <m:t>4750</m:t>
                        </m:r>
                      </m:num>
                      <m:den>
                        <m:r>
                          <a:rPr lang="en-US" sz="2600" b="0" i="1" smtClean="0">
                            <a:solidFill>
                              <a:srgbClr val="775F55"/>
                            </a:solidFill>
                            <a:latin typeface="Cambria Math" panose="02040503050406030204" pitchFamily="18" charset="0"/>
                          </a:rPr>
                          <m:t>4.702784244</m:t>
                        </m:r>
                      </m:den>
                    </m:f>
                  </m:oMath>
                </a14:m>
                <a:endParaRPr lang="en-US" sz="2200" dirty="0">
                  <a:solidFill>
                    <a:srgbClr val="775F55"/>
                  </a:solidFill>
                </a:endParaRPr>
              </a:p>
              <a:p>
                <a:pPr lvl="0">
                  <a:buClr>
                    <a:srgbClr val="94B6D2"/>
                  </a:buClr>
                </a:pPr>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r>
                      <a:rPr lang="en-US" sz="2600" b="0" i="1" smtClean="0">
                        <a:solidFill>
                          <a:srgbClr val="775F55"/>
                        </a:solidFill>
                        <a:latin typeface="Cambria Math" panose="02040503050406030204" pitchFamily="18" charset="0"/>
                      </a:rPr>
                      <m:t>$1010.04</m:t>
                    </m:r>
                    <m:r>
                      <a:rPr lang="en-US" sz="2600" b="0" i="1" smtClean="0">
                        <a:solidFill>
                          <a:srgbClr val="775F55"/>
                        </a:solidFill>
                        <a:latin typeface="Cambria Math" panose="02040503050406030204" pitchFamily="18" charset="0"/>
                        <a:ea typeface="Cambria Math" panose="02040503050406030204" pitchFamily="18" charset="0"/>
                      </a:rPr>
                      <m:t>≅</m:t>
                    </m:r>
                    <m:r>
                      <a:rPr lang="en-US" sz="2600" b="1" i="1" smtClean="0">
                        <a:solidFill>
                          <a:srgbClr val="00B050"/>
                        </a:solidFill>
                        <a:latin typeface="Cambria Math" panose="02040503050406030204" pitchFamily="18" charset="0"/>
                        <a:ea typeface="Cambria Math" panose="02040503050406030204" pitchFamily="18" charset="0"/>
                      </a:rPr>
                      <m:t>$</m:t>
                    </m:r>
                    <m:r>
                      <a:rPr lang="en-US" sz="2600" b="1" i="1" smtClean="0">
                        <a:solidFill>
                          <a:srgbClr val="00B050"/>
                        </a:solidFill>
                        <a:latin typeface="Cambria Math" panose="02040503050406030204" pitchFamily="18" charset="0"/>
                        <a:ea typeface="Cambria Math" panose="02040503050406030204" pitchFamily="18" charset="0"/>
                      </a:rPr>
                      <m:t>𝟏𝟎𝟏𝟎</m:t>
                    </m:r>
                  </m:oMath>
                </a14:m>
                <a:endParaRPr lang="en-US" b="1" dirty="0">
                  <a:solidFill>
                    <a:srgbClr val="775F55"/>
                  </a:solidFill>
                </a:endParaRPr>
              </a:p>
              <a:p>
                <a:pPr lvl="0">
                  <a:buClr>
                    <a:srgbClr val="94B6D2"/>
                  </a:buClr>
                </a:pPr>
                <a:r>
                  <a:rPr lang="en-US" b="1" u="sng" dirty="0">
                    <a:solidFill>
                      <a:srgbClr val="775F55"/>
                    </a:solidFill>
                    <a:latin typeface="Cambria Math" panose="02040503050406030204" pitchFamily="18" charset="0"/>
                  </a:rPr>
                  <a:t>2</a:t>
                </a:r>
                <a:r>
                  <a:rPr lang="en-US" b="1" u="sng" baseline="30000" dirty="0">
                    <a:solidFill>
                      <a:srgbClr val="775F55"/>
                    </a:solidFill>
                    <a:latin typeface="Cambria Math" panose="02040503050406030204" pitchFamily="18" charset="0"/>
                  </a:rPr>
                  <a:t>nd</a:t>
                </a:r>
                <a:r>
                  <a:rPr lang="en-US" b="1" u="sng" dirty="0">
                    <a:solidFill>
                      <a:srgbClr val="775F55"/>
                    </a:solidFill>
                    <a:latin typeface="Cambria Math" panose="02040503050406030204" pitchFamily="18" charset="0"/>
                  </a:rPr>
                  <a:t> Incentive</a:t>
                </a:r>
              </a:p>
              <a:p>
                <a:pPr lvl="0">
                  <a:buClr>
                    <a:srgbClr val="94B6D2"/>
                  </a:buClr>
                </a:pPr>
                <a:r>
                  <a:rPr lang="en-US" dirty="0">
                    <a:solidFill>
                      <a:srgbClr val="775F55"/>
                    </a:solidFill>
                    <a:latin typeface="Cambria Math" panose="02040503050406030204" pitchFamily="18" charset="0"/>
                  </a:rPr>
                  <a:t>Since it is interest free, take the interest rate, r to be 0.0001%</a:t>
                </a:r>
              </a:p>
              <a:p>
                <a:pPr lvl="0">
                  <a:buClr>
                    <a:srgbClr val="94B6D2"/>
                  </a:buClr>
                </a:pPr>
                <a14:m>
                  <m:oMath xmlns:m="http://schemas.openxmlformats.org/officeDocument/2006/math">
                    <m:r>
                      <a:rPr lang="en-US" i="1" dirty="0">
                        <a:solidFill>
                          <a:srgbClr val="775F55"/>
                        </a:solidFill>
                        <a:latin typeface="Cambria Math" panose="02040503050406030204" pitchFamily="18" charset="0"/>
                      </a:rPr>
                      <m:t>𝑃𝑉</m:t>
                    </m:r>
                    <m:r>
                      <a:rPr lang="en-US" i="1" dirty="0">
                        <a:solidFill>
                          <a:srgbClr val="775F55"/>
                        </a:solidFill>
                        <a:latin typeface="Cambria Math" panose="02040503050406030204" pitchFamily="18" charset="0"/>
                      </a:rPr>
                      <m:t> = $56000−$8000=$48000; </m:t>
                    </m:r>
                    <m:r>
                      <a:rPr lang="en-US" i="1" dirty="0">
                        <a:solidFill>
                          <a:srgbClr val="775F55"/>
                        </a:solidFill>
                        <a:latin typeface="Cambria Math" panose="02040503050406030204" pitchFamily="18" charset="0"/>
                      </a:rPr>
                      <m:t>𝑡</m:t>
                    </m:r>
                    <m:r>
                      <a:rPr lang="en-US" i="1" dirty="0">
                        <a:solidFill>
                          <a:srgbClr val="775F55"/>
                        </a:solidFill>
                        <a:latin typeface="Cambria Math" panose="02040503050406030204" pitchFamily="18" charset="0"/>
                      </a:rPr>
                      <m:t>=4 </m:t>
                    </m:r>
                    <m:r>
                      <a:rPr lang="en-US" i="1" dirty="0">
                        <a:solidFill>
                          <a:srgbClr val="775F55"/>
                        </a:solidFill>
                        <a:latin typeface="Cambria Math" panose="02040503050406030204" pitchFamily="18" charset="0"/>
                      </a:rPr>
                      <m:t>𝑦𝑒𝑎𝑟𝑠</m:t>
                    </m:r>
                    <m:r>
                      <a:rPr lang="en-US" i="1" dirty="0">
                        <a:solidFill>
                          <a:srgbClr val="775F55"/>
                        </a:solidFill>
                        <a:latin typeface="Cambria Math" panose="02040503050406030204" pitchFamily="18" charset="0"/>
                      </a:rPr>
                      <m:t>;</m:t>
                    </m:r>
                    <m:r>
                      <a:rPr lang="en-US" i="1" dirty="0">
                        <a:solidFill>
                          <a:srgbClr val="775F55"/>
                        </a:solidFill>
                        <a:latin typeface="Cambria Math" panose="02040503050406030204" pitchFamily="18" charset="0"/>
                      </a:rPr>
                      <m:t>𝑟</m:t>
                    </m:r>
                    <m:r>
                      <a:rPr lang="en-US" i="1" dirty="0">
                        <a:solidFill>
                          <a:srgbClr val="775F55"/>
                        </a:solidFill>
                        <a:latin typeface="Cambria Math" panose="02040503050406030204" pitchFamily="18" charset="0"/>
                      </a:rPr>
                      <m:t>=0.0001% = 0.000001; </m:t>
                    </m:r>
                    <m:r>
                      <a:rPr lang="en-US" i="1" dirty="0">
                        <a:solidFill>
                          <a:srgbClr val="775F55"/>
                        </a:solidFill>
                        <a:latin typeface="Cambria Math" panose="02040503050406030204" pitchFamily="18" charset="0"/>
                      </a:rPr>
                      <m:t>𝑚</m:t>
                    </m:r>
                    <m:r>
                      <a:rPr lang="en-US" i="1" dirty="0">
                        <a:solidFill>
                          <a:srgbClr val="775F55"/>
                        </a:solidFill>
                        <a:latin typeface="Cambria Math" panose="02040503050406030204" pitchFamily="18" charset="0"/>
                      </a:rPr>
                      <m:t> = 12</m:t>
                    </m:r>
                  </m:oMath>
                </a14:m>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𝑃𝑉</m:t>
                        </m:r>
                      </m:num>
                      <m:den>
                        <m:r>
                          <a:rPr lang="en-US" sz="2800" i="1">
                            <a:solidFill>
                              <a:srgbClr val="775F55"/>
                            </a:solidFill>
                            <a:latin typeface="Cambria Math" panose="02040503050406030204" pitchFamily="18" charset="0"/>
                          </a:rPr>
                          <m:t>𝑚</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𝑟</m:t>
                                    </m:r>
                                  </m:num>
                                  <m:den>
                                    <m:r>
                                      <a:rPr lang="en-US" sz="2800" i="1">
                                        <a:solidFill>
                                          <a:srgbClr val="775F55"/>
                                        </a:solidFill>
                                        <a:latin typeface="Cambria Math" panose="02040503050406030204" pitchFamily="18" charset="0"/>
                                      </a:rPr>
                                      <m:t>𝑚</m:t>
                                    </m:r>
                                  </m:den>
                                </m:f>
                              </m:e>
                            </m:d>
                          </m:e>
                          <m:sup>
                            <m:r>
                              <a:rPr lang="en-US" sz="2800" i="1">
                                <a:solidFill>
                                  <a:srgbClr val="775F55"/>
                                </a:solidFill>
                                <a:latin typeface="Cambria Math" panose="02040503050406030204" pitchFamily="18" charset="0"/>
                              </a:rPr>
                              <m:t>−</m:t>
                            </m:r>
                            <m:r>
                              <a:rPr lang="en-US" sz="2800" i="1">
                                <a:solidFill>
                                  <a:srgbClr val="775F55"/>
                                </a:solidFill>
                                <a:latin typeface="Cambria Math" panose="02040503050406030204" pitchFamily="18" charset="0"/>
                              </a:rPr>
                              <m:t>𝑚𝑡</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5			2</a:t>
            </a:r>
          </a:p>
        </p:txBody>
      </p:sp>
    </p:spTree>
    <p:extLst>
      <p:ext uri="{BB962C8B-B14F-4D97-AF65-F5344CB8AC3E}">
        <p14:creationId xmlns:p14="http://schemas.microsoft.com/office/powerpoint/2010/main" val="313966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pPr lvl="0">
                  <a:buClr>
                    <a:srgbClr val="94B6D2"/>
                  </a:buClr>
                </a:pPr>
                <a:r>
                  <a:rPr lang="en-US" b="1" u="sng" dirty="0">
                    <a:solidFill>
                      <a:srgbClr val="775F55"/>
                    </a:solidFill>
                    <a:latin typeface="Cambria Math" panose="02040503050406030204" pitchFamily="18" charset="0"/>
                  </a:rPr>
                  <a:t>2</a:t>
                </a:r>
                <a:r>
                  <a:rPr lang="en-US" b="1" u="sng" baseline="30000" dirty="0">
                    <a:solidFill>
                      <a:srgbClr val="775F55"/>
                    </a:solidFill>
                    <a:latin typeface="Cambria Math" panose="02040503050406030204" pitchFamily="18" charset="0"/>
                  </a:rPr>
                  <a:t>nd</a:t>
                </a:r>
                <a:r>
                  <a:rPr lang="en-US" b="1" u="sng" dirty="0">
                    <a:solidFill>
                      <a:srgbClr val="775F55"/>
                    </a:solidFill>
                    <a:latin typeface="Cambria Math" panose="02040503050406030204" pitchFamily="18" charset="0"/>
                  </a:rPr>
                  <a:t> Incentive</a:t>
                </a: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48000</m:t>
                        </m:r>
                      </m:num>
                      <m:den>
                        <m:r>
                          <a:rPr lang="en-US" sz="2800" b="0" i="1" smtClean="0">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d>
                      <m:dPr>
                        <m:begChr m:val="["/>
                        <m:endChr m:val="]"/>
                        <m:ctrlPr>
                          <a:rPr lang="en-US" sz="2800" i="1">
                            <a:solidFill>
                              <a:srgbClr val="775F55"/>
                            </a:solidFill>
                            <a:latin typeface="Cambria Math" panose="02040503050406030204" pitchFamily="18" charset="0"/>
                          </a:rPr>
                        </m:ctrlPr>
                      </m:dPr>
                      <m:e>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0.000001</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0.000001</m:t>
                                        </m:r>
                                      </m:num>
                                      <m:den>
                                        <m:r>
                                          <a:rPr lang="en-US" sz="2800" b="0" i="1" smtClean="0">
                                            <a:solidFill>
                                              <a:srgbClr val="775F55"/>
                                            </a:solidFill>
                                            <a:latin typeface="Cambria Math" panose="02040503050406030204" pitchFamily="18" charset="0"/>
                                          </a:rPr>
                                          <m:t>12</m:t>
                                        </m:r>
                                      </m:den>
                                    </m:f>
                                  </m:e>
                                </m:d>
                              </m:e>
                              <m:sup>
                                <m:r>
                                  <a:rPr lang="en-US" sz="2800" i="1">
                                    <a:solidFill>
                                      <a:srgbClr val="775F55"/>
                                    </a:solidFill>
                                    <a:latin typeface="Cambria Math" panose="02040503050406030204" pitchFamily="18" charset="0"/>
                                  </a:rPr>
                                  <m:t>−</m:t>
                                </m:r>
                                <m:r>
                                  <a:rPr lang="en-US" sz="2800" b="0" i="1" smtClean="0">
                                    <a:solidFill>
                                      <a:srgbClr val="775F55"/>
                                    </a:solidFill>
                                    <a:latin typeface="Cambria Math" panose="02040503050406030204" pitchFamily="18" charset="0"/>
                                  </a:rPr>
                                  <m:t>12∗4</m:t>
                                </m:r>
                              </m:sup>
                            </m:sSup>
                          </m:den>
                        </m:f>
                      </m:e>
                    </m:d>
                    <m:r>
                      <a:rPr lang="en-US" sz="2800" b="0" i="1" smtClean="0">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48000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0000</m:t>
                        </m:r>
                        <m:r>
                          <a:rPr lang="en-US" sz="2800" i="1">
                            <a:solidFill>
                              <a:srgbClr val="775F55"/>
                            </a:solidFill>
                            <a:latin typeface="Cambria Math" panose="02040503050406030204" pitchFamily="18" charset="0"/>
                          </a:rPr>
                          <m:t>1</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0.000000083</m:t>
                                </m:r>
                              </m:e>
                            </m:d>
                          </m:e>
                          <m:sup>
                            <m:r>
                              <a:rPr lang="en-US" sz="2800" i="1">
                                <a:solidFill>
                                  <a:srgbClr val="775F55"/>
                                </a:solidFill>
                                <a:latin typeface="Cambria Math" panose="02040503050406030204" pitchFamily="18" charset="0"/>
                              </a:rPr>
                              <m:t>−4</m:t>
                            </m:r>
                            <m:r>
                              <a:rPr lang="en-US" sz="2800" b="0" i="1" smtClean="0">
                                <a:solidFill>
                                  <a:srgbClr val="775F55"/>
                                </a:solidFill>
                                <a:latin typeface="Cambria Math" panose="02040503050406030204" pitchFamily="18" charset="0"/>
                              </a:rPr>
                              <m:t>8</m:t>
                            </m:r>
                          </m:sup>
                        </m:sSup>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48000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d>
                      <m:dPr>
                        <m:begChr m:val="["/>
                        <m:endChr m:val="]"/>
                        <m:ctrlPr>
                          <a:rPr lang="en-US" sz="2800" i="1">
                            <a:solidFill>
                              <a:srgbClr val="775F55"/>
                            </a:solidFill>
                            <a:latin typeface="Cambria Math" panose="02040503050406030204" pitchFamily="18" charset="0"/>
                          </a:rPr>
                        </m:ctrlPr>
                      </m:dPr>
                      <m:e>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0000</m:t>
                            </m:r>
                            <m:r>
                              <a:rPr lang="en-US" sz="2800" i="1">
                                <a:solidFill>
                                  <a:srgbClr val="775F55"/>
                                </a:solidFill>
                                <a:latin typeface="Cambria Math" panose="02040503050406030204" pitchFamily="18" charset="0"/>
                              </a:rPr>
                              <m:t>1</m:t>
                            </m:r>
                          </m:num>
                          <m:den>
                            <m:r>
                              <a:rPr lang="en-US" sz="2800" i="1">
                                <a:solidFill>
                                  <a:srgbClr val="775F55"/>
                                </a:solidFill>
                                <a:latin typeface="Cambria Math" panose="02040503050406030204" pitchFamily="18" charset="0"/>
                              </a:rPr>
                              <m:t>1−</m:t>
                            </m:r>
                            <m:sSup>
                              <m:sSupPr>
                                <m:ctrlPr>
                                  <a:rPr lang="en-US" sz="2800" i="1">
                                    <a:solidFill>
                                      <a:srgbClr val="775F55"/>
                                    </a:solidFill>
                                    <a:latin typeface="Cambria Math" panose="02040503050406030204" pitchFamily="18" charset="0"/>
                                  </a:rPr>
                                </m:ctrlPr>
                              </m:sSupPr>
                              <m:e>
                                <m:d>
                                  <m:dPr>
                                    <m:ctrlPr>
                                      <a:rPr lang="en-US" sz="2800" i="1">
                                        <a:solidFill>
                                          <a:srgbClr val="775F55"/>
                                        </a:solidFill>
                                        <a:latin typeface="Cambria Math" panose="02040503050406030204" pitchFamily="18" charset="0"/>
                                      </a:rPr>
                                    </m:ctrlPr>
                                  </m:dPr>
                                  <m:e>
                                    <m:r>
                                      <a:rPr lang="en-US" sz="2800" i="1">
                                        <a:solidFill>
                                          <a:srgbClr val="775F55"/>
                                        </a:solidFill>
                                        <a:latin typeface="Cambria Math" panose="02040503050406030204" pitchFamily="18" charset="0"/>
                                      </a:rPr>
                                      <m:t>1.000</m:t>
                                    </m:r>
                                    <m:r>
                                      <a:rPr lang="en-US" sz="2800" b="0" i="1" smtClean="0">
                                        <a:solidFill>
                                          <a:srgbClr val="775F55"/>
                                        </a:solidFill>
                                        <a:latin typeface="Cambria Math" panose="02040503050406030204" pitchFamily="18" charset="0"/>
                                      </a:rPr>
                                      <m:t>000083</m:t>
                                    </m:r>
                                  </m:e>
                                </m:d>
                              </m:e>
                              <m:sup>
                                <m:r>
                                  <a:rPr lang="en-US" sz="2800" i="1">
                                    <a:solidFill>
                                      <a:srgbClr val="775F55"/>
                                    </a:solidFill>
                                    <a:latin typeface="Cambria Math" panose="02040503050406030204" pitchFamily="18" charset="0"/>
                                  </a:rPr>
                                  <m:t>−48</m:t>
                                </m:r>
                              </m:sup>
                            </m:sSup>
                          </m:den>
                        </m:f>
                      </m:e>
                    </m:d>
                    <m:r>
                      <a:rPr lang="en-US" sz="2800" b="0" i="1" smtClean="0">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48000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m:t>
                        </m:r>
                        <m:r>
                          <a:rPr lang="en-US" sz="2800" b="0" i="1" smtClean="0">
                            <a:solidFill>
                              <a:srgbClr val="775F55"/>
                            </a:solidFill>
                            <a:latin typeface="Cambria Math" panose="02040503050406030204" pitchFamily="18" charset="0"/>
                          </a:rPr>
                          <m:t>0000</m:t>
                        </m:r>
                        <m:r>
                          <a:rPr lang="en-US" sz="2800" i="1">
                            <a:solidFill>
                              <a:srgbClr val="775F55"/>
                            </a:solidFill>
                            <a:latin typeface="Cambria Math" panose="02040503050406030204" pitchFamily="18" charset="0"/>
                          </a:rPr>
                          <m:t>1</m:t>
                        </m:r>
                      </m:num>
                      <m:den>
                        <m:r>
                          <a:rPr lang="en-US" sz="2800" i="1">
                            <a:solidFill>
                              <a:srgbClr val="775F55"/>
                            </a:solidFill>
                            <a:latin typeface="Cambria Math" panose="02040503050406030204" pitchFamily="18" charset="0"/>
                          </a:rPr>
                          <m:t>1−</m:t>
                        </m:r>
                        <m:r>
                          <a:rPr lang="en-US" sz="2800" b="0" i="1" smtClean="0">
                            <a:solidFill>
                              <a:srgbClr val="775F55"/>
                            </a:solidFill>
                            <a:latin typeface="Cambria Math" panose="02040503050406030204" pitchFamily="18" charset="0"/>
                          </a:rPr>
                          <m:t>0.999996</m:t>
                        </m:r>
                      </m:den>
                    </m:f>
                    <m:r>
                      <a:rPr lang="en-US" sz="2800" i="1">
                        <a:solidFill>
                          <a:srgbClr val="775F55"/>
                        </a:solidFill>
                        <a:latin typeface="Cambria Math" panose="02040503050406030204" pitchFamily="18" charset="0"/>
                      </a:rPr>
                      <m:t>]</m:t>
                    </m:r>
                  </m:oMath>
                </a14:m>
                <a:endParaRPr lang="en-US" dirty="0">
                  <a:solidFill>
                    <a:srgbClr val="775F55"/>
                  </a:solidFill>
                </a:endParaRPr>
              </a:p>
              <a:p>
                <a:pPr lvl="0">
                  <a:buClr>
                    <a:srgbClr val="94B6D2"/>
                  </a:buClr>
                </a:pPr>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48000</m:t>
                        </m:r>
                      </m:num>
                      <m:den>
                        <m:r>
                          <a:rPr lang="en-US" sz="2800" i="1">
                            <a:solidFill>
                              <a:srgbClr val="775F55"/>
                            </a:solidFill>
                            <a:latin typeface="Cambria Math" panose="02040503050406030204" pitchFamily="18" charset="0"/>
                          </a:rPr>
                          <m:t>12</m:t>
                        </m:r>
                      </m:den>
                    </m:f>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0.000001</m:t>
                        </m:r>
                      </m:num>
                      <m:den>
                        <m:r>
                          <a:rPr lang="en-US" sz="2800" b="0" i="1" smtClean="0">
                            <a:solidFill>
                              <a:srgbClr val="775F55"/>
                            </a:solidFill>
                            <a:latin typeface="Cambria Math" panose="02040503050406030204" pitchFamily="18" charset="0"/>
                          </a:rPr>
                          <m:t>0.000004</m:t>
                        </m:r>
                      </m:den>
                    </m:f>
                    <m:r>
                      <a:rPr lang="en-US" sz="2800" i="1">
                        <a:solidFill>
                          <a:srgbClr val="775F55"/>
                        </a:solidFill>
                        <a:latin typeface="Cambria Math" panose="02040503050406030204" pitchFamily="18" charset="0"/>
                      </a:rPr>
                      <m:t>]</m:t>
                    </m:r>
                  </m:oMath>
                </a14:m>
                <a:r>
                  <a:rPr lang="en-US" sz="2800" dirty="0">
                    <a:solidFill>
                      <a:srgbClr val="775F55"/>
                    </a:solidFill>
                  </a:rPr>
                  <a:t> </a:t>
                </a:r>
                <a14:m>
                  <m:oMath xmlns:m="http://schemas.openxmlformats.org/officeDocument/2006/math">
                    <m:r>
                      <a:rPr lang="en-US" sz="2800" i="1">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i="1">
                            <a:solidFill>
                              <a:srgbClr val="775F55"/>
                            </a:solidFill>
                            <a:latin typeface="Cambria Math" panose="02040503050406030204" pitchFamily="18" charset="0"/>
                          </a:rPr>
                          <m:t>48000</m:t>
                        </m:r>
                        <m:r>
                          <a:rPr lang="en-US" sz="2800" b="0" i="1" smtClean="0">
                            <a:solidFill>
                              <a:srgbClr val="775F55"/>
                            </a:solidFill>
                            <a:latin typeface="Cambria Math" panose="02040503050406030204" pitchFamily="18" charset="0"/>
                          </a:rPr>
                          <m:t>∗0.000001</m:t>
                        </m:r>
                      </m:num>
                      <m:den>
                        <m:r>
                          <a:rPr lang="en-US" sz="2800" i="1">
                            <a:solidFill>
                              <a:srgbClr val="775F55"/>
                            </a:solidFill>
                            <a:latin typeface="Cambria Math" panose="02040503050406030204" pitchFamily="18" charset="0"/>
                          </a:rPr>
                          <m:t>12</m:t>
                        </m:r>
                        <m:r>
                          <a:rPr lang="en-US" sz="2800" b="0" i="1" smtClean="0">
                            <a:solidFill>
                              <a:srgbClr val="775F55"/>
                            </a:solidFill>
                            <a:latin typeface="Cambria Math" panose="02040503050406030204" pitchFamily="18" charset="0"/>
                          </a:rPr>
                          <m:t>∗0.000004</m:t>
                        </m:r>
                      </m:den>
                    </m:f>
                    <m:r>
                      <a:rPr lang="en-US" sz="2800" b="0" i="0" smtClean="0">
                        <a:solidFill>
                          <a:srgbClr val="775F55"/>
                        </a:solidFill>
                        <a:latin typeface="Cambria Math" panose="02040503050406030204" pitchFamily="18" charset="0"/>
                      </a:rPr>
                      <m:t>=</m:t>
                    </m:r>
                    <m:f>
                      <m:fPr>
                        <m:ctrlPr>
                          <a:rPr lang="en-US" sz="2800" i="1">
                            <a:solidFill>
                              <a:srgbClr val="775F55"/>
                            </a:solidFill>
                            <a:latin typeface="Cambria Math" panose="02040503050406030204" pitchFamily="18" charset="0"/>
                          </a:rPr>
                        </m:ctrlPr>
                      </m:fPr>
                      <m:num>
                        <m:r>
                          <a:rPr lang="en-US" sz="2800" b="0" i="1" smtClean="0">
                            <a:solidFill>
                              <a:srgbClr val="775F55"/>
                            </a:solidFill>
                            <a:latin typeface="Cambria Math" panose="02040503050406030204" pitchFamily="18" charset="0"/>
                          </a:rPr>
                          <m:t>0.048</m:t>
                        </m:r>
                      </m:num>
                      <m:den>
                        <m:r>
                          <a:rPr lang="en-US" sz="2800" b="0" i="1" smtClean="0">
                            <a:solidFill>
                              <a:srgbClr val="775F55"/>
                            </a:solidFill>
                            <a:latin typeface="Cambria Math" panose="02040503050406030204" pitchFamily="18" charset="0"/>
                          </a:rPr>
                          <m:t>0.000048</m:t>
                        </m:r>
                      </m:den>
                    </m:f>
                    <m:r>
                      <a:rPr lang="en-US" sz="2800" b="0" i="1" smtClean="0">
                        <a:solidFill>
                          <a:srgbClr val="775F55"/>
                        </a:solidFill>
                        <a:latin typeface="Cambria Math" panose="02040503050406030204" pitchFamily="18" charset="0"/>
                      </a:rPr>
                      <m:t>=$1000</m:t>
                    </m:r>
                  </m:oMath>
                </a14:m>
                <a:endParaRPr lang="en-US" dirty="0">
                  <a:solidFill>
                    <a:srgbClr val="775F55"/>
                  </a:solidFill>
                </a:endParaRPr>
              </a:p>
              <a:p>
                <a:pPr lvl="0">
                  <a:buClr>
                    <a:srgbClr val="94B6D2"/>
                  </a:buClr>
                </a:pPr>
                <a:endParaRPr lang="en-US" dirty="0">
                  <a:solidFill>
                    <a:srgbClr val="775F55"/>
                  </a:solidFill>
                </a:endParaRPr>
              </a:p>
              <a:p>
                <a:pPr lvl="0">
                  <a:buClr>
                    <a:srgbClr val="94B6D2"/>
                  </a:buClr>
                </a:pPr>
                <a14:m>
                  <m:oMath xmlns:m="http://schemas.openxmlformats.org/officeDocument/2006/math">
                    <m:r>
                      <a:rPr lang="en-US" sz="2800" i="1">
                        <a:solidFill>
                          <a:srgbClr val="775F55"/>
                        </a:solidFill>
                        <a:latin typeface="Cambria Math" panose="02040503050406030204" pitchFamily="18" charset="0"/>
                      </a:rPr>
                      <m:t>𝑃𝑀𝑇</m:t>
                    </m:r>
                    <m:r>
                      <a:rPr lang="en-US" sz="2600" i="1">
                        <a:solidFill>
                          <a:srgbClr val="775F55"/>
                        </a:solidFill>
                        <a:latin typeface="Cambria Math" panose="02040503050406030204" pitchFamily="18" charset="0"/>
                        <a:ea typeface="Cambria Math" panose="02040503050406030204" pitchFamily="18" charset="0"/>
                      </a:rPr>
                      <m:t>≅</m:t>
                    </m:r>
                    <m:r>
                      <a:rPr lang="en-US" sz="2600" b="1" i="1">
                        <a:solidFill>
                          <a:srgbClr val="00B050"/>
                        </a:solidFill>
                        <a:latin typeface="Cambria Math" panose="02040503050406030204" pitchFamily="18" charset="0"/>
                        <a:ea typeface="Cambria Math" panose="02040503050406030204" pitchFamily="18" charset="0"/>
                      </a:rPr>
                      <m:t>$</m:t>
                    </m:r>
                    <m:r>
                      <a:rPr lang="en-US" sz="2600" b="1" i="1">
                        <a:solidFill>
                          <a:srgbClr val="00B050"/>
                        </a:solidFill>
                        <a:latin typeface="Cambria Math" panose="02040503050406030204" pitchFamily="18" charset="0"/>
                        <a:ea typeface="Cambria Math" panose="02040503050406030204" pitchFamily="18" charset="0"/>
                      </a:rPr>
                      <m:t>𝟏𝟎𝟎𝟎</m:t>
                    </m:r>
                  </m:oMath>
                </a14:m>
                <a:r>
                  <a:rPr lang="en-US" b="1" dirty="0">
                    <a:solidFill>
                      <a:srgbClr val="775F55"/>
                    </a:solidFill>
                  </a:rPr>
                  <a:t>. </a:t>
                </a:r>
                <a:r>
                  <a:rPr lang="en-US" dirty="0">
                    <a:solidFill>
                      <a:srgbClr val="775F55"/>
                    </a:solidFill>
                  </a:rPr>
                  <a:t>Incentive B is the better option.</a:t>
                </a:r>
              </a:p>
              <a:p>
                <a:pPr lvl="0">
                  <a:buClr>
                    <a:srgbClr val="94B6D2"/>
                  </a:buClr>
                </a:pPr>
                <a:endParaRPr lang="en-US" dirty="0">
                  <a:solidFill>
                    <a:srgbClr val="775F55"/>
                  </a:solidFill>
                </a:endParaRP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5			3</a:t>
            </a:r>
          </a:p>
        </p:txBody>
      </p:sp>
    </p:spTree>
    <p:extLst>
      <p:ext uri="{BB962C8B-B14F-4D97-AF65-F5344CB8AC3E}">
        <p14:creationId xmlns:p14="http://schemas.microsoft.com/office/powerpoint/2010/main" val="590449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07999" y="1635618"/>
                <a:ext cx="11210524" cy="5035638"/>
              </a:xfrm>
            </p:spPr>
            <p:txBody>
              <a:bodyPr>
                <a:normAutofit/>
              </a:bodyPr>
              <a:lstStyle/>
              <a:p>
                <a:pPr lvl="0">
                  <a:buClr>
                    <a:srgbClr val="94B6D2"/>
                  </a:buClr>
                </a:pPr>
                <a:r>
                  <a:rPr lang="en-US" dirty="0">
                    <a:latin typeface="Cambria Math" panose="02040503050406030204" pitchFamily="18" charset="0"/>
                  </a:rPr>
                  <a:t>Comparing the two incentives,</a:t>
                </a:r>
                <a:endParaRPr lang="en-US" b="0" dirty="0">
                  <a:latin typeface="Cambria Math" panose="02040503050406030204" pitchFamily="18" charset="0"/>
                </a:endParaRPr>
              </a:p>
              <a:p>
                <a:pPr lvl="0">
                  <a:buClr>
                    <a:srgbClr val="94B6D2"/>
                  </a:buClr>
                </a:pPr>
                <a14:m>
                  <m:oMath xmlns:m="http://schemas.openxmlformats.org/officeDocument/2006/math">
                    <m:r>
                      <a:rPr lang="en-US" b="0" i="1" smtClean="0">
                        <a:latin typeface="Cambria Math" panose="02040503050406030204" pitchFamily="18" charset="0"/>
                      </a:rPr>
                      <m:t>𝑇h𝑒</m:t>
                    </m:r>
                    <m:r>
                      <a:rPr lang="en-US" b="0" i="1" smtClean="0">
                        <a:latin typeface="Cambria Math" panose="02040503050406030204" pitchFamily="18" charset="0"/>
                      </a:rPr>
                      <m:t> </m:t>
                    </m:r>
                    <m:r>
                      <a:rPr lang="en-US" b="0" i="1" smtClean="0">
                        <a:latin typeface="Cambria Math" panose="02040503050406030204" pitchFamily="18" charset="0"/>
                      </a:rPr>
                      <m:t>𝑠𝑎𝑣𝑖𝑛𝑔𝑠</m:t>
                    </m:r>
                    <m:r>
                      <a:rPr lang="en-US" b="0" i="1" smtClean="0">
                        <a:latin typeface="Cambria Math" panose="02040503050406030204" pitchFamily="18" charset="0"/>
                      </a:rPr>
                      <m:t> </m:t>
                    </m:r>
                    <m:r>
                      <a:rPr lang="en-US" b="0" i="1" smtClean="0">
                        <a:latin typeface="Cambria Math" panose="02040503050406030204" pitchFamily="18" charset="0"/>
                      </a:rPr>
                      <m:t>𝑝𝑒𝑟</m:t>
                    </m:r>
                    <m:r>
                      <a:rPr lang="en-US" b="0" i="1" smtClean="0">
                        <a:latin typeface="Cambria Math" panose="02040503050406030204" pitchFamily="18" charset="0"/>
                      </a:rPr>
                      <m:t> </m:t>
                    </m:r>
                    <m:r>
                      <a:rPr lang="en-US" b="0" i="1" smtClean="0">
                        <a:latin typeface="Cambria Math" panose="02040503050406030204" pitchFamily="18" charset="0"/>
                      </a:rPr>
                      <m:t>𝑚𝑜𝑛𝑡h</m:t>
                    </m:r>
                    <m:r>
                      <a:rPr lang="en-US" b="0" i="1" smtClean="0">
                        <a:latin typeface="Cambria Math" panose="02040503050406030204" pitchFamily="18" charset="0"/>
                      </a:rPr>
                      <m:t>=$1010−$1000=$10</m:t>
                    </m:r>
                  </m:oMath>
                </a14:m>
                <a:endParaRPr lang="en-US" b="0" dirty="0"/>
              </a:p>
              <a:p>
                <a:pPr lvl="0">
                  <a:buClr>
                    <a:srgbClr val="94B6D2"/>
                  </a:buClr>
                </a:pPr>
                <a14:m>
                  <m:oMath xmlns:m="http://schemas.openxmlformats.org/officeDocument/2006/math">
                    <m:r>
                      <a:rPr lang="en-US" b="0" i="1" smtClean="0">
                        <a:latin typeface="Cambria Math" panose="02040503050406030204" pitchFamily="18" charset="0"/>
                      </a:rPr>
                      <m:t>𝑇h𝑒</m:t>
                    </m:r>
                    <m:r>
                      <a:rPr lang="en-US" b="0" i="1" smtClean="0">
                        <a:latin typeface="Cambria Math" panose="02040503050406030204" pitchFamily="18" charset="0"/>
                      </a:rPr>
                      <m:t> </m:t>
                    </m:r>
                    <m:r>
                      <a:rPr lang="en-US" b="0" i="1" smtClean="0">
                        <a:latin typeface="Cambria Math" panose="02040503050406030204" pitchFamily="18" charset="0"/>
                      </a:rPr>
                      <m:t>𝑠𝑎𝑣𝑖𝑛𝑔𝑠</m:t>
                    </m:r>
                    <m:r>
                      <a:rPr lang="en-US" b="0" i="1" smtClean="0">
                        <a:latin typeface="Cambria Math" panose="02040503050406030204" pitchFamily="18" charset="0"/>
                      </a:rPr>
                      <m:t> </m:t>
                    </m:r>
                    <m:r>
                      <a:rPr lang="en-US" b="0" i="1" smtClean="0">
                        <a:latin typeface="Cambria Math" panose="02040503050406030204" pitchFamily="18" charset="0"/>
                      </a:rPr>
                      <m:t>𝑜𝑣𝑒𝑟</m:t>
                    </m:r>
                    <m:r>
                      <a:rPr lang="en-US" b="0" i="1" smtClean="0">
                        <a:latin typeface="Cambria Math" panose="02040503050406030204" pitchFamily="18" charset="0"/>
                      </a:rPr>
                      <m:t> 4 </m:t>
                    </m:r>
                    <m:r>
                      <a:rPr lang="en-US" b="0" i="1" smtClean="0">
                        <a:latin typeface="Cambria Math" panose="02040503050406030204" pitchFamily="18" charset="0"/>
                      </a:rPr>
                      <m:t>𝑦𝑒𝑎𝑟𝑠</m:t>
                    </m:r>
                    <m:r>
                      <a:rPr lang="en-US" b="0" i="1" smtClean="0">
                        <a:latin typeface="Cambria Math" panose="02040503050406030204" pitchFamily="18" charset="0"/>
                      </a:rPr>
                      <m:t>=$10∗12∗4=</m:t>
                    </m:r>
                    <m:r>
                      <a:rPr lang="en-US" b="1" i="1" smtClean="0">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𝟒𝟖𝟎</m:t>
                    </m:r>
                  </m:oMath>
                </a14:m>
                <a:endParaRPr lang="en-US" b="1" dirty="0">
                  <a:solidFill>
                    <a:srgbClr val="00B050"/>
                  </a:solidFill>
                </a:endParaRPr>
              </a:p>
              <a:p>
                <a:pPr>
                  <a:buClr>
                    <a:srgbClr val="94B6D2"/>
                  </a:buClr>
                </a:pPr>
                <a:r>
                  <a:rPr lang="en-US" dirty="0">
                    <a:latin typeface="Cambria Math" panose="02040503050406030204" pitchFamily="18" charset="0"/>
                  </a:rPr>
                  <a:t>Calculating the total interests,</a:t>
                </a:r>
              </a:p>
              <a:p>
                <a:pPr>
                  <a:buClr>
                    <a:srgbClr val="94B6D2"/>
                  </a:buClr>
                </a:pPr>
                <a:r>
                  <a:rPr lang="en-US" b="1" u="sng" dirty="0">
                    <a:latin typeface="Cambria Math" panose="02040503050406030204" pitchFamily="18" charset="0"/>
                  </a:rPr>
                  <a:t>1</a:t>
                </a:r>
                <a:r>
                  <a:rPr lang="en-US" b="1" u="sng" baseline="30000" dirty="0">
                    <a:latin typeface="Cambria Math" panose="02040503050406030204" pitchFamily="18" charset="0"/>
                  </a:rPr>
                  <a:t>st</a:t>
                </a:r>
                <a:r>
                  <a:rPr lang="en-US" b="1" u="sng" dirty="0">
                    <a:latin typeface="Cambria Math" panose="02040503050406030204" pitchFamily="18" charset="0"/>
                  </a:rPr>
                  <a:t> Incentive</a:t>
                </a:r>
              </a:p>
              <a:p>
                <a:pPr lvl="0">
                  <a:buClr>
                    <a:srgbClr val="94B6D2"/>
                  </a:buClr>
                </a:pPr>
                <a14:m>
                  <m:oMath xmlns:m="http://schemas.openxmlformats.org/officeDocument/2006/math">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𝑃𝑎𝑦𝑚𝑒𝑛𝑡𝑠</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𝑓𝑜𝑟</m:t>
                    </m:r>
                    <m:r>
                      <a:rPr lang="en-US" i="1">
                        <a:solidFill>
                          <a:srgbClr val="775F55"/>
                        </a:solidFill>
                        <a:latin typeface="Cambria Math" panose="02040503050406030204" pitchFamily="18" charset="0"/>
                      </a:rPr>
                      <m:t> 4 </m:t>
                    </m:r>
                    <m:r>
                      <a:rPr lang="en-US" i="1">
                        <a:solidFill>
                          <a:srgbClr val="775F55"/>
                        </a:solidFill>
                        <a:latin typeface="Cambria Math" panose="02040503050406030204" pitchFamily="18" charset="0"/>
                      </a:rPr>
                      <m:t>𝑦𝑒𝑎𝑟𝑠</m:t>
                    </m:r>
                    <m:r>
                      <a:rPr lang="en-US" i="1">
                        <a:solidFill>
                          <a:srgbClr val="775F55"/>
                        </a:solidFill>
                        <a:latin typeface="Cambria Math" panose="02040503050406030204" pitchFamily="18" charset="0"/>
                      </a:rPr>
                      <m:t>=1010 ∗12∗4=$</m:t>
                    </m:r>
                    <m:r>
                      <a:rPr lang="en-US" b="0" i="0" smtClean="0">
                        <a:solidFill>
                          <a:srgbClr val="775F55"/>
                        </a:solidFill>
                        <a:latin typeface="Cambria Math" panose="02040503050406030204" pitchFamily="18" charset="0"/>
                      </a:rPr>
                      <m:t>48480</m:t>
                    </m:r>
                  </m:oMath>
                </a14:m>
                <a:endParaRPr lang="en-US" dirty="0">
                  <a:solidFill>
                    <a:srgbClr val="775F55"/>
                  </a:solidFill>
                </a:endParaRPr>
              </a:p>
              <a:p>
                <a:pPr lvl="0">
                  <a:buClr>
                    <a:srgbClr val="94B6D2"/>
                  </a:buClr>
                </a:pPr>
                <a14:m>
                  <m:oMath xmlns:m="http://schemas.openxmlformats.org/officeDocument/2006/math">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𝐼𝑛𝑡𝑒𝑟𝑒𝑠𝑡</m:t>
                    </m:r>
                    <m:r>
                      <a:rPr lang="en-US" i="1">
                        <a:solidFill>
                          <a:srgbClr val="775F55"/>
                        </a:solidFill>
                        <a:latin typeface="Cambria Math" panose="02040503050406030204" pitchFamily="18" charset="0"/>
                      </a:rPr>
                      <m:t>=</m:t>
                    </m:r>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𝑃𝑎𝑦𝑚𝑒𝑛𝑡𝑠</m:t>
                    </m:r>
                    <m:r>
                      <a:rPr lang="en-US" i="1">
                        <a:solidFill>
                          <a:srgbClr val="775F55"/>
                        </a:solidFill>
                        <a:latin typeface="Cambria Math" panose="02040503050406030204" pitchFamily="18" charset="0"/>
                      </a:rPr>
                      <m:t>−</m:t>
                    </m:r>
                    <m:r>
                      <a:rPr lang="en-US" b="0" i="1" smtClean="0">
                        <a:solidFill>
                          <a:srgbClr val="775F55"/>
                        </a:solidFill>
                        <a:latin typeface="Cambria Math" panose="02040503050406030204" pitchFamily="18" charset="0"/>
                      </a:rPr>
                      <m:t>𝑃𝑟𝑒𝑠𝑒𝑛𝑡</m:t>
                    </m:r>
                    <m:r>
                      <a:rPr lang="en-US" b="0" i="1" smtClean="0">
                        <a:solidFill>
                          <a:srgbClr val="775F55"/>
                        </a:solidFill>
                        <a:latin typeface="Cambria Math" panose="02040503050406030204" pitchFamily="18" charset="0"/>
                      </a:rPr>
                      <m:t> </m:t>
                    </m:r>
                    <m:r>
                      <a:rPr lang="en-US" b="0" i="1" smtClean="0">
                        <a:solidFill>
                          <a:srgbClr val="775F55"/>
                        </a:solidFill>
                        <a:latin typeface="Cambria Math" panose="02040503050406030204" pitchFamily="18" charset="0"/>
                      </a:rPr>
                      <m:t>𝑉𝑎𝑙𝑢𝑒</m:t>
                    </m:r>
                  </m:oMath>
                </a14:m>
                <a:endParaRPr lang="en-US" dirty="0">
                  <a:solidFill>
                    <a:srgbClr val="775F55"/>
                  </a:solidFill>
                </a:endParaRPr>
              </a:p>
              <a:p>
                <a:pPr lvl="0">
                  <a:buClr>
                    <a:srgbClr val="94B6D2"/>
                  </a:buClr>
                </a:pPr>
                <a14:m>
                  <m:oMath xmlns:m="http://schemas.openxmlformats.org/officeDocument/2006/math">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𝐼𝑛𝑡𝑒𝑟𝑒𝑠𝑡</m:t>
                    </m:r>
                    <m:r>
                      <a:rPr lang="en-US" i="1">
                        <a:solidFill>
                          <a:srgbClr val="775F55"/>
                        </a:solidFill>
                        <a:latin typeface="Cambria Math" panose="02040503050406030204" pitchFamily="18" charset="0"/>
                      </a:rPr>
                      <m:t>=$48480−$38000=</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𝟏𝟎𝟒𝟖𝟎</m:t>
                    </m:r>
                  </m:oMath>
                </a14:m>
                <a:endParaRPr lang="en-US" b="1" dirty="0">
                  <a:solidFill>
                    <a:srgbClr val="00B050"/>
                  </a:solidFill>
                </a:endParaRPr>
              </a:p>
              <a:p>
                <a:pPr lvl="0">
                  <a:buClr>
                    <a:srgbClr val="94B6D2"/>
                  </a:buClr>
                </a:pPr>
                <a:r>
                  <a:rPr lang="en-US" b="1" u="sng" dirty="0">
                    <a:solidFill>
                      <a:srgbClr val="775F55"/>
                    </a:solidFill>
                    <a:latin typeface="Cambria Math" panose="02040503050406030204" pitchFamily="18" charset="0"/>
                  </a:rPr>
                  <a:t>2</a:t>
                </a:r>
                <a:r>
                  <a:rPr lang="en-US" b="1" u="sng" baseline="30000" dirty="0">
                    <a:solidFill>
                      <a:srgbClr val="775F55"/>
                    </a:solidFill>
                    <a:latin typeface="Cambria Math" panose="02040503050406030204" pitchFamily="18" charset="0"/>
                  </a:rPr>
                  <a:t>nd</a:t>
                </a:r>
                <a:r>
                  <a:rPr lang="en-US" b="1" u="sng" dirty="0">
                    <a:solidFill>
                      <a:srgbClr val="775F55"/>
                    </a:solidFill>
                    <a:latin typeface="Cambria Math" panose="02040503050406030204" pitchFamily="18" charset="0"/>
                  </a:rPr>
                  <a:t> Incentive</a:t>
                </a:r>
              </a:p>
              <a:p>
                <a:pPr lvl="0">
                  <a:buClr>
                    <a:srgbClr val="94B6D2"/>
                  </a:buClr>
                </a:pPr>
                <a14:m>
                  <m:oMath xmlns:m="http://schemas.openxmlformats.org/officeDocument/2006/math">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𝑃𝑎𝑦𝑚𝑒𝑛𝑡𝑠</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𝑓𝑜𝑟</m:t>
                    </m:r>
                    <m:r>
                      <a:rPr lang="en-US" i="1">
                        <a:solidFill>
                          <a:srgbClr val="775F55"/>
                        </a:solidFill>
                        <a:latin typeface="Cambria Math" panose="02040503050406030204" pitchFamily="18" charset="0"/>
                      </a:rPr>
                      <m:t> 4 </m:t>
                    </m:r>
                    <m:r>
                      <a:rPr lang="en-US" i="1">
                        <a:solidFill>
                          <a:srgbClr val="775F55"/>
                        </a:solidFill>
                        <a:latin typeface="Cambria Math" panose="02040503050406030204" pitchFamily="18" charset="0"/>
                      </a:rPr>
                      <m:t>𝑦𝑒𝑎𝑟𝑠</m:t>
                    </m:r>
                    <m:r>
                      <a:rPr lang="en-US" i="1">
                        <a:solidFill>
                          <a:srgbClr val="775F55"/>
                        </a:solidFill>
                        <a:latin typeface="Cambria Math" panose="02040503050406030204" pitchFamily="18" charset="0"/>
                      </a:rPr>
                      <m:t>=1000 ∗12∗4=$</m:t>
                    </m:r>
                    <m:r>
                      <a:rPr lang="en-US">
                        <a:solidFill>
                          <a:srgbClr val="775F55"/>
                        </a:solidFill>
                        <a:latin typeface="Cambria Math" panose="02040503050406030204" pitchFamily="18" charset="0"/>
                      </a:rPr>
                      <m:t>48</m:t>
                    </m:r>
                    <m:r>
                      <a:rPr lang="en-US" b="0" i="0" smtClean="0">
                        <a:solidFill>
                          <a:srgbClr val="775F55"/>
                        </a:solidFill>
                        <a:latin typeface="Cambria Math" panose="02040503050406030204" pitchFamily="18" charset="0"/>
                      </a:rPr>
                      <m:t>00</m:t>
                    </m:r>
                    <m:r>
                      <a:rPr lang="en-US">
                        <a:solidFill>
                          <a:srgbClr val="775F55"/>
                        </a:solidFill>
                        <a:latin typeface="Cambria Math" panose="02040503050406030204" pitchFamily="18" charset="0"/>
                      </a:rPr>
                      <m:t>0</m:t>
                    </m:r>
                  </m:oMath>
                </a14:m>
                <a:endParaRPr lang="en-US" dirty="0">
                  <a:solidFill>
                    <a:srgbClr val="775F55"/>
                  </a:solidFill>
                </a:endParaRPr>
              </a:p>
              <a:p>
                <a:pPr lvl="0">
                  <a:buClr>
                    <a:srgbClr val="94B6D2"/>
                  </a:buClr>
                </a:pPr>
                <a14:m>
                  <m:oMath xmlns:m="http://schemas.openxmlformats.org/officeDocument/2006/math">
                    <m:r>
                      <a:rPr lang="en-US" i="1">
                        <a:solidFill>
                          <a:srgbClr val="775F55"/>
                        </a:solidFill>
                        <a:latin typeface="Cambria Math" panose="02040503050406030204" pitchFamily="18" charset="0"/>
                      </a:rPr>
                      <m:t>𝑇𝑜𝑡𝑎𝑙</m:t>
                    </m:r>
                    <m:r>
                      <a:rPr lang="en-US" i="1">
                        <a:solidFill>
                          <a:srgbClr val="775F55"/>
                        </a:solidFill>
                        <a:latin typeface="Cambria Math" panose="02040503050406030204" pitchFamily="18" charset="0"/>
                      </a:rPr>
                      <m:t> </m:t>
                    </m:r>
                    <m:r>
                      <a:rPr lang="en-US" i="1">
                        <a:solidFill>
                          <a:srgbClr val="775F55"/>
                        </a:solidFill>
                        <a:latin typeface="Cambria Math" panose="02040503050406030204" pitchFamily="18" charset="0"/>
                      </a:rPr>
                      <m:t>𝐼𝑛𝑡𝑒𝑟𝑒𝑠𝑡</m:t>
                    </m:r>
                    <m:r>
                      <a:rPr lang="en-US" i="1">
                        <a:solidFill>
                          <a:srgbClr val="775F55"/>
                        </a:solidFill>
                        <a:latin typeface="Cambria Math" panose="02040503050406030204" pitchFamily="18" charset="0"/>
                      </a:rPr>
                      <m:t>=$48000−$48000=</m:t>
                    </m:r>
                    <m:r>
                      <a:rPr lang="en-US" b="1" i="1">
                        <a:solidFill>
                          <a:srgbClr val="00B050"/>
                        </a:solidFill>
                        <a:latin typeface="Cambria Math" panose="02040503050406030204" pitchFamily="18" charset="0"/>
                      </a:rPr>
                      <m:t>$</m:t>
                    </m:r>
                    <m:r>
                      <a:rPr lang="en-US" b="1" i="1" smtClean="0">
                        <a:solidFill>
                          <a:srgbClr val="00B050"/>
                        </a:solidFill>
                        <a:latin typeface="Cambria Math" panose="02040503050406030204" pitchFamily="18" charset="0"/>
                      </a:rPr>
                      <m:t>𝟎</m:t>
                    </m:r>
                  </m:oMath>
                </a14:m>
                <a:endParaRPr lang="en-US" b="1" dirty="0">
                  <a:solidFill>
                    <a:srgbClr val="00B050"/>
                  </a:solidFill>
                </a:endParaRPr>
              </a:p>
              <a:p>
                <a:pPr lvl="0">
                  <a:buClr>
                    <a:srgbClr val="94B6D2"/>
                  </a:buClr>
                </a:pPr>
                <a:endParaRPr lang="en-US" b="1" dirty="0">
                  <a:solidFill>
                    <a:srgbClr val="00B050"/>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07999" y="1635618"/>
                <a:ext cx="11210524" cy="5035638"/>
              </a:xfrm>
              <a:blipFill rotWithShape="0">
                <a:blip r:embed="rId2"/>
                <a:stretch>
                  <a:fillRect l="-218" t="-969"/>
                </a:stretch>
              </a:blipFill>
            </p:spPr>
            <p:txBody>
              <a:bodyPr/>
              <a:lstStyle/>
              <a:p>
                <a:r>
                  <a:rPr lang="en-US">
                    <a:noFill/>
                  </a:rPr>
                  <a:t> </a:t>
                </a:r>
              </a:p>
            </p:txBody>
          </p:sp>
        </mc:Fallback>
      </mc:AlternateContent>
      <p:sp>
        <p:nvSpPr>
          <p:cNvPr id="4" name="Title 3"/>
          <p:cNvSpPr>
            <a:spLocks noGrp="1"/>
          </p:cNvSpPr>
          <p:nvPr>
            <p:ph type="title"/>
          </p:nvPr>
        </p:nvSpPr>
        <p:spPr/>
        <p:txBody>
          <a:bodyPr/>
          <a:lstStyle/>
          <a:p>
            <a:r>
              <a:rPr lang="en-US" dirty="0"/>
              <a:t>Solution to Question 5			4</a:t>
            </a:r>
          </a:p>
        </p:txBody>
      </p:sp>
    </p:spTree>
    <p:extLst>
      <p:ext uri="{BB962C8B-B14F-4D97-AF65-F5344CB8AC3E}">
        <p14:creationId xmlns:p14="http://schemas.microsoft.com/office/powerpoint/2010/main" val="3201032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07999" y="1648496"/>
            <a:ext cx="11210524" cy="5209504"/>
          </a:xfrm>
        </p:spPr>
        <p:txBody>
          <a:bodyPr>
            <a:normAutofit/>
          </a:bodyPr>
          <a:lstStyle/>
          <a:p>
            <a:r>
              <a:rPr lang="en-US" dirty="0">
                <a:solidFill>
                  <a:srgbClr val="775F55"/>
                </a:solidFill>
                <a:hlinkClick r:id="rId2"/>
              </a:rPr>
              <a:t>http://www.nada.com/</a:t>
            </a:r>
            <a:endParaRPr lang="en-US" dirty="0">
              <a:solidFill>
                <a:srgbClr val="775F55"/>
              </a:solidFill>
            </a:endParaRPr>
          </a:p>
          <a:p>
            <a:r>
              <a:rPr lang="en-US" dirty="0">
                <a:solidFill>
                  <a:srgbClr val="775F55"/>
                </a:solidFill>
                <a:hlinkClick r:id="rId3"/>
              </a:rPr>
              <a:t>http://www.kbb.com/</a:t>
            </a:r>
            <a:endParaRPr lang="en-US" dirty="0">
              <a:solidFill>
                <a:srgbClr val="775F55"/>
              </a:solidFill>
            </a:endParaRPr>
          </a:p>
          <a:p>
            <a:r>
              <a:rPr lang="en-US" dirty="0">
                <a:solidFill>
                  <a:srgbClr val="775F55"/>
                </a:solidFill>
                <a:hlinkClick r:id="rId4"/>
              </a:rPr>
              <a:t>http://www.federalreserve.gov/pubs/leasing/</a:t>
            </a:r>
            <a:endParaRPr lang="en-US" dirty="0">
              <a:solidFill>
                <a:srgbClr val="775F55"/>
              </a:solidFill>
            </a:endParaRPr>
          </a:p>
          <a:p>
            <a:r>
              <a:rPr lang="en-US" dirty="0">
                <a:solidFill>
                  <a:srgbClr val="775F55"/>
                </a:solidFill>
                <a:hlinkClick r:id="rId5"/>
              </a:rPr>
              <a:t>http://www.nhtsa.gov/Driving+Safety</a:t>
            </a:r>
            <a:endParaRPr lang="en-US" dirty="0">
              <a:solidFill>
                <a:srgbClr val="775F55"/>
              </a:solidFill>
            </a:endParaRPr>
          </a:p>
          <a:p>
            <a:r>
              <a:rPr lang="en-US" dirty="0">
                <a:solidFill>
                  <a:srgbClr val="775F55"/>
                </a:solidFill>
                <a:hlinkClick r:id="rId6"/>
              </a:rPr>
              <a:t>http://www.ehow.com/about_7488832_closed-leases-vs-open-end.html</a:t>
            </a:r>
            <a:endParaRPr lang="en-US" dirty="0">
              <a:solidFill>
                <a:srgbClr val="775F55"/>
              </a:solidFill>
            </a:endParaRPr>
          </a:p>
          <a:p>
            <a:r>
              <a:rPr lang="en-US" dirty="0">
                <a:solidFill>
                  <a:srgbClr val="775F55"/>
                </a:solidFill>
                <a:hlinkClick r:id="rId7"/>
              </a:rPr>
              <a:t>http://www.thesupercars.org/</a:t>
            </a:r>
            <a:endParaRPr lang="en-US" dirty="0">
              <a:solidFill>
                <a:srgbClr val="775F55"/>
              </a:solidFill>
            </a:endParaRPr>
          </a:p>
          <a:p>
            <a:r>
              <a:rPr lang="en-US" dirty="0">
                <a:solidFill>
                  <a:srgbClr val="775F55"/>
                </a:solidFill>
              </a:rPr>
              <a:t>Blitzer, R. (2015). Thinking Mathematically Plus New </a:t>
            </a:r>
            <a:r>
              <a:rPr lang="en-US" dirty="0" err="1">
                <a:solidFill>
                  <a:srgbClr val="775F55"/>
                </a:solidFill>
              </a:rPr>
              <a:t>Mymathlab</a:t>
            </a:r>
            <a:r>
              <a:rPr lang="en-US" dirty="0">
                <a:solidFill>
                  <a:srgbClr val="775F55"/>
                </a:solidFill>
              </a:rPr>
              <a:t> With Pearson </a:t>
            </a:r>
            <a:r>
              <a:rPr lang="en-US" dirty="0" err="1">
                <a:solidFill>
                  <a:srgbClr val="775F55"/>
                </a:solidFill>
              </a:rPr>
              <a:t>Etext</a:t>
            </a:r>
            <a:r>
              <a:rPr lang="en-US" dirty="0">
                <a:solidFill>
                  <a:srgbClr val="775F55"/>
                </a:solidFill>
              </a:rPr>
              <a:t> Access Card. Pearson College Div. </a:t>
            </a:r>
          </a:p>
          <a:p>
            <a:r>
              <a:rPr lang="en-US" dirty="0" err="1"/>
              <a:t>Tannenbaum</a:t>
            </a:r>
            <a:r>
              <a:rPr lang="en-US" dirty="0"/>
              <a:t>, P. (2014). </a:t>
            </a:r>
            <a:r>
              <a:rPr lang="en-US" i="1" dirty="0"/>
              <a:t>Excursions in modern mathematics</a:t>
            </a:r>
            <a:r>
              <a:rPr lang="en-US" dirty="0"/>
              <a:t> (8th ed.). Boston: Pearson Education.</a:t>
            </a:r>
          </a:p>
          <a:p>
            <a:r>
              <a:rPr lang="en-US" dirty="0">
                <a:solidFill>
                  <a:srgbClr val="775F55"/>
                </a:solidFill>
                <a:hlinkClick r:id="rId8"/>
              </a:rPr>
              <a:t>Gas Price Locator</a:t>
            </a:r>
            <a:r>
              <a:rPr lang="en-US" dirty="0">
                <a:solidFill>
                  <a:srgbClr val="775F55"/>
                </a:solidFill>
              </a:rPr>
              <a:t> by </a:t>
            </a:r>
            <a:r>
              <a:rPr lang="en-US" dirty="0" err="1">
                <a:solidFill>
                  <a:srgbClr val="775F55"/>
                </a:solidFill>
              </a:rPr>
              <a:t>AllState</a:t>
            </a:r>
            <a:r>
              <a:rPr lang="en-US" dirty="0">
                <a:solidFill>
                  <a:srgbClr val="775F55"/>
                </a:solidFill>
              </a:rPr>
              <a:t> Insurance</a:t>
            </a:r>
          </a:p>
        </p:txBody>
      </p:sp>
      <p:sp>
        <p:nvSpPr>
          <p:cNvPr id="3" name="Title 2"/>
          <p:cNvSpPr>
            <a:spLocks noGrp="1"/>
          </p:cNvSpPr>
          <p:nvPr>
            <p:ph type="title"/>
          </p:nvPr>
        </p:nvSpPr>
        <p:spPr/>
        <p:txBody>
          <a:bodyPr/>
          <a:lstStyle/>
          <a:p>
            <a:r>
              <a:rPr lang="en-US" dirty="0"/>
              <a:t>References / referenced websites</a:t>
            </a:r>
          </a:p>
        </p:txBody>
      </p:sp>
    </p:spTree>
    <p:extLst>
      <p:ext uri="{BB962C8B-B14F-4D97-AF65-F5344CB8AC3E}">
        <p14:creationId xmlns:p14="http://schemas.microsoft.com/office/powerpoint/2010/main" val="2252681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es training presentatio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spDef>
      <a:spPr>
        <a:ln>
          <a:noFill/>
        </a:ln>
      </a:spPr>
      <a:bodyPr rtlCol="0" anchor="ctr"/>
      <a:lstStyle>
        <a:defPPr algn="ctr">
          <a:defRPr dirty="0"/>
        </a:defPPr>
      </a:lstStyle>
      <a:style>
        <a:lnRef idx="3">
          <a:schemeClr val="lt1"/>
        </a:lnRef>
        <a:fillRef idx="1">
          <a:schemeClr val="accent3"/>
        </a:fillRef>
        <a:effectRef idx="1">
          <a:schemeClr val="accent3"/>
        </a:effectRef>
        <a:fontRef idx="minor">
          <a:schemeClr val="lt1"/>
        </a:fontRef>
      </a:style>
    </a:spDef>
    <a:lnDef>
      <a:spPr/>
      <a:bodyPr/>
      <a:lstStyle/>
      <a:style>
        <a:lnRef idx="1">
          <a:schemeClr val="accent3"/>
        </a:lnRef>
        <a:fillRef idx="0">
          <a:schemeClr val="accent3"/>
        </a:fillRef>
        <a:effectRef idx="0">
          <a:schemeClr val="accent3"/>
        </a:effectRef>
        <a:fontRef idx="minor">
          <a:schemeClr val="tx1"/>
        </a:fontRef>
      </a:style>
    </a:lnDef>
    <a:txDef>
      <a:spPr>
        <a:noFill/>
        <a:ln>
          <a:solidFill>
            <a:schemeClr val="accent4"/>
          </a:solidFill>
        </a:ln>
      </a:spPr>
      <a:bodyPr wrap="square" rtlCol="0" anchor="ctr" anchorCtr="1">
        <a:spAutoFit/>
      </a:bodyPr>
      <a:lstStyle>
        <a:defPPr>
          <a:defRPr dirty="0"/>
        </a:defPPr>
      </a:lstStyle>
    </a:txDef>
  </a:objectDefaults>
  <a:extraClrSchemeLst/>
  <a:extLst>
    <a:ext uri="{05A4C25C-085E-4340-85A3-A5531E510DB2}">
      <thm15:themeFamily xmlns:thm15="http://schemas.microsoft.com/office/thememl/2012/main" name="Sales training presentation" id="{B6AD0E1B-010F-4040-BECC-338DC7180AF6}" vid="{9250DCDA-9F4A-4BAF-B302-6C51082CF123}"/>
    </a:ext>
  </a:extLst>
</a:theme>
</file>

<file path=ppt/theme/theme2.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Arial">
      <a:maj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panose="020B0604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3E24EA9C-70A4-43E8-A40F-9E8D971C57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Business sales training presentation</Template>
  <TotalTime>0</TotalTime>
  <Words>2473</Words>
  <Application>Microsoft Office PowerPoint</Application>
  <PresentationFormat>Widescreen</PresentationFormat>
  <Paragraphs>287</Paragraphs>
  <Slides>34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34</vt:i4>
      </vt:variant>
    </vt:vector>
  </HeadingPairs>
  <TitlesOfParts>
    <vt:vector size="41" baseType="lpstr">
      <vt:lpstr>Arial</vt:lpstr>
      <vt:lpstr>Bell MT</vt:lpstr>
      <vt:lpstr>Cambria Math</vt:lpstr>
      <vt:lpstr>Times New Roman</vt:lpstr>
      <vt:lpstr>Wingdings</vt:lpstr>
      <vt:lpstr>Wingdings 2</vt:lpstr>
      <vt:lpstr>Sales training presentation</vt:lpstr>
      <vt:lpstr>Buying a car in the u.S. – part 1      www.samuelchukwuemeka.com The Joy of a Teacher is the Success of his Students. – Samuel Chukwuemeka Calculator:                  www.finance-calculators.appspot.com </vt:lpstr>
      <vt:lpstr>Vocabulary words</vt:lpstr>
      <vt:lpstr>objectives</vt:lpstr>
      <vt:lpstr>Definitions / terms       1</vt:lpstr>
      <vt:lpstr>Definitions / terms       2</vt:lpstr>
      <vt:lpstr>Definitions / terms       3</vt:lpstr>
      <vt:lpstr>Definitions / terms       4</vt:lpstr>
      <vt:lpstr>Definitions / terms       5</vt:lpstr>
      <vt:lpstr>Definitions / terms       6</vt:lpstr>
      <vt:lpstr>Definitions / terms       7</vt:lpstr>
      <vt:lpstr>Definitions / terms       8</vt:lpstr>
      <vt:lpstr>Buying versus leasing</vt:lpstr>
      <vt:lpstr>Driving safety tips</vt:lpstr>
      <vt:lpstr>Formulas       1</vt:lpstr>
      <vt:lpstr>Formulas       2</vt:lpstr>
      <vt:lpstr>Question 1</vt:lpstr>
      <vt:lpstr>Solution to Question 1   1</vt:lpstr>
      <vt:lpstr>Solution to Question 1   2</vt:lpstr>
      <vt:lpstr>Question 2</vt:lpstr>
      <vt:lpstr>Solution to Question 2   1</vt:lpstr>
      <vt:lpstr>Solution to Question 2   2</vt:lpstr>
      <vt:lpstr>Solution to Question 2   3</vt:lpstr>
      <vt:lpstr>Solution to Question 2   4</vt:lpstr>
      <vt:lpstr>Question 3</vt:lpstr>
      <vt:lpstr>Solution to Question 3   1</vt:lpstr>
      <vt:lpstr>Solution to Question 3   2</vt:lpstr>
      <vt:lpstr>Question 4</vt:lpstr>
      <vt:lpstr>Solution to Question 4   1</vt:lpstr>
      <vt:lpstr>Question 5</vt:lpstr>
      <vt:lpstr>Solution to Question 5   1</vt:lpstr>
      <vt:lpstr>Solution to Question 5   2</vt:lpstr>
      <vt:lpstr>Solution to Question 5   3</vt:lpstr>
      <vt:lpstr>Solution to Question 5   4</vt:lpstr>
      <vt:lpstr>References / referenced websites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2015-01-29T16:20:30Z</dcterms:created>
  <dcterms:modified xsi:type="dcterms:W3CDTF">2016-09-26T05:31:08Z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TC034605589991</vt:lpwstr>
  </property>
</Properties>
</file>